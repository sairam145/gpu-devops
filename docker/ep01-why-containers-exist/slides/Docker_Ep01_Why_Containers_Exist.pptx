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54af7e6-13db-5c82-4d37-f793431302e4}">
          <p14:sldIdLst>
            <p14:sldId id="256"/>
            <p14:sldId id="257"/>
            <p14:sldId id="258"/>
          </p14:sldIdLst>
        </p14:section>
        <p14:section name="The problem" id="{87fefdaa-dc08-73f0-1693-3c1ec3684a71}">
          <p14:sldIdLst>
            <p14:sldId id="259"/>
          </p14:sldIdLst>
        </p14:section>
        <p14:section name="Virtual machines" id="{51330152-d5f8-09f3-61fb-6cc3cd3b02ce}">
          <p14:sldIdLst>
            <p14:sldId id="260"/>
          </p14:sldIdLst>
        </p14:section>
        <p14:section name="Containers" id="{aba08adb-efb3-3f06-7846-9b755fdcd6c2}">
          <p14:sldIdLst>
            <p14:sldId id="261"/>
            <p14:sldId id="262"/>
          </p14:sldIdLst>
        </p14:section>
        <p14:section name="Under the hood" id="{76ef45c0-8e8c-3275-2ea4-ca1a4857061e}">
          <p14:sldIdLst>
            <p14:sldId id="263"/>
            <p14:sldId id="264"/>
            <p14:sldId id="265"/>
            <p14:sldId id="266"/>
            <p14:sldId id="267"/>
          </p14:sldIdLst>
        </p14:section>
        <p14:section name="Wrap-up" id="{14d87bf2-ba69-86f9-e971-3ac30b9e241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CAMERA — TITLE SLIDE]
Hey everyone, and welcome to the very first episode of "Docker: Zero to GPU."
Over this series we're going to go from "what even is a container?" all the way to building production GPU container images for AI workloads. You don't need any Docker experience. If you can open a terminal, you're ready.
In this first episode we won't type a single command. I want you to understand WHY containers exist. Once you get the "why," every Docker command you learn later will just make sense instead of feeling like magic flags you memorize.
So grab a coffee, and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laptop on the left, a server on the right, an arrow between them]
Let me start with a story every engineer has lived through.
A developer builds an app on their laptop. It's running Ubuntu 24.04, Python 3.12, a recent version of the requests library, OpenSSL 3. They test it, everything passes, they push it.
Then the app gets deployed to a production server. That server is running RHEL 8, Python 3.8, an older requests version, an older OpenSSL. And the app crashes on startup.
The developer says the famous line: "But it works on my machine!"
[PAUSE]
Here's the important part: the code didn't change. Not one line. What changed is everything AROUND the code — the operating system, the language runtime, the libraries, the config.
That's the real problem. The app isn't just your code. It's your code PLUS its environment. And until containers, we shipped the code but left the environment behind.
Containers fix exactly this: they let you ship the environment together with the app, as one package. Let's see how we got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for today. Four parts.
One: the problem. Why the old model of running apps directly on servers broke down.
Two: virtual machines, the first big fix. They solved a lot, but they came with a cost.
Three: containers, the lighter fix, and exactly how they're different from VMs. This is the part that confuses most people, so we'll draw it out.
And four: under the hood. What a container actually IS inside Linux. Spoiler: it's not a tiny virtual machine. It's something much simpler, and once you see it, Docker stops being mysterious.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box labeled "Hardware", on top of it "OS", on top of that three apps squeezed together]
Before VMs and containers, you installed apps directly on a physical server. One machine, one operating system, and all your apps sharing it.
That created three big problems.
First, dependency conflicts. Say App A needs version 1 of some library and App B needs version 2. On one operating system you usually get one version installed system-wide. Somebody loses.
Second, wasted capacity. To avoid those conflicts, teams started running one app per server. Safe, but now you have a server that's using a small fraction of its CPU and memory and the rest is just sitting there costing money.
Third, it was slow. Need a new environment? Buy a server, wait for delivery, rack it, install the OS. That's weeks.
So the industry needed a way to run many isolated environments on one machine. The first answer was the virtual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build the stack bottom-up as you talk]
Here's how a virtual machine works. At the bottom: hardware. On top of that, a host operating system. Then a piece of software called a hypervisor — think VMware, VirtualBox, KVM, Hyper-V.
The hypervisor's job is to pretend to be hardware. It carves the real machine into several fake computers. And each fake computer gets its own complete guest operating system [draw the red Guest OS boxes], its own libraries, and then your app on top.
This was a huge win. App A and App B now live in completely separate machines, so no more dependency conflicts. Each VM even has its own kernel, so the isolation is really strong. You can run Windows next to Linux on the same box. And you can pack many apps onto one physical server.
But look at the drawing. [Point at the three red boxes.] Every single VM carries a whole operating system. If you want to run three small apps, you're also running three full copies of an OS. That's gigabytes of disk per VM, memory spent just keeping those OSes alive, and boot times measured in minutes because each VM boots like a real computer.
So the question became: do we really need a whole OS for every app? Or do we just need the app to THINK it has its own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redraw the same stack, but erase the Guest OS boxes]
Now let's draw the container version. Same hardware at the bottom. Same host operating system. On top, instead of a hypervisor, we have a container engine — that's Docker.
And here's the key move. [Erase/cross out where the guest OS boxes were.] The guest operating systems are gone. Each container contains only what its app needs: the libraries, the runtime, the files. App A can still have library v1 and App B can have library v2, because each container has its own private set of files.
But they all share ONE thing: the host's Linux kernel. The kernel is the core of the operating system — the part that talks to hardware, schedules processes, manages memory. In a VM every guest has its own kernel. In containers, everyone shares the host's.
That's why containers are so fast. Starting a container isn't booting a computer. It's just starting a process. That takes about as long as starting the app itself.
And yet, each app still believes it's alone on the machine. It sees its own files, its own network, its own process list. How Linux pulls that off is the coolest part, and we'll get there in a minute. First, let's compare the two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them side by side. These are typical numbers, not hard rules.
Size: a VM image includes a full operating system, so it's usually gigabytes. A container image only has the app and its libraries, so it's often tens or hundreds of megabytes.
Startup: VMs boot in minutes. Containers start in seconds or less.
Isolation: this is where VMs win. A VM has its own kernel, so a bug or exploit in one VM has a very hard time reaching another. Containers share the host kernel, so isolation is at the process level. Good enough for most apps you run yourself, but it matters when you run code you don't trust. Remember this point, because we'll come back to it in the security episode.
Density: because there's no OS overhead, you can typically fit many more containers on a host than VMs.
And portability: the same container image runs on your laptop, on a CI server, and in the cloud. That's the fix for "works on my machine."
One honest note: containers did NOT replace VMs. In the cloud, your containers almost always run INSIDE VMs. They solve different problems, and they work great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single circle labeled "process", then draw three walls around it as you name each one]
Here's the big reveal. A container is not a tiny virtual machine. A container is just a normal Linux process — the same kind of thing as your browser or a Python script — with three walls built around it.
Wall number one: namespaces. Namespaces control what the process can SEE. Inside a namespace, the process gets its own view of the world: its own list of processes, its own network interfaces, its own hostname, its own filesystem.
Wall number two: control groups, or cgroups. cgroups control what the process can USE. How much CPU, how much memory, how much disk I/O. This is how you stop one container from eating all the RAM on the server.
Wall number three: the image filesystem. This is what the process SHIPS with. A stack of read-only layers containing the app, its libraries, and its config. That's the "environment" we talked about at the start.
Put those three together and the process genuinely believes it's alone on its own machine. But from the host's point of view, it's just another process. No hypervisor, no guest OS. These are features built into the Linux kernel, and they've been there for years. Docker's genius was making them easy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zoom into namespaces, because you'll literally see these in action in the next episode.
PID namespace: the container gets its own process tree. Your app thinks it's process number 1 — the very first process on the system. On the host it might be process 48,213.
NET namespace: its own network stack. Its own IP address, its own ports. That's why two containers can both listen on port 80 without fighting.
MNT, the mount namespace: its own view of the filesystem. When the container looks at "/", it sees the image's files, not your host's files.
UTS: its own hostname. Small but useful.
IPC: its own shared memory and message queues, so processes in different containers can't poke at each other's memory.
And USER: lets "root" inside the container map to a normal, unprivileged user on the host. We'll use this in the security episode.
In episode 2, when we run "ps" inside a container and see only one or two processes, that's the PID namespace you're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one box labeled "image", three arrows out to three boxes labeled "container"]
Two words you'll hear constantly: image and container. People mix them up all the time, so let's nail it now.
An image is a read-only blueprint. It's the packaged environment: the app, the libraries, the config, frozen. You build it once, give it a version, and share it.
A container is a running instance of an image. If you're a programmer: the image is the class, the container is the object. If you cook: the image is the recipe, the container is the dish.
And just like one recipe can make many dishes, one image can start many containers. [Point at the three arrows.] Each container gets its own thin writable layer on top of the read-only image. Anything it writes goes there.
Here's the gotcha that bites every beginner: when you delete a container, that writable layer is deleted too. Any data you wrote inside it is gone. That's not a bug, it's the design. And that's exactly why we'll have a whole episode on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Docker actually fit in all this?
When you type a docker command, that's the docker CLI, the client. It sends your request to dockerd, the Docker Engine, which runs in the background. dockerd hands the work to containerd, which manages the container's lifecycle. containerd calls runc, a small tool whose only job is to ask the Linux kernel to create a process with the right namespaces and cgroups.
You don't need to memorize this chain today. We'll take it apart properly in the Docker internals episode. Just know that "docker run" is several layers deep, and the bottom layer is plain Linux.
And here's a fun fact: Docker didn't invent containers. chroot, which changes what a process sees as its root folder, goes back to 1979. FreeBSD had jails in 2000. Linux got cgroups in 2008, and LXC — Linux Containers — appeared the same year.
Docker arrived in 2013. Its real innovation wasn't the isolation. It was the developer experience: a simple image format, a simple command line, and Docker Hub for sharing images. In 2015 the industry agreed on the OCI standard, which is why images built with Docker also run on Kubernetes and other runtimes.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want to oversell containers, so let's be honest about when VMs are still the right tool.
One: when you need a different kernel. Since containers share the host's kernel, a Linux host runs Linux containers. Fun fact: if you use Docker Desktop on a Mac or Windows, it's secretly running a small Linux virtual machine in the background, and your containers live inside that VM.
Two: when you run code you don't trust. A shared kernel means a shared attack surface. If someone finds a kernel exploit, they could potentially escape the container. That's why cloud platforms that run strangers' code often use micro-VMs like Firecracker, or sandboxes like gVisor, which add a stronger boundary.
Three: when you need kernel-level changes, like loading kernel modules. Those affect every container on the host, because they share it.
And remember: in practice, it's not either-or. When you run containers on AWS, Azure or GCP, they're almost always running inside virtual machines. VMs give you strong isolation between customers; containers give you fast, portable packaging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CAMERA]
Let's recap.
One: your app is not just your code. It's your code plus its environment. Containers let you ship both together, which kills "works on my machine."
Two: VMs virtualize hardware and give every app a full operating system. Containers isolate processes and share one kernel. That's why they're lighter and faster, and also why VMs still win for strong isolation.
Three: a container is just a Linux process with walls around it. Namespaces control what it sees, cgroups control what it uses, and image layers are what it ships with.
In the next episode, we finally get our hands dirty. We'll install Docker, run our first containers, look inside them, read their logs, and clean everything up. And yes, you'll see that PID namespace with your own eyes.
If this helped, subscribe so you don't miss the rest of the series, and drop a comment with anything about containers that still feels fuzzy. I'll cover it. See you in episode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3" name="Text 0"/>
          <p:cNvSpPr/>
          <p:nvPr>
            <p:ph idx="101" type="body" hasCustomPrompt="1"/>
          </p:nvPr>
        </p:nvSpPr>
        <p:spPr>
          <a:xfrm>
            <a:off x="731520" y="3886200"/>
            <a:ext cx="10698480" cy="914400"/>
          </a:xfrm>
          <a:prstGeom prst="rect">
            <a:avLst/>
          </a:prstGeom>
          <a:noFill/>
          <a:ln/>
        </p:spPr>
        <p:txBody>
          <a:bodyPr wrap="square" rtlCol="0"/>
          <a:lstStyle>
            <a:lvl1pPr indent="0" marL="0">
              <a:buNone/>
              <a:defRPr lang="en-US" sz="2400" dirty="0">
                <a:solidFill>
                  <a:schemeClr val="accent1"/>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Docker: Zero to GPU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lIns="0" tIns="0" rIns="0" bIns="0" rtlCol="0" anchor="b"/>
          <a:lstStyle/>
          <a:p>
            <a:pPr algn="l" indent="0" marL="0">
              <a:buNone/>
            </a:pPr>
            <a:r>
              <a:rPr lang="en-US" sz="5200" b="1" dirty="0">
                <a:solidFill>
                  <a:schemeClr val="bg1"/>
                </a:solidFill>
              </a:rPr>
              <a:t>Why Containers Exist</a:t>
            </a:r>
            <a:endParaRPr lang="en-US" sz="5200" dirty="0"/>
          </a:p>
        </p:txBody>
      </p:sp>
      <p:sp>
        <p:nvSpPr>
          <p:cNvPr id="3" name="Text 0"/>
          <p:cNvSpPr/>
          <p:nvPr>
            <p:ph idx="101" type="body" hasCustomPrompt="1"/>
          </p:nvPr>
        </p:nvSpPr>
        <p:spPr>
          <a:xfrm>
            <a:off x="731520" y="3886200"/>
            <a:ext cx="10698480" cy="914400"/>
          </a:xfrm>
          <a:prstGeom prst="rect">
            <a:avLst/>
          </a:prstGeom>
          <a:noFill/>
          <a:ln/>
        </p:spPr>
        <p:txBody>
          <a:bodyPr wrap="square" lIns="0" tIns="0" rIns="0" bIns="0" rtlCol="0" anchor="t"/>
          <a:lstStyle/>
          <a:p>
            <a:pPr indent="0" marL="0">
              <a:buNone/>
            </a:pPr>
            <a:r>
              <a:rPr lang="en-US" sz="2400" dirty="0">
                <a:solidFill>
                  <a:schemeClr val="accent1"/>
                </a:solidFill>
              </a:rPr>
              <a:t>Docker: Zero to GPU  ·  Episode 1</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“It works on my machine”</a:t>
            </a:r>
            <a:endParaRPr lang="en-US" sz="3400" dirty="0"/>
          </a:p>
        </p:txBody>
      </p:sp>
      <p:sp>
        <p:nvSpPr>
          <p:cNvPr id="3" name="Shape 1"/>
          <p:cNvSpPr/>
          <p:nvPr/>
        </p:nvSpPr>
        <p:spPr>
          <a:xfrm>
            <a:off x="548640" y="1463040"/>
            <a:ext cx="4937760" cy="4206240"/>
          </a:xfrm>
          <a:prstGeom prst="roundRect">
            <a:avLst>
              <a:gd name="adj" fmla="val 2609"/>
            </a:avLst>
          </a:prstGeom>
          <a:solidFill>
            <a:schemeClr val="bg2"/>
          </a:solidFill>
          <a:ln/>
        </p:spPr>
      </p:sp>
      <p:sp>
        <p:nvSpPr>
          <p:cNvPr id="4" name="Shape 2"/>
          <p:cNvSpPr/>
          <p:nvPr/>
        </p:nvSpPr>
        <p:spPr>
          <a:xfrm>
            <a:off x="868680" y="1737360"/>
            <a:ext cx="822960" cy="8229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66190" y="1934870"/>
            <a:ext cx="427939" cy="427939"/>
          </a:xfrm>
          <a:prstGeom prst="rect">
            <a:avLst/>
          </a:prstGeom>
        </p:spPr>
      </p:pic>
      <p:sp>
        <p:nvSpPr>
          <p:cNvPr id="6" name="Text 3"/>
          <p:cNvSpPr txBox="1"/>
          <p:nvPr/>
        </p:nvSpPr>
        <p:spPr>
          <a:xfrm>
            <a:off x="1874520" y="1874520"/>
            <a:ext cx="3474720" cy="548640"/>
          </a:xfrm>
          <a:prstGeom prst="rect">
            <a:avLst/>
          </a:prstGeom>
          <a:noFill/>
          <a:ln/>
        </p:spPr>
        <p:txBody>
          <a:bodyPr wrap="square" lIns="0" tIns="0" rIns="0" bIns="0" rtlCol="0" anchor="t"/>
          <a:lstStyle/>
          <a:p>
            <a:pPr indent="0" marL="0">
              <a:buNone/>
            </a:pPr>
            <a:r>
              <a:rPr lang="en-US" sz="2200" b="1" dirty="0">
                <a:solidFill>
                  <a:schemeClr val="tx1"/>
                </a:solidFill>
              </a:rPr>
              <a:t>Developer laptop</a:t>
            </a:r>
            <a:endParaRPr lang="en-US" sz="2200" dirty="0"/>
          </a:p>
        </p:txBody>
      </p:sp>
      <p:sp>
        <p:nvSpPr>
          <p:cNvPr id="7" name="Text 4"/>
          <p:cNvSpPr txBox="1"/>
          <p:nvPr/>
        </p:nvSpPr>
        <p:spPr>
          <a:xfrm>
            <a:off x="914400" y="2834640"/>
            <a:ext cx="4206240" cy="18288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Ubuntu 24.04</a:t>
            </a:r>
            <a:endParaRPr lang="en-US" sz="1800" dirty="0"/>
          </a:p>
          <a:p>
            <a:pPr marL="342900" indent="-342900">
              <a:spcAft>
                <a:spcPts val="600"/>
              </a:spcAft>
              <a:buSzPct val="100000"/>
              <a:buChar char="•"/>
            </a:pPr>
            <a:r>
              <a:rPr lang="en-US" sz="1800" dirty="0">
                <a:solidFill>
                  <a:schemeClr val="tx1"/>
                </a:solidFill>
              </a:rPr>
              <a:t>Python 3.12</a:t>
            </a:r>
            <a:endParaRPr lang="en-US" sz="1800" dirty="0"/>
          </a:p>
          <a:p>
            <a:pPr marL="342900" indent="-342900">
              <a:spcAft>
                <a:spcPts val="600"/>
              </a:spcAft>
              <a:buSzPct val="100000"/>
              <a:buChar char="•"/>
            </a:pPr>
            <a:r>
              <a:rPr lang="en-US" sz="1800" dirty="0">
                <a:solidFill>
                  <a:schemeClr val="tx1"/>
                </a:solidFill>
              </a:rPr>
              <a:t>requests 2.32</a:t>
            </a:r>
            <a:endParaRPr lang="en-US" sz="1800" dirty="0"/>
          </a:p>
          <a:p>
            <a:pPr marL="342900" indent="-342900">
              <a:spcAft>
                <a:spcPts val="600"/>
              </a:spcAft>
              <a:buSzPct val="100000"/>
              <a:buChar char="•"/>
            </a:pPr>
            <a:r>
              <a:rPr lang="en-US" sz="1800" dirty="0">
                <a:solidFill>
                  <a:schemeClr val="tx1"/>
                </a:solidFill>
              </a:rPr>
              <a:t>OpenSSL 3</a:t>
            </a:r>
            <a:endParaRPr lang="en-US" sz="1800" dirty="0"/>
          </a:p>
        </p:txBody>
      </p:sp>
      <p:sp>
        <p:nvSpPr>
          <p:cNvPr id="8" name="Shape 5"/>
          <p:cNvSpPr/>
          <p:nvPr/>
        </p:nvSpPr>
        <p:spPr>
          <a:xfrm>
            <a:off x="914400" y="4800600"/>
            <a:ext cx="548640" cy="548640"/>
          </a:xfrm>
          <a:prstGeom prst="ellipse">
            <a:avLst/>
          </a:prstGeom>
          <a:solidFill>
            <a:schemeClr val="accent3"/>
          </a:solidFill>
          <a:ln/>
        </p:spPr>
      </p:sp>
      <p:pic>
        <p:nvPicPr>
          <p:cNvPr id="9" name="Image 1" descr="preencoded.png">    </p:cNvPr>
          <p:cNvPicPr>
            <a:picLocks noChangeAspect="1"/>
          </p:cNvPicPr>
          <p:nvPr/>
        </p:nvPicPr>
        <p:blipFill>
          <a:blip r:embed="rId2"/>
          <a:stretch>
            <a:fillRect/>
          </a:stretch>
        </p:blipFill>
        <p:spPr>
          <a:xfrm>
            <a:off x="1046074" y="4932274"/>
            <a:ext cx="285293" cy="285293"/>
          </a:xfrm>
          <a:prstGeom prst="rect">
            <a:avLst/>
          </a:prstGeom>
        </p:spPr>
      </p:pic>
      <p:sp>
        <p:nvSpPr>
          <p:cNvPr id="10" name="Text 6"/>
          <p:cNvSpPr txBox="1"/>
          <p:nvPr/>
        </p:nvSpPr>
        <p:spPr>
          <a:xfrm>
            <a:off x="1600200" y="4846320"/>
            <a:ext cx="3200400" cy="457200"/>
          </a:xfrm>
          <a:prstGeom prst="rect">
            <a:avLst/>
          </a:prstGeom>
          <a:noFill/>
          <a:ln/>
        </p:spPr>
        <p:txBody>
          <a:bodyPr wrap="square" lIns="0" tIns="0" rIns="0" bIns="0" rtlCol="0" anchor="ctr"/>
          <a:lstStyle/>
          <a:p>
            <a:pPr indent="0" marL="0">
              <a:buNone/>
            </a:pPr>
            <a:r>
              <a:rPr lang="en-US" sz="2000" b="1" dirty="0">
                <a:solidFill>
                  <a:schemeClr val="accent3"/>
                </a:solidFill>
              </a:rPr>
              <a:t>App works</a:t>
            </a:r>
            <a:endParaRPr lang="en-US" sz="2000" dirty="0"/>
          </a:p>
        </p:txBody>
      </p:sp>
      <p:sp>
        <p:nvSpPr>
          <p:cNvPr id="11" name="Shape 7"/>
          <p:cNvSpPr/>
          <p:nvPr/>
        </p:nvSpPr>
        <p:spPr>
          <a:xfrm>
            <a:off x="5669280" y="3566160"/>
            <a:ext cx="822960" cy="914"/>
          </a:xfrm>
          <a:prstGeom prst="line">
            <a:avLst/>
          </a:prstGeom>
          <a:noFill/>
          <a:ln w="31750">
            <a:solidFill>
              <a:schemeClr val="accent6"/>
            </a:solidFill>
            <a:prstDash val="solid"/>
            <a:tailEnd type="triangle"/>
          </a:ln>
        </p:spPr>
      </p:sp>
      <p:sp>
        <p:nvSpPr>
          <p:cNvPr id="12" name="Shape 8"/>
          <p:cNvSpPr/>
          <p:nvPr/>
        </p:nvSpPr>
        <p:spPr>
          <a:xfrm>
            <a:off x="6675120" y="1463040"/>
            <a:ext cx="4937760" cy="4206240"/>
          </a:xfrm>
          <a:prstGeom prst="roundRect">
            <a:avLst>
              <a:gd name="adj" fmla="val 2609"/>
            </a:avLst>
          </a:prstGeom>
          <a:solidFill>
            <a:schemeClr val="bg2"/>
          </a:solidFill>
          <a:ln/>
        </p:spPr>
      </p:sp>
      <p:sp>
        <p:nvSpPr>
          <p:cNvPr id="13" name="Shape 9"/>
          <p:cNvSpPr/>
          <p:nvPr/>
        </p:nvSpPr>
        <p:spPr>
          <a:xfrm>
            <a:off x="6995160" y="1737360"/>
            <a:ext cx="822960" cy="822960"/>
          </a:xfrm>
          <a:prstGeom prst="ellipse">
            <a:avLst/>
          </a:prstGeom>
          <a:solidFill>
            <a:schemeClr val="tx2"/>
          </a:solidFill>
          <a:ln/>
        </p:spPr>
      </p:sp>
      <p:pic>
        <p:nvPicPr>
          <p:cNvPr id="14" name="Image 2" descr="preencoded.png">    </p:cNvPr>
          <p:cNvPicPr>
            <a:picLocks noChangeAspect="1"/>
          </p:cNvPicPr>
          <p:nvPr/>
        </p:nvPicPr>
        <p:blipFill>
          <a:blip r:embed="rId3"/>
          <a:stretch>
            <a:fillRect/>
          </a:stretch>
        </p:blipFill>
        <p:spPr>
          <a:xfrm>
            <a:off x="7192670" y="1934870"/>
            <a:ext cx="427939" cy="427939"/>
          </a:xfrm>
          <a:prstGeom prst="rect">
            <a:avLst/>
          </a:prstGeom>
        </p:spPr>
      </p:pic>
      <p:sp>
        <p:nvSpPr>
          <p:cNvPr id="15" name="Text 10"/>
          <p:cNvSpPr txBox="1"/>
          <p:nvPr/>
        </p:nvSpPr>
        <p:spPr>
          <a:xfrm>
            <a:off x="8001000" y="1874520"/>
            <a:ext cx="3474720" cy="548640"/>
          </a:xfrm>
          <a:prstGeom prst="rect">
            <a:avLst/>
          </a:prstGeom>
          <a:noFill/>
          <a:ln/>
        </p:spPr>
        <p:txBody>
          <a:bodyPr wrap="square" lIns="0" tIns="0" rIns="0" bIns="0" rtlCol="0" anchor="t"/>
          <a:lstStyle/>
          <a:p>
            <a:pPr indent="0" marL="0">
              <a:buNone/>
            </a:pPr>
            <a:r>
              <a:rPr lang="en-US" sz="2200" b="1" dirty="0">
                <a:solidFill>
                  <a:schemeClr val="tx1"/>
                </a:solidFill>
              </a:rPr>
              <a:t>Production server</a:t>
            </a:r>
            <a:endParaRPr lang="en-US" sz="2200" dirty="0"/>
          </a:p>
        </p:txBody>
      </p:sp>
      <p:sp>
        <p:nvSpPr>
          <p:cNvPr id="16" name="Text 11"/>
          <p:cNvSpPr txBox="1"/>
          <p:nvPr/>
        </p:nvSpPr>
        <p:spPr>
          <a:xfrm>
            <a:off x="7040880" y="2834640"/>
            <a:ext cx="4206240" cy="18288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RHEL 8</a:t>
            </a:r>
            <a:endParaRPr lang="en-US" sz="1800" dirty="0"/>
          </a:p>
          <a:p>
            <a:pPr marL="342900" indent="-342900">
              <a:spcAft>
                <a:spcPts val="600"/>
              </a:spcAft>
              <a:buSzPct val="100000"/>
              <a:buChar char="•"/>
            </a:pPr>
            <a:r>
              <a:rPr lang="en-US" sz="1800" dirty="0">
                <a:solidFill>
                  <a:schemeClr val="tx1"/>
                </a:solidFill>
              </a:rPr>
              <a:t>Python 3.8</a:t>
            </a:r>
            <a:endParaRPr lang="en-US" sz="1800" dirty="0"/>
          </a:p>
          <a:p>
            <a:pPr marL="342900" indent="-342900">
              <a:spcAft>
                <a:spcPts val="600"/>
              </a:spcAft>
              <a:buSzPct val="100000"/>
              <a:buChar char="•"/>
            </a:pPr>
            <a:r>
              <a:rPr lang="en-US" sz="1800" dirty="0">
                <a:solidFill>
                  <a:schemeClr val="tx1"/>
                </a:solidFill>
              </a:rPr>
              <a:t>requests 2.20</a:t>
            </a:r>
            <a:endParaRPr lang="en-US" sz="1800" dirty="0"/>
          </a:p>
          <a:p>
            <a:pPr marL="342900" indent="-342900">
              <a:spcAft>
                <a:spcPts val="600"/>
              </a:spcAft>
              <a:buSzPct val="100000"/>
              <a:buChar char="•"/>
            </a:pPr>
            <a:r>
              <a:rPr lang="en-US" sz="1800" dirty="0">
                <a:solidFill>
                  <a:schemeClr val="tx1"/>
                </a:solidFill>
              </a:rPr>
              <a:t>OpenSSL 1.1</a:t>
            </a:r>
            <a:endParaRPr lang="en-US" sz="1800" dirty="0"/>
          </a:p>
        </p:txBody>
      </p:sp>
      <p:sp>
        <p:nvSpPr>
          <p:cNvPr id="17" name="Shape 12"/>
          <p:cNvSpPr/>
          <p:nvPr/>
        </p:nvSpPr>
        <p:spPr>
          <a:xfrm>
            <a:off x="7040880" y="4800600"/>
            <a:ext cx="548640" cy="548640"/>
          </a:xfrm>
          <a:prstGeom prst="ellipse">
            <a:avLst/>
          </a:prstGeom>
          <a:solidFill>
            <a:schemeClr val="accent4"/>
          </a:solidFill>
          <a:ln/>
        </p:spPr>
      </p:sp>
      <p:pic>
        <p:nvPicPr>
          <p:cNvPr id="18" name="Image 3" descr="preencoded.png">    </p:cNvPr>
          <p:cNvPicPr>
            <a:picLocks noChangeAspect="1"/>
          </p:cNvPicPr>
          <p:nvPr/>
        </p:nvPicPr>
        <p:blipFill>
          <a:blip r:embed="rId4"/>
          <a:stretch>
            <a:fillRect/>
          </a:stretch>
        </p:blipFill>
        <p:spPr>
          <a:xfrm>
            <a:off x="7172554" y="4932274"/>
            <a:ext cx="285293" cy="285293"/>
          </a:xfrm>
          <a:prstGeom prst="rect">
            <a:avLst/>
          </a:prstGeom>
        </p:spPr>
      </p:pic>
      <p:sp>
        <p:nvSpPr>
          <p:cNvPr id="19" name="Text 13"/>
          <p:cNvSpPr txBox="1"/>
          <p:nvPr/>
        </p:nvSpPr>
        <p:spPr>
          <a:xfrm>
            <a:off x="7726680" y="4846320"/>
            <a:ext cx="3200400" cy="457200"/>
          </a:xfrm>
          <a:prstGeom prst="rect">
            <a:avLst/>
          </a:prstGeom>
          <a:noFill/>
          <a:ln/>
        </p:spPr>
        <p:txBody>
          <a:bodyPr wrap="square" lIns="0" tIns="0" rIns="0" bIns="0" rtlCol="0" anchor="ctr"/>
          <a:lstStyle/>
          <a:p>
            <a:pPr indent="0" marL="0">
              <a:buNone/>
            </a:pPr>
            <a:r>
              <a:rPr lang="en-US" sz="2000" b="1" dirty="0">
                <a:solidFill>
                  <a:schemeClr val="accent4"/>
                </a:solidFill>
              </a:rPr>
              <a:t>App crashes</a:t>
            </a:r>
            <a:endParaRPr lang="en-US" sz="2000" dirty="0"/>
          </a:p>
        </p:txBody>
      </p:sp>
      <p:sp>
        <p:nvSpPr>
          <p:cNvPr id="20" name="Text 14"/>
          <p:cNvSpPr txBox="1"/>
          <p:nvPr/>
        </p:nvSpPr>
        <p:spPr>
          <a:xfrm>
            <a:off x="548640" y="5852160"/>
            <a:ext cx="11064240" cy="411480"/>
          </a:xfrm>
          <a:prstGeom prst="rect">
            <a:avLst/>
          </a:prstGeom>
          <a:noFill/>
          <a:ln/>
        </p:spPr>
        <p:txBody>
          <a:bodyPr wrap="square" lIns="0" tIns="0" rIns="0" bIns="0" rtlCol="0" anchor="t"/>
          <a:lstStyle/>
          <a:p>
            <a:pPr algn="ctr" indent="0" marL="0">
              <a:buNone/>
            </a:pPr>
            <a:r>
              <a:rPr lang="en-US" sz="1800" i="1" dirty="0">
                <a:solidFill>
                  <a:schemeClr val="tx2"/>
                </a:solidFill>
              </a:rPr>
              <a:t>The code didn’t change. The environment did.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you’ll learn today</a:t>
            </a:r>
            <a:endParaRPr lang="en-US" sz="3400" dirty="0"/>
          </a:p>
        </p:txBody>
      </p:sp>
      <p:sp>
        <p:nvSpPr>
          <p:cNvPr id="3" name="Shape 1"/>
          <p:cNvSpPr/>
          <p:nvPr/>
        </p:nvSpPr>
        <p:spPr>
          <a:xfrm>
            <a:off x="548640" y="1645920"/>
            <a:ext cx="2606040" cy="3840480"/>
          </a:xfrm>
          <a:prstGeom prst="roundRect">
            <a:avLst>
              <a:gd name="adj" fmla="val 4211"/>
            </a:avLst>
          </a:prstGeom>
          <a:solidFill>
            <a:schemeClr val="bg2"/>
          </a:solidFill>
          <a:ln/>
        </p:spPr>
      </p:sp>
      <p:sp>
        <p:nvSpPr>
          <p:cNvPr id="4" name="Shape 2"/>
          <p:cNvSpPr/>
          <p:nvPr/>
        </p:nvSpPr>
        <p:spPr>
          <a:xfrm>
            <a:off x="1417320" y="2011680"/>
            <a:ext cx="868680" cy="86868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1625803" y="2220163"/>
            <a:ext cx="451714" cy="451714"/>
          </a:xfrm>
          <a:prstGeom prst="rect">
            <a:avLst/>
          </a:prstGeom>
        </p:spPr>
      </p:pic>
      <p:sp>
        <p:nvSpPr>
          <p:cNvPr id="6" name="Text 3"/>
          <p:cNvSpPr txBox="1"/>
          <p:nvPr/>
        </p:nvSpPr>
        <p:spPr>
          <a:xfrm>
            <a:off x="822960" y="3108960"/>
            <a:ext cx="2057400" cy="411480"/>
          </a:xfrm>
          <a:prstGeom prst="rect">
            <a:avLst/>
          </a:prstGeom>
          <a:noFill/>
          <a:ln/>
        </p:spPr>
        <p:txBody>
          <a:bodyPr wrap="square" lIns="0" tIns="0" rIns="0" bIns="0" rtlCol="0" anchor="t"/>
          <a:lstStyle/>
          <a:p>
            <a:pPr algn="ctr" indent="0" marL="0">
              <a:buNone/>
            </a:pPr>
            <a:r>
              <a:rPr lang="en-US" sz="1600" b="1" dirty="0">
                <a:solidFill>
                  <a:schemeClr val="accent6"/>
                </a:solidFill>
              </a:rPr>
              <a:t>01</a:t>
            </a:r>
            <a:endParaRPr lang="en-US" sz="1600" dirty="0"/>
          </a:p>
        </p:txBody>
      </p:sp>
      <p:sp>
        <p:nvSpPr>
          <p:cNvPr id="7" name="Text 4"/>
          <p:cNvSpPr txBox="1"/>
          <p:nvPr/>
        </p:nvSpPr>
        <p:spPr>
          <a:xfrm>
            <a:off x="731520" y="3520440"/>
            <a:ext cx="2240280" cy="548640"/>
          </a:xfrm>
          <a:prstGeom prst="rect">
            <a:avLst/>
          </a:prstGeom>
          <a:noFill/>
          <a:ln/>
        </p:spPr>
        <p:txBody>
          <a:bodyPr wrap="square" lIns="0" tIns="0" rIns="0" bIns="0" rtlCol="0" anchor="t"/>
          <a:lstStyle/>
          <a:p>
            <a:pPr algn="ctr" indent="0" marL="0">
              <a:buNone/>
            </a:pPr>
            <a:r>
              <a:rPr lang="en-US" sz="2200" b="1" dirty="0">
                <a:solidFill>
                  <a:schemeClr val="tx1"/>
                </a:solidFill>
              </a:rPr>
              <a:t>The problem</a:t>
            </a:r>
            <a:endParaRPr lang="en-US" sz="2200" dirty="0"/>
          </a:p>
        </p:txBody>
      </p:sp>
      <p:sp>
        <p:nvSpPr>
          <p:cNvPr id="8" name="Text 5"/>
          <p:cNvSpPr txBox="1"/>
          <p:nvPr/>
        </p:nvSpPr>
        <p:spPr>
          <a:xfrm>
            <a:off x="777240" y="4160520"/>
            <a:ext cx="2148840" cy="1097280"/>
          </a:xfrm>
          <a:prstGeom prst="rect">
            <a:avLst/>
          </a:prstGeom>
          <a:noFill/>
          <a:ln/>
        </p:spPr>
        <p:txBody>
          <a:bodyPr wrap="square" lIns="0" tIns="0" rIns="0" bIns="0" rtlCol="0" anchor="t"/>
          <a:lstStyle/>
          <a:p>
            <a:pPr algn="ctr" indent="0" marL="0">
              <a:buNone/>
            </a:pPr>
            <a:r>
              <a:rPr lang="en-US" sz="1600" dirty="0">
                <a:solidFill>
                  <a:schemeClr val="tx2"/>
                </a:solidFill>
              </a:rPr>
              <a:t>Why “one server per app” broke down</a:t>
            </a:r>
            <a:endParaRPr lang="en-US" sz="1600" dirty="0"/>
          </a:p>
        </p:txBody>
      </p:sp>
      <p:sp>
        <p:nvSpPr>
          <p:cNvPr id="9" name="Shape 6"/>
          <p:cNvSpPr/>
          <p:nvPr/>
        </p:nvSpPr>
        <p:spPr>
          <a:xfrm>
            <a:off x="3383280" y="1645920"/>
            <a:ext cx="2606040" cy="3840480"/>
          </a:xfrm>
          <a:prstGeom prst="roundRect">
            <a:avLst>
              <a:gd name="adj" fmla="val 4211"/>
            </a:avLst>
          </a:prstGeom>
          <a:solidFill>
            <a:schemeClr val="bg2"/>
          </a:solidFill>
          <a:ln/>
        </p:spPr>
      </p:sp>
      <p:sp>
        <p:nvSpPr>
          <p:cNvPr id="10" name="Shape 7"/>
          <p:cNvSpPr/>
          <p:nvPr/>
        </p:nvSpPr>
        <p:spPr>
          <a:xfrm>
            <a:off x="4251960" y="2011680"/>
            <a:ext cx="868680" cy="868680"/>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4460443" y="2220163"/>
            <a:ext cx="451714" cy="451714"/>
          </a:xfrm>
          <a:prstGeom prst="rect">
            <a:avLst/>
          </a:prstGeom>
        </p:spPr>
      </p:pic>
      <p:sp>
        <p:nvSpPr>
          <p:cNvPr id="12" name="Text 8"/>
          <p:cNvSpPr txBox="1"/>
          <p:nvPr/>
        </p:nvSpPr>
        <p:spPr>
          <a:xfrm>
            <a:off x="3657600" y="3108960"/>
            <a:ext cx="2057400" cy="411480"/>
          </a:xfrm>
          <a:prstGeom prst="rect">
            <a:avLst/>
          </a:prstGeom>
          <a:noFill/>
          <a:ln/>
        </p:spPr>
        <p:txBody>
          <a:bodyPr wrap="square" lIns="0" tIns="0" rIns="0" bIns="0" rtlCol="0" anchor="t"/>
          <a:lstStyle/>
          <a:p>
            <a:pPr algn="ctr" indent="0" marL="0">
              <a:buNone/>
            </a:pPr>
            <a:r>
              <a:rPr lang="en-US" sz="1600" b="1" dirty="0">
                <a:solidFill>
                  <a:schemeClr val="accent6"/>
                </a:solidFill>
              </a:rPr>
              <a:t>02</a:t>
            </a:r>
            <a:endParaRPr lang="en-US" sz="1600" dirty="0"/>
          </a:p>
        </p:txBody>
      </p:sp>
      <p:sp>
        <p:nvSpPr>
          <p:cNvPr id="13" name="Text 9"/>
          <p:cNvSpPr txBox="1"/>
          <p:nvPr/>
        </p:nvSpPr>
        <p:spPr>
          <a:xfrm>
            <a:off x="3566160" y="3520440"/>
            <a:ext cx="2240280" cy="548640"/>
          </a:xfrm>
          <a:prstGeom prst="rect">
            <a:avLst/>
          </a:prstGeom>
          <a:noFill/>
          <a:ln/>
        </p:spPr>
        <p:txBody>
          <a:bodyPr wrap="square" lIns="0" tIns="0" rIns="0" bIns="0" rtlCol="0" anchor="t"/>
          <a:lstStyle/>
          <a:p>
            <a:pPr algn="ctr" indent="0" marL="0">
              <a:buNone/>
            </a:pPr>
            <a:r>
              <a:rPr lang="en-US" sz="2200" b="1" dirty="0">
                <a:solidFill>
                  <a:schemeClr val="tx1"/>
                </a:solidFill>
              </a:rPr>
              <a:t>Virtual machines</a:t>
            </a:r>
            <a:endParaRPr lang="en-US" sz="2200" dirty="0"/>
          </a:p>
        </p:txBody>
      </p:sp>
      <p:sp>
        <p:nvSpPr>
          <p:cNvPr id="14" name="Text 10"/>
          <p:cNvSpPr txBox="1"/>
          <p:nvPr/>
        </p:nvSpPr>
        <p:spPr>
          <a:xfrm>
            <a:off x="3611880" y="4160520"/>
            <a:ext cx="2148840" cy="1097280"/>
          </a:xfrm>
          <a:prstGeom prst="rect">
            <a:avLst/>
          </a:prstGeom>
          <a:noFill/>
          <a:ln/>
        </p:spPr>
        <p:txBody>
          <a:bodyPr wrap="square" lIns="0" tIns="0" rIns="0" bIns="0" rtlCol="0" anchor="t"/>
          <a:lstStyle/>
          <a:p>
            <a:pPr algn="ctr" indent="0" marL="0">
              <a:buNone/>
            </a:pPr>
            <a:r>
              <a:rPr lang="en-US" sz="1600" dirty="0">
                <a:solidFill>
                  <a:schemeClr val="tx2"/>
                </a:solidFill>
              </a:rPr>
              <a:t>The first fix, and what it costs</a:t>
            </a:r>
            <a:endParaRPr lang="en-US" sz="1600" dirty="0"/>
          </a:p>
        </p:txBody>
      </p:sp>
      <p:sp>
        <p:nvSpPr>
          <p:cNvPr id="15" name="Shape 11"/>
          <p:cNvSpPr/>
          <p:nvPr/>
        </p:nvSpPr>
        <p:spPr>
          <a:xfrm>
            <a:off x="6217920" y="1645920"/>
            <a:ext cx="2606040" cy="3840480"/>
          </a:xfrm>
          <a:prstGeom prst="roundRect">
            <a:avLst>
              <a:gd name="adj" fmla="val 4211"/>
            </a:avLst>
          </a:prstGeom>
          <a:solidFill>
            <a:schemeClr val="bg2"/>
          </a:solidFill>
          <a:ln/>
        </p:spPr>
      </p:sp>
      <p:sp>
        <p:nvSpPr>
          <p:cNvPr id="16" name="Shape 12"/>
          <p:cNvSpPr/>
          <p:nvPr/>
        </p:nvSpPr>
        <p:spPr>
          <a:xfrm>
            <a:off x="7086600" y="2011680"/>
            <a:ext cx="868680" cy="86868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7295083" y="2220163"/>
            <a:ext cx="451714" cy="451714"/>
          </a:xfrm>
          <a:prstGeom prst="rect">
            <a:avLst/>
          </a:prstGeom>
        </p:spPr>
      </p:pic>
      <p:sp>
        <p:nvSpPr>
          <p:cNvPr id="18" name="Text 13"/>
          <p:cNvSpPr txBox="1"/>
          <p:nvPr/>
        </p:nvSpPr>
        <p:spPr>
          <a:xfrm>
            <a:off x="6492240" y="3108960"/>
            <a:ext cx="2057400" cy="411480"/>
          </a:xfrm>
          <a:prstGeom prst="rect">
            <a:avLst/>
          </a:prstGeom>
          <a:noFill/>
          <a:ln/>
        </p:spPr>
        <p:txBody>
          <a:bodyPr wrap="square" lIns="0" tIns="0" rIns="0" bIns="0" rtlCol="0" anchor="t"/>
          <a:lstStyle/>
          <a:p>
            <a:pPr algn="ctr" indent="0" marL="0">
              <a:buNone/>
            </a:pPr>
            <a:r>
              <a:rPr lang="en-US" sz="1600" b="1" dirty="0">
                <a:solidFill>
                  <a:schemeClr val="accent6"/>
                </a:solidFill>
              </a:rPr>
              <a:t>03</a:t>
            </a:r>
            <a:endParaRPr lang="en-US" sz="1600" dirty="0"/>
          </a:p>
        </p:txBody>
      </p:sp>
      <p:sp>
        <p:nvSpPr>
          <p:cNvPr id="19" name="Text 14"/>
          <p:cNvSpPr txBox="1"/>
          <p:nvPr/>
        </p:nvSpPr>
        <p:spPr>
          <a:xfrm>
            <a:off x="6400800" y="3520440"/>
            <a:ext cx="2240280" cy="548640"/>
          </a:xfrm>
          <a:prstGeom prst="rect">
            <a:avLst/>
          </a:prstGeom>
          <a:noFill/>
          <a:ln/>
        </p:spPr>
        <p:txBody>
          <a:bodyPr wrap="square" lIns="0" tIns="0" rIns="0" bIns="0" rtlCol="0" anchor="t"/>
          <a:lstStyle/>
          <a:p>
            <a:pPr algn="ctr" indent="0" marL="0">
              <a:buNone/>
            </a:pPr>
            <a:r>
              <a:rPr lang="en-US" sz="2200" b="1" dirty="0">
                <a:solidFill>
                  <a:schemeClr val="tx1"/>
                </a:solidFill>
              </a:rPr>
              <a:t>Containers</a:t>
            </a:r>
            <a:endParaRPr lang="en-US" sz="2200" dirty="0"/>
          </a:p>
        </p:txBody>
      </p:sp>
      <p:sp>
        <p:nvSpPr>
          <p:cNvPr id="20" name="Text 15"/>
          <p:cNvSpPr txBox="1"/>
          <p:nvPr/>
        </p:nvSpPr>
        <p:spPr>
          <a:xfrm>
            <a:off x="6446520" y="4160520"/>
            <a:ext cx="2148840" cy="1097280"/>
          </a:xfrm>
          <a:prstGeom prst="rect">
            <a:avLst/>
          </a:prstGeom>
          <a:noFill/>
          <a:ln/>
        </p:spPr>
        <p:txBody>
          <a:bodyPr wrap="square" lIns="0" tIns="0" rIns="0" bIns="0" rtlCol="0" anchor="t"/>
          <a:lstStyle/>
          <a:p>
            <a:pPr algn="ctr" indent="0" marL="0">
              <a:buNone/>
            </a:pPr>
            <a:r>
              <a:rPr lang="en-US" sz="1600" dirty="0">
                <a:solidFill>
                  <a:schemeClr val="tx2"/>
                </a:solidFill>
              </a:rPr>
              <a:t>The lighter fix, and how it differs</a:t>
            </a:r>
            <a:endParaRPr lang="en-US" sz="1600" dirty="0"/>
          </a:p>
        </p:txBody>
      </p:sp>
      <p:sp>
        <p:nvSpPr>
          <p:cNvPr id="21" name="Shape 16"/>
          <p:cNvSpPr/>
          <p:nvPr/>
        </p:nvSpPr>
        <p:spPr>
          <a:xfrm>
            <a:off x="9052560" y="1645920"/>
            <a:ext cx="2606040" cy="3840480"/>
          </a:xfrm>
          <a:prstGeom prst="roundRect">
            <a:avLst>
              <a:gd name="adj" fmla="val 4211"/>
            </a:avLst>
          </a:prstGeom>
          <a:solidFill>
            <a:schemeClr val="bg2"/>
          </a:solidFill>
          <a:ln/>
        </p:spPr>
      </p:sp>
      <p:sp>
        <p:nvSpPr>
          <p:cNvPr id="22" name="Shape 17"/>
          <p:cNvSpPr/>
          <p:nvPr/>
        </p:nvSpPr>
        <p:spPr>
          <a:xfrm>
            <a:off x="9921240" y="2011680"/>
            <a:ext cx="868680" cy="868680"/>
          </a:xfrm>
          <a:prstGeom prst="ellipse">
            <a:avLst/>
          </a:prstGeom>
          <a:solidFill>
            <a:schemeClr val="accent5"/>
          </a:solidFill>
          <a:ln/>
        </p:spPr>
      </p:sp>
      <p:pic>
        <p:nvPicPr>
          <p:cNvPr id="23" name="Image 3" descr="preencoded.png">    </p:cNvPr>
          <p:cNvPicPr>
            <a:picLocks noChangeAspect="1"/>
          </p:cNvPicPr>
          <p:nvPr/>
        </p:nvPicPr>
        <p:blipFill>
          <a:blip r:embed="rId4"/>
          <a:stretch>
            <a:fillRect/>
          </a:stretch>
        </p:blipFill>
        <p:spPr>
          <a:xfrm>
            <a:off x="10129723" y="2220163"/>
            <a:ext cx="451714" cy="451714"/>
          </a:xfrm>
          <a:prstGeom prst="rect">
            <a:avLst/>
          </a:prstGeom>
        </p:spPr>
      </p:pic>
      <p:sp>
        <p:nvSpPr>
          <p:cNvPr id="24" name="Text 18"/>
          <p:cNvSpPr txBox="1"/>
          <p:nvPr/>
        </p:nvSpPr>
        <p:spPr>
          <a:xfrm>
            <a:off x="9326880" y="3108960"/>
            <a:ext cx="2057400" cy="411480"/>
          </a:xfrm>
          <a:prstGeom prst="rect">
            <a:avLst/>
          </a:prstGeom>
          <a:noFill/>
          <a:ln/>
        </p:spPr>
        <p:txBody>
          <a:bodyPr wrap="square" lIns="0" tIns="0" rIns="0" bIns="0" rtlCol="0" anchor="t"/>
          <a:lstStyle/>
          <a:p>
            <a:pPr algn="ctr" indent="0" marL="0">
              <a:buNone/>
            </a:pPr>
            <a:r>
              <a:rPr lang="en-US" sz="1600" b="1" dirty="0">
                <a:solidFill>
                  <a:schemeClr val="accent6"/>
                </a:solidFill>
              </a:rPr>
              <a:t>04</a:t>
            </a:r>
            <a:endParaRPr lang="en-US" sz="1600" dirty="0"/>
          </a:p>
        </p:txBody>
      </p:sp>
      <p:sp>
        <p:nvSpPr>
          <p:cNvPr id="25" name="Text 19"/>
          <p:cNvSpPr txBox="1"/>
          <p:nvPr/>
        </p:nvSpPr>
        <p:spPr>
          <a:xfrm>
            <a:off x="9235440" y="3520440"/>
            <a:ext cx="2240280" cy="548640"/>
          </a:xfrm>
          <a:prstGeom prst="rect">
            <a:avLst/>
          </a:prstGeom>
          <a:noFill/>
          <a:ln/>
        </p:spPr>
        <p:txBody>
          <a:bodyPr wrap="square" lIns="0" tIns="0" rIns="0" bIns="0" rtlCol="0" anchor="t"/>
          <a:lstStyle/>
          <a:p>
            <a:pPr algn="ctr" indent="0" marL="0">
              <a:buNone/>
            </a:pPr>
            <a:r>
              <a:rPr lang="en-US" sz="2200" b="1" dirty="0">
                <a:solidFill>
                  <a:schemeClr val="tx1"/>
                </a:solidFill>
              </a:rPr>
              <a:t>Under the hood</a:t>
            </a:r>
            <a:endParaRPr lang="en-US" sz="2200" dirty="0"/>
          </a:p>
        </p:txBody>
      </p:sp>
      <p:sp>
        <p:nvSpPr>
          <p:cNvPr id="26" name="Text 20"/>
          <p:cNvSpPr txBox="1"/>
          <p:nvPr/>
        </p:nvSpPr>
        <p:spPr>
          <a:xfrm>
            <a:off x="9281160" y="4160520"/>
            <a:ext cx="2148840" cy="1097280"/>
          </a:xfrm>
          <a:prstGeom prst="rect">
            <a:avLst/>
          </a:prstGeom>
          <a:noFill/>
          <a:ln/>
        </p:spPr>
        <p:txBody>
          <a:bodyPr wrap="square" lIns="0" tIns="0" rIns="0" bIns="0" rtlCol="0" anchor="t"/>
          <a:lstStyle/>
          <a:p>
            <a:pPr algn="ctr" indent="0" marL="0">
              <a:buNone/>
            </a:pPr>
            <a:r>
              <a:rPr lang="en-US" sz="1600" dirty="0">
                <a:solidFill>
                  <a:schemeClr val="tx2"/>
                </a:solidFill>
              </a:rPr>
              <a:t>What a container really is in Linux</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old way: one app per physical server</a:t>
            </a:r>
            <a:endParaRPr lang="en-US" sz="3400" dirty="0"/>
          </a:p>
        </p:txBody>
      </p:sp>
      <p:sp>
        <p:nvSpPr>
          <p:cNvPr id="3" name="Shape 1"/>
          <p:cNvSpPr/>
          <p:nvPr/>
        </p:nvSpPr>
        <p:spPr>
          <a:xfrm>
            <a:off x="548640" y="4846320"/>
            <a:ext cx="4206240" cy="685800"/>
          </a:xfrm>
          <a:prstGeom prst="roundRect">
            <a:avLst>
              <a:gd name="adj" fmla="val 8000"/>
            </a:avLst>
          </a:prstGeom>
          <a:solidFill>
            <a:schemeClr val="accent6"/>
          </a:solidFill>
          <a:ln/>
        </p:spPr>
      </p:sp>
      <p:sp>
        <p:nvSpPr>
          <p:cNvPr id="4" name="Text 2"/>
          <p:cNvSpPr txBox="1"/>
          <p:nvPr/>
        </p:nvSpPr>
        <p:spPr>
          <a:xfrm>
            <a:off x="548640" y="4846320"/>
            <a:ext cx="4206240" cy="685800"/>
          </a:xfrm>
          <a:prstGeom prst="rect">
            <a:avLst/>
          </a:prstGeom>
          <a:noFill/>
          <a:ln/>
        </p:spPr>
        <p:txBody>
          <a:bodyPr wrap="square" lIns="0" tIns="0" rIns="0" bIns="0" rtlCol="0" anchor="ctr"/>
          <a:lstStyle/>
          <a:p>
            <a:pPr algn="ctr" indent="0" marL="0">
              <a:buNone/>
            </a:pPr>
            <a:r>
              <a:rPr lang="en-US" sz="1500" b="1" dirty="0">
                <a:solidFill>
                  <a:schemeClr val="bg1"/>
                </a:solidFill>
              </a:rPr>
              <a:t>Hardware</a:t>
            </a:r>
            <a:endParaRPr lang="en-US" sz="1500" dirty="0"/>
          </a:p>
        </p:txBody>
      </p:sp>
      <p:sp>
        <p:nvSpPr>
          <p:cNvPr id="5" name="Shape 3"/>
          <p:cNvSpPr/>
          <p:nvPr/>
        </p:nvSpPr>
        <p:spPr>
          <a:xfrm>
            <a:off x="548640" y="4069080"/>
            <a:ext cx="4206240" cy="685800"/>
          </a:xfrm>
          <a:prstGeom prst="roundRect">
            <a:avLst>
              <a:gd name="adj" fmla="val 8000"/>
            </a:avLst>
          </a:prstGeom>
          <a:solidFill>
            <a:schemeClr val="tx2"/>
          </a:solidFill>
          <a:ln/>
        </p:spPr>
      </p:sp>
      <p:sp>
        <p:nvSpPr>
          <p:cNvPr id="6" name="Text 4"/>
          <p:cNvSpPr txBox="1"/>
          <p:nvPr/>
        </p:nvSpPr>
        <p:spPr>
          <a:xfrm>
            <a:off x="548640" y="4069080"/>
            <a:ext cx="4206240" cy="685800"/>
          </a:xfrm>
          <a:prstGeom prst="rect">
            <a:avLst/>
          </a:prstGeom>
          <a:noFill/>
          <a:ln/>
        </p:spPr>
        <p:txBody>
          <a:bodyPr wrap="square" lIns="0" tIns="0" rIns="0" bIns="0" rtlCol="0" anchor="ctr"/>
          <a:lstStyle/>
          <a:p>
            <a:pPr algn="ctr" indent="0" marL="0">
              <a:buNone/>
            </a:pPr>
            <a:r>
              <a:rPr lang="en-US" sz="1500" b="1" dirty="0">
                <a:solidFill>
                  <a:schemeClr val="bg1"/>
                </a:solidFill>
              </a:rPr>
              <a:t>Operating system</a:t>
            </a:r>
            <a:endParaRPr lang="en-US" sz="1500" dirty="0"/>
          </a:p>
        </p:txBody>
      </p:sp>
      <p:sp>
        <p:nvSpPr>
          <p:cNvPr id="7" name="Shape 5"/>
          <p:cNvSpPr/>
          <p:nvPr/>
        </p:nvSpPr>
        <p:spPr>
          <a:xfrm>
            <a:off x="548640" y="2834640"/>
            <a:ext cx="4206240" cy="1143000"/>
          </a:xfrm>
          <a:prstGeom prst="roundRect">
            <a:avLst>
              <a:gd name="adj" fmla="val 4800"/>
            </a:avLst>
          </a:prstGeom>
          <a:solidFill>
            <a:schemeClr val="accent1"/>
          </a:solidFill>
          <a:ln/>
        </p:spPr>
      </p:sp>
      <p:sp>
        <p:nvSpPr>
          <p:cNvPr id="8" name="Text 6"/>
          <p:cNvSpPr txBox="1"/>
          <p:nvPr/>
        </p:nvSpPr>
        <p:spPr>
          <a:xfrm>
            <a:off x="548640" y="2834640"/>
            <a:ext cx="4206240" cy="1143000"/>
          </a:xfrm>
          <a:prstGeom prst="rect">
            <a:avLst/>
          </a:prstGeom>
          <a:noFill/>
          <a:ln/>
        </p:spPr>
        <p:txBody>
          <a:bodyPr wrap="square" lIns="0" tIns="0" rIns="0" bIns="0" rtlCol="0" anchor="ctr"/>
          <a:lstStyle/>
          <a:p>
            <a:pPr algn="ctr" indent="0" marL="0">
              <a:buNone/>
            </a:pPr>
            <a:r>
              <a:rPr lang="en-US" sz="1500" b="1" dirty="0">
                <a:solidFill>
                  <a:schemeClr val="bg1"/>
                </a:solidFill>
              </a:rPr>
              <a:t>App A   +   App B   +   App C</a:t>
            </a:r>
            <a:endParaRPr lang="en-US" sz="1500" dirty="0"/>
          </a:p>
        </p:txBody>
      </p:sp>
      <p:sp>
        <p:nvSpPr>
          <p:cNvPr id="9" name="Text 7"/>
          <p:cNvSpPr txBox="1"/>
          <p:nvPr/>
        </p:nvSpPr>
        <p:spPr>
          <a:xfrm>
            <a:off x="548640" y="5669280"/>
            <a:ext cx="4206240" cy="457200"/>
          </a:xfrm>
          <a:prstGeom prst="rect">
            <a:avLst/>
          </a:prstGeom>
          <a:noFill/>
          <a:ln/>
        </p:spPr>
        <p:txBody>
          <a:bodyPr wrap="square" lIns="0" tIns="0" rIns="0" bIns="0" rtlCol="0" anchor="t"/>
          <a:lstStyle/>
          <a:p>
            <a:pPr algn="ctr" indent="0" marL="0">
              <a:buNone/>
            </a:pPr>
            <a:r>
              <a:rPr lang="en-US" sz="1400" dirty="0">
                <a:solidFill>
                  <a:schemeClr val="accent6"/>
                </a:solidFill>
              </a:rPr>
              <a:t>All apps share one OS and one set of libraries</a:t>
            </a:r>
            <a:endParaRPr lang="en-US" sz="1400" dirty="0"/>
          </a:p>
        </p:txBody>
      </p:sp>
      <p:sp>
        <p:nvSpPr>
          <p:cNvPr id="10" name="Shape 8"/>
          <p:cNvSpPr/>
          <p:nvPr/>
        </p:nvSpPr>
        <p:spPr>
          <a:xfrm>
            <a:off x="5394960" y="1554480"/>
            <a:ext cx="731520" cy="731520"/>
          </a:xfrm>
          <a:prstGeom prst="ellipse">
            <a:avLst/>
          </a:prstGeom>
          <a:solidFill>
            <a:schemeClr val="accent4"/>
          </a:solidFill>
          <a:ln/>
        </p:spPr>
      </p:sp>
      <p:pic>
        <p:nvPicPr>
          <p:cNvPr id="11" name="Image 0" descr="preencoded.png">    </p:cNvPr>
          <p:cNvPicPr>
            <a:picLocks noChangeAspect="1"/>
          </p:cNvPicPr>
          <p:nvPr/>
        </p:nvPicPr>
        <p:blipFill>
          <a:blip r:embed="rId1"/>
          <a:stretch>
            <a:fillRect/>
          </a:stretch>
        </p:blipFill>
        <p:spPr>
          <a:xfrm>
            <a:off x="5570525" y="1730045"/>
            <a:ext cx="380390" cy="380390"/>
          </a:xfrm>
          <a:prstGeom prst="rect">
            <a:avLst/>
          </a:prstGeom>
        </p:spPr>
      </p:pic>
      <p:sp>
        <p:nvSpPr>
          <p:cNvPr id="12" name="Text 9"/>
          <p:cNvSpPr txBox="1"/>
          <p:nvPr/>
        </p:nvSpPr>
        <p:spPr>
          <a:xfrm>
            <a:off x="6355080" y="1463040"/>
            <a:ext cx="5212080" cy="457200"/>
          </a:xfrm>
          <a:prstGeom prst="rect">
            <a:avLst/>
          </a:prstGeom>
          <a:noFill/>
          <a:ln/>
        </p:spPr>
        <p:txBody>
          <a:bodyPr wrap="square" lIns="0" tIns="0" rIns="0" bIns="0" rtlCol="0" anchor="t"/>
          <a:lstStyle/>
          <a:p>
            <a:pPr indent="0" marL="0">
              <a:buNone/>
            </a:pPr>
            <a:r>
              <a:rPr lang="en-US" sz="2100" b="1" dirty="0">
                <a:solidFill>
                  <a:schemeClr val="tx1"/>
                </a:solidFill>
              </a:rPr>
              <a:t>Dependency conflicts</a:t>
            </a:r>
            <a:endParaRPr lang="en-US" sz="2100" dirty="0"/>
          </a:p>
        </p:txBody>
      </p:sp>
      <p:sp>
        <p:nvSpPr>
          <p:cNvPr id="13" name="Text 10"/>
          <p:cNvSpPr txBox="1"/>
          <p:nvPr/>
        </p:nvSpPr>
        <p:spPr>
          <a:xfrm>
            <a:off x="6355080" y="1920240"/>
            <a:ext cx="5212080" cy="822960"/>
          </a:xfrm>
          <a:prstGeom prst="rect">
            <a:avLst/>
          </a:prstGeom>
          <a:noFill/>
          <a:ln/>
        </p:spPr>
        <p:txBody>
          <a:bodyPr wrap="square" lIns="0" tIns="0" rIns="0" bIns="0" rtlCol="0" anchor="t"/>
          <a:lstStyle/>
          <a:p>
            <a:pPr indent="0" marL="0">
              <a:buNone/>
            </a:pPr>
            <a:r>
              <a:rPr lang="en-US" sz="1600" dirty="0">
                <a:solidFill>
                  <a:schemeClr val="tx2"/>
                </a:solidFill>
              </a:rPr>
              <a:t>App A needs library v1, App B needs v2. Only one can be installed.</a:t>
            </a:r>
            <a:endParaRPr lang="en-US" sz="1600" dirty="0"/>
          </a:p>
        </p:txBody>
      </p:sp>
      <p:sp>
        <p:nvSpPr>
          <p:cNvPr id="14" name="Shape 11"/>
          <p:cNvSpPr/>
          <p:nvPr/>
        </p:nvSpPr>
        <p:spPr>
          <a:xfrm>
            <a:off x="5394960" y="3063240"/>
            <a:ext cx="731520" cy="731520"/>
          </a:xfrm>
          <a:prstGeom prst="ellipse">
            <a:avLst/>
          </a:prstGeom>
          <a:solidFill>
            <a:schemeClr val="accent2"/>
          </a:solidFill>
          <a:ln/>
        </p:spPr>
      </p:sp>
      <p:pic>
        <p:nvPicPr>
          <p:cNvPr id="15" name="Image 1" descr="preencoded.png">    </p:cNvPr>
          <p:cNvPicPr>
            <a:picLocks noChangeAspect="1"/>
          </p:cNvPicPr>
          <p:nvPr/>
        </p:nvPicPr>
        <p:blipFill>
          <a:blip r:embed="rId2"/>
          <a:stretch>
            <a:fillRect/>
          </a:stretch>
        </p:blipFill>
        <p:spPr>
          <a:xfrm>
            <a:off x="5570525" y="3238805"/>
            <a:ext cx="380390" cy="380390"/>
          </a:xfrm>
          <a:prstGeom prst="rect">
            <a:avLst/>
          </a:prstGeom>
        </p:spPr>
      </p:pic>
      <p:sp>
        <p:nvSpPr>
          <p:cNvPr id="16" name="Text 12"/>
          <p:cNvSpPr txBox="1"/>
          <p:nvPr/>
        </p:nvSpPr>
        <p:spPr>
          <a:xfrm>
            <a:off x="6355080" y="2971800"/>
            <a:ext cx="5212080" cy="457200"/>
          </a:xfrm>
          <a:prstGeom prst="rect">
            <a:avLst/>
          </a:prstGeom>
          <a:noFill/>
          <a:ln/>
        </p:spPr>
        <p:txBody>
          <a:bodyPr wrap="square" lIns="0" tIns="0" rIns="0" bIns="0" rtlCol="0" anchor="t"/>
          <a:lstStyle/>
          <a:p>
            <a:pPr indent="0" marL="0">
              <a:buNone/>
            </a:pPr>
            <a:r>
              <a:rPr lang="en-US" sz="2100" b="1" dirty="0">
                <a:solidFill>
                  <a:schemeClr val="tx1"/>
                </a:solidFill>
              </a:rPr>
              <a:t>Wasted capacity</a:t>
            </a:r>
            <a:endParaRPr lang="en-US" sz="2100" dirty="0"/>
          </a:p>
        </p:txBody>
      </p:sp>
      <p:sp>
        <p:nvSpPr>
          <p:cNvPr id="17" name="Text 13"/>
          <p:cNvSpPr txBox="1"/>
          <p:nvPr/>
        </p:nvSpPr>
        <p:spPr>
          <a:xfrm>
            <a:off x="6355080" y="3429000"/>
            <a:ext cx="5212080" cy="822960"/>
          </a:xfrm>
          <a:prstGeom prst="rect">
            <a:avLst/>
          </a:prstGeom>
          <a:noFill/>
          <a:ln/>
        </p:spPr>
        <p:txBody>
          <a:bodyPr wrap="square" lIns="0" tIns="0" rIns="0" bIns="0" rtlCol="0" anchor="t"/>
          <a:lstStyle/>
          <a:p>
            <a:pPr indent="0" marL="0">
              <a:buNone/>
            </a:pPr>
            <a:r>
              <a:rPr lang="en-US" sz="1600" dirty="0">
                <a:solidFill>
                  <a:schemeClr val="tx2"/>
                </a:solidFill>
              </a:rPr>
              <a:t>To avoid conflicts, teams ran one app per server — most servers sat mostly idle.</a:t>
            </a:r>
            <a:endParaRPr lang="en-US" sz="1600" dirty="0"/>
          </a:p>
        </p:txBody>
      </p:sp>
      <p:sp>
        <p:nvSpPr>
          <p:cNvPr id="18" name="Shape 14"/>
          <p:cNvSpPr/>
          <p:nvPr/>
        </p:nvSpPr>
        <p:spPr>
          <a:xfrm>
            <a:off x="5394960" y="4572000"/>
            <a:ext cx="731520" cy="731520"/>
          </a:xfrm>
          <a:prstGeom prst="ellipse">
            <a:avLst/>
          </a:prstGeom>
          <a:solidFill>
            <a:schemeClr val="accent5"/>
          </a:solidFill>
          <a:ln/>
        </p:spPr>
      </p:sp>
      <p:pic>
        <p:nvPicPr>
          <p:cNvPr id="19" name="Image 2" descr="preencoded.png">    </p:cNvPr>
          <p:cNvPicPr>
            <a:picLocks noChangeAspect="1"/>
          </p:cNvPicPr>
          <p:nvPr/>
        </p:nvPicPr>
        <p:blipFill>
          <a:blip r:embed="rId3"/>
          <a:stretch>
            <a:fillRect/>
          </a:stretch>
        </p:blipFill>
        <p:spPr>
          <a:xfrm>
            <a:off x="5570525" y="4747565"/>
            <a:ext cx="380390" cy="380390"/>
          </a:xfrm>
          <a:prstGeom prst="rect">
            <a:avLst/>
          </a:prstGeom>
        </p:spPr>
      </p:pic>
      <p:sp>
        <p:nvSpPr>
          <p:cNvPr id="20" name="Text 15"/>
          <p:cNvSpPr txBox="1"/>
          <p:nvPr/>
        </p:nvSpPr>
        <p:spPr>
          <a:xfrm>
            <a:off x="6355080" y="4480560"/>
            <a:ext cx="5212080" cy="457200"/>
          </a:xfrm>
          <a:prstGeom prst="rect">
            <a:avLst/>
          </a:prstGeom>
          <a:noFill/>
          <a:ln/>
        </p:spPr>
        <p:txBody>
          <a:bodyPr wrap="square" lIns="0" tIns="0" rIns="0" bIns="0" rtlCol="0" anchor="t"/>
          <a:lstStyle/>
          <a:p>
            <a:pPr indent="0" marL="0">
              <a:buNone/>
            </a:pPr>
            <a:r>
              <a:rPr lang="en-US" sz="2100" b="1" dirty="0">
                <a:solidFill>
                  <a:schemeClr val="tx1"/>
                </a:solidFill>
              </a:rPr>
              <a:t>Slow to provision</a:t>
            </a:r>
            <a:endParaRPr lang="en-US" sz="2100" dirty="0"/>
          </a:p>
        </p:txBody>
      </p:sp>
      <p:sp>
        <p:nvSpPr>
          <p:cNvPr id="21" name="Text 16"/>
          <p:cNvSpPr txBox="1"/>
          <p:nvPr/>
        </p:nvSpPr>
        <p:spPr>
          <a:xfrm>
            <a:off x="6355080" y="4937760"/>
            <a:ext cx="5212080" cy="822960"/>
          </a:xfrm>
          <a:prstGeom prst="rect">
            <a:avLst/>
          </a:prstGeom>
          <a:noFill/>
          <a:ln/>
        </p:spPr>
        <p:txBody>
          <a:bodyPr wrap="square" lIns="0" tIns="0" rIns="0" bIns="0" rtlCol="0" anchor="t"/>
          <a:lstStyle/>
          <a:p>
            <a:pPr indent="0" marL="0">
              <a:buNone/>
            </a:pPr>
            <a:r>
              <a:rPr lang="en-US" sz="1600" dirty="0">
                <a:solidFill>
                  <a:schemeClr val="tx2"/>
                </a:solidFill>
              </a:rPr>
              <a:t>A new server meant buying, racking and installing hardware: weeks, not seconds.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Fix #1: Virtual machines</a:t>
            </a:r>
            <a:endParaRPr lang="en-US" sz="3400" dirty="0"/>
          </a:p>
        </p:txBody>
      </p:sp>
      <p:sp>
        <p:nvSpPr>
          <p:cNvPr id="3" name="Shape 1"/>
          <p:cNvSpPr/>
          <p:nvPr/>
        </p:nvSpPr>
        <p:spPr>
          <a:xfrm>
            <a:off x="548640" y="5349240"/>
            <a:ext cx="5760720" cy="548640"/>
          </a:xfrm>
          <a:prstGeom prst="roundRect">
            <a:avLst>
              <a:gd name="adj" fmla="val 10000"/>
            </a:avLst>
          </a:prstGeom>
          <a:solidFill>
            <a:schemeClr val="accent6"/>
          </a:solidFill>
          <a:ln/>
        </p:spPr>
      </p:sp>
      <p:sp>
        <p:nvSpPr>
          <p:cNvPr id="4" name="Text 2"/>
          <p:cNvSpPr txBox="1"/>
          <p:nvPr/>
        </p:nvSpPr>
        <p:spPr>
          <a:xfrm>
            <a:off x="548640" y="5349240"/>
            <a:ext cx="5760720" cy="548640"/>
          </a:xfrm>
          <a:prstGeom prst="rect">
            <a:avLst/>
          </a:prstGeom>
          <a:noFill/>
          <a:ln/>
        </p:spPr>
        <p:txBody>
          <a:bodyPr wrap="square" lIns="0" tIns="0" rIns="0" bIns="0" rtlCol="0" anchor="ctr"/>
          <a:lstStyle/>
          <a:p>
            <a:pPr algn="ctr" indent="0" marL="0">
              <a:buNone/>
            </a:pPr>
            <a:r>
              <a:rPr lang="en-US" sz="1500" b="1" dirty="0">
                <a:solidFill>
                  <a:schemeClr val="bg1"/>
                </a:solidFill>
              </a:rPr>
              <a:t>Hardware</a:t>
            </a:r>
            <a:endParaRPr lang="en-US" sz="1500" dirty="0"/>
          </a:p>
        </p:txBody>
      </p:sp>
      <p:sp>
        <p:nvSpPr>
          <p:cNvPr id="5" name="Shape 3"/>
          <p:cNvSpPr/>
          <p:nvPr/>
        </p:nvSpPr>
        <p:spPr>
          <a:xfrm>
            <a:off x="548640" y="4709160"/>
            <a:ext cx="5760720" cy="548640"/>
          </a:xfrm>
          <a:prstGeom prst="roundRect">
            <a:avLst>
              <a:gd name="adj" fmla="val 10000"/>
            </a:avLst>
          </a:prstGeom>
          <a:solidFill>
            <a:schemeClr val="tx2"/>
          </a:solidFill>
          <a:ln/>
        </p:spPr>
      </p:sp>
      <p:sp>
        <p:nvSpPr>
          <p:cNvPr id="6" name="Text 4"/>
          <p:cNvSpPr txBox="1"/>
          <p:nvPr/>
        </p:nvSpPr>
        <p:spPr>
          <a:xfrm>
            <a:off x="548640" y="4709160"/>
            <a:ext cx="5760720" cy="548640"/>
          </a:xfrm>
          <a:prstGeom prst="rect">
            <a:avLst/>
          </a:prstGeom>
          <a:noFill/>
          <a:ln/>
        </p:spPr>
        <p:txBody>
          <a:bodyPr wrap="square" lIns="0" tIns="0" rIns="0" bIns="0" rtlCol="0" anchor="ctr"/>
          <a:lstStyle/>
          <a:p>
            <a:pPr algn="ctr" indent="0" marL="0">
              <a:buNone/>
            </a:pPr>
            <a:r>
              <a:rPr lang="en-US" sz="1500" b="1" dirty="0">
                <a:solidFill>
                  <a:schemeClr val="bg1"/>
                </a:solidFill>
              </a:rPr>
              <a:t>Host OS</a:t>
            </a:r>
            <a:endParaRPr lang="en-US" sz="1500" dirty="0"/>
          </a:p>
        </p:txBody>
      </p:sp>
      <p:sp>
        <p:nvSpPr>
          <p:cNvPr id="7" name="Shape 5"/>
          <p:cNvSpPr/>
          <p:nvPr/>
        </p:nvSpPr>
        <p:spPr>
          <a:xfrm>
            <a:off x="548640" y="4069080"/>
            <a:ext cx="5760720" cy="548640"/>
          </a:xfrm>
          <a:prstGeom prst="roundRect">
            <a:avLst>
              <a:gd name="adj" fmla="val 10000"/>
            </a:avLst>
          </a:prstGeom>
          <a:solidFill>
            <a:schemeClr val="accent5"/>
          </a:solidFill>
          <a:ln/>
        </p:spPr>
      </p:sp>
      <p:sp>
        <p:nvSpPr>
          <p:cNvPr id="8" name="Text 6"/>
          <p:cNvSpPr txBox="1"/>
          <p:nvPr/>
        </p:nvSpPr>
        <p:spPr>
          <a:xfrm>
            <a:off x="548640" y="4069080"/>
            <a:ext cx="5760720" cy="548640"/>
          </a:xfrm>
          <a:prstGeom prst="rect">
            <a:avLst/>
          </a:prstGeom>
          <a:noFill/>
          <a:ln/>
        </p:spPr>
        <p:txBody>
          <a:bodyPr wrap="square" lIns="0" tIns="0" rIns="0" bIns="0" rtlCol="0" anchor="ctr"/>
          <a:lstStyle/>
          <a:p>
            <a:pPr algn="ctr" indent="0" marL="0">
              <a:buNone/>
            </a:pPr>
            <a:r>
              <a:rPr lang="en-US" sz="1500" b="1" dirty="0">
                <a:solidFill>
                  <a:schemeClr val="bg1"/>
                </a:solidFill>
              </a:rPr>
              <a:t>Hypervisor</a:t>
            </a:r>
            <a:endParaRPr lang="en-US" sz="1500" dirty="0"/>
          </a:p>
        </p:txBody>
      </p:sp>
      <p:sp>
        <p:nvSpPr>
          <p:cNvPr id="9" name="Shape 7"/>
          <p:cNvSpPr/>
          <p:nvPr/>
        </p:nvSpPr>
        <p:spPr>
          <a:xfrm>
            <a:off x="548640" y="3246120"/>
            <a:ext cx="1828800" cy="731520"/>
          </a:xfrm>
          <a:prstGeom prst="roundRect">
            <a:avLst>
              <a:gd name="adj" fmla="val 7500"/>
            </a:avLst>
          </a:prstGeom>
          <a:solidFill>
            <a:schemeClr val="accent4"/>
          </a:solidFill>
          <a:ln/>
        </p:spPr>
      </p:sp>
      <p:sp>
        <p:nvSpPr>
          <p:cNvPr id="10" name="Text 8"/>
          <p:cNvSpPr txBox="1"/>
          <p:nvPr/>
        </p:nvSpPr>
        <p:spPr>
          <a:xfrm>
            <a:off x="548640" y="3246120"/>
            <a:ext cx="1828800" cy="731520"/>
          </a:xfrm>
          <a:prstGeom prst="rect">
            <a:avLst/>
          </a:prstGeom>
          <a:noFill/>
          <a:ln/>
        </p:spPr>
        <p:txBody>
          <a:bodyPr wrap="square" lIns="0" tIns="0" rIns="0" bIns="0" rtlCol="0" anchor="ctr"/>
          <a:lstStyle/>
          <a:p>
            <a:pPr algn="ctr" indent="0" marL="0">
              <a:buNone/>
            </a:pPr>
            <a:r>
              <a:rPr lang="en-US" sz="1500" b="1" dirty="0">
                <a:solidFill>
                  <a:schemeClr val="bg1"/>
                </a:solidFill>
              </a:rPr>
              <a:t>Guest OS</a:t>
            </a:r>
            <a:endParaRPr lang="en-US" sz="1500" dirty="0"/>
          </a:p>
        </p:txBody>
      </p:sp>
      <p:sp>
        <p:nvSpPr>
          <p:cNvPr id="11" name="Shape 9"/>
          <p:cNvSpPr/>
          <p:nvPr/>
        </p:nvSpPr>
        <p:spPr>
          <a:xfrm>
            <a:off x="548640" y="2606040"/>
            <a:ext cx="1828800" cy="548640"/>
          </a:xfrm>
          <a:prstGeom prst="roundRect">
            <a:avLst>
              <a:gd name="adj" fmla="val 10000"/>
            </a:avLst>
          </a:prstGeom>
          <a:solidFill>
            <a:schemeClr val="bg2"/>
          </a:solidFill>
          <a:ln/>
        </p:spPr>
      </p:sp>
      <p:sp>
        <p:nvSpPr>
          <p:cNvPr id="12" name="Text 10"/>
          <p:cNvSpPr txBox="1"/>
          <p:nvPr/>
        </p:nvSpPr>
        <p:spPr>
          <a:xfrm>
            <a:off x="548640" y="2606040"/>
            <a:ext cx="1828800" cy="548640"/>
          </a:xfrm>
          <a:prstGeom prst="rect">
            <a:avLst/>
          </a:prstGeom>
          <a:noFill/>
          <a:ln/>
        </p:spPr>
        <p:txBody>
          <a:bodyPr wrap="square" lIns="0" tIns="0" rIns="0" bIns="0" rtlCol="0" anchor="ctr"/>
          <a:lstStyle/>
          <a:p>
            <a:pPr algn="ctr" indent="0" marL="0">
              <a:buNone/>
            </a:pPr>
            <a:r>
              <a:rPr lang="en-US" sz="1500" b="1" dirty="0">
                <a:solidFill>
                  <a:schemeClr val="tx1"/>
                </a:solidFill>
              </a:rPr>
              <a:t>Libs</a:t>
            </a:r>
            <a:endParaRPr lang="en-US" sz="1500" dirty="0"/>
          </a:p>
        </p:txBody>
      </p:sp>
      <p:sp>
        <p:nvSpPr>
          <p:cNvPr id="13" name="Shape 11"/>
          <p:cNvSpPr/>
          <p:nvPr/>
        </p:nvSpPr>
        <p:spPr>
          <a:xfrm>
            <a:off x="548640" y="1874520"/>
            <a:ext cx="1828800" cy="640080"/>
          </a:xfrm>
          <a:prstGeom prst="roundRect">
            <a:avLst>
              <a:gd name="adj" fmla="val 8571"/>
            </a:avLst>
          </a:prstGeom>
          <a:solidFill>
            <a:schemeClr val="accent1"/>
          </a:solidFill>
          <a:ln/>
        </p:spPr>
      </p:sp>
      <p:sp>
        <p:nvSpPr>
          <p:cNvPr id="14" name="Text 12"/>
          <p:cNvSpPr txBox="1"/>
          <p:nvPr/>
        </p:nvSpPr>
        <p:spPr>
          <a:xfrm>
            <a:off x="548640" y="1874520"/>
            <a:ext cx="1828800" cy="640080"/>
          </a:xfrm>
          <a:prstGeom prst="rect">
            <a:avLst/>
          </a:prstGeom>
          <a:noFill/>
          <a:ln/>
        </p:spPr>
        <p:txBody>
          <a:bodyPr wrap="square" lIns="0" tIns="0" rIns="0" bIns="0" rtlCol="0" anchor="ctr"/>
          <a:lstStyle/>
          <a:p>
            <a:pPr algn="ctr" indent="0" marL="0">
              <a:buNone/>
            </a:pPr>
            <a:r>
              <a:rPr lang="en-US" sz="1600" b="1" dirty="0">
                <a:solidFill>
                  <a:schemeClr val="bg1"/>
                </a:solidFill>
              </a:rPr>
              <a:t>App A</a:t>
            </a:r>
            <a:endParaRPr lang="en-US" sz="1600" dirty="0"/>
          </a:p>
        </p:txBody>
      </p:sp>
      <p:sp>
        <p:nvSpPr>
          <p:cNvPr id="15" name="Shape 13"/>
          <p:cNvSpPr/>
          <p:nvPr/>
        </p:nvSpPr>
        <p:spPr>
          <a:xfrm>
            <a:off x="2514600" y="3246120"/>
            <a:ext cx="1828800" cy="731520"/>
          </a:xfrm>
          <a:prstGeom prst="roundRect">
            <a:avLst>
              <a:gd name="adj" fmla="val 7500"/>
            </a:avLst>
          </a:prstGeom>
          <a:solidFill>
            <a:schemeClr val="accent4"/>
          </a:solidFill>
          <a:ln/>
        </p:spPr>
      </p:sp>
      <p:sp>
        <p:nvSpPr>
          <p:cNvPr id="16" name="Text 14"/>
          <p:cNvSpPr txBox="1"/>
          <p:nvPr/>
        </p:nvSpPr>
        <p:spPr>
          <a:xfrm>
            <a:off x="2514600" y="3246120"/>
            <a:ext cx="1828800" cy="731520"/>
          </a:xfrm>
          <a:prstGeom prst="rect">
            <a:avLst/>
          </a:prstGeom>
          <a:noFill/>
          <a:ln/>
        </p:spPr>
        <p:txBody>
          <a:bodyPr wrap="square" lIns="0" tIns="0" rIns="0" bIns="0" rtlCol="0" anchor="ctr"/>
          <a:lstStyle/>
          <a:p>
            <a:pPr algn="ctr" indent="0" marL="0">
              <a:buNone/>
            </a:pPr>
            <a:r>
              <a:rPr lang="en-US" sz="1500" b="1" dirty="0">
                <a:solidFill>
                  <a:schemeClr val="bg1"/>
                </a:solidFill>
              </a:rPr>
              <a:t>Guest OS</a:t>
            </a:r>
            <a:endParaRPr lang="en-US" sz="1500" dirty="0"/>
          </a:p>
        </p:txBody>
      </p:sp>
      <p:sp>
        <p:nvSpPr>
          <p:cNvPr id="17" name="Shape 15"/>
          <p:cNvSpPr/>
          <p:nvPr/>
        </p:nvSpPr>
        <p:spPr>
          <a:xfrm>
            <a:off x="2514600" y="2606040"/>
            <a:ext cx="1828800" cy="548640"/>
          </a:xfrm>
          <a:prstGeom prst="roundRect">
            <a:avLst>
              <a:gd name="adj" fmla="val 10000"/>
            </a:avLst>
          </a:prstGeom>
          <a:solidFill>
            <a:schemeClr val="bg2"/>
          </a:solidFill>
          <a:ln/>
        </p:spPr>
      </p:sp>
      <p:sp>
        <p:nvSpPr>
          <p:cNvPr id="18" name="Text 16"/>
          <p:cNvSpPr txBox="1"/>
          <p:nvPr/>
        </p:nvSpPr>
        <p:spPr>
          <a:xfrm>
            <a:off x="2514600" y="2606040"/>
            <a:ext cx="1828800" cy="548640"/>
          </a:xfrm>
          <a:prstGeom prst="rect">
            <a:avLst/>
          </a:prstGeom>
          <a:noFill/>
          <a:ln/>
        </p:spPr>
        <p:txBody>
          <a:bodyPr wrap="square" lIns="0" tIns="0" rIns="0" bIns="0" rtlCol="0" anchor="ctr"/>
          <a:lstStyle/>
          <a:p>
            <a:pPr algn="ctr" indent="0" marL="0">
              <a:buNone/>
            </a:pPr>
            <a:r>
              <a:rPr lang="en-US" sz="1500" b="1" dirty="0">
                <a:solidFill>
                  <a:schemeClr val="tx1"/>
                </a:solidFill>
              </a:rPr>
              <a:t>Libs</a:t>
            </a:r>
            <a:endParaRPr lang="en-US" sz="1500" dirty="0"/>
          </a:p>
        </p:txBody>
      </p:sp>
      <p:sp>
        <p:nvSpPr>
          <p:cNvPr id="19" name="Shape 17"/>
          <p:cNvSpPr/>
          <p:nvPr/>
        </p:nvSpPr>
        <p:spPr>
          <a:xfrm>
            <a:off x="2514600" y="1874520"/>
            <a:ext cx="1828800" cy="640080"/>
          </a:xfrm>
          <a:prstGeom prst="roundRect">
            <a:avLst>
              <a:gd name="adj" fmla="val 8571"/>
            </a:avLst>
          </a:prstGeom>
          <a:solidFill>
            <a:schemeClr val="accent1"/>
          </a:solidFill>
          <a:ln/>
        </p:spPr>
      </p:sp>
      <p:sp>
        <p:nvSpPr>
          <p:cNvPr id="20" name="Text 18"/>
          <p:cNvSpPr txBox="1"/>
          <p:nvPr/>
        </p:nvSpPr>
        <p:spPr>
          <a:xfrm>
            <a:off x="2514600" y="1874520"/>
            <a:ext cx="1828800" cy="640080"/>
          </a:xfrm>
          <a:prstGeom prst="rect">
            <a:avLst/>
          </a:prstGeom>
          <a:noFill/>
          <a:ln/>
        </p:spPr>
        <p:txBody>
          <a:bodyPr wrap="square" lIns="0" tIns="0" rIns="0" bIns="0" rtlCol="0" anchor="ctr"/>
          <a:lstStyle/>
          <a:p>
            <a:pPr algn="ctr" indent="0" marL="0">
              <a:buNone/>
            </a:pPr>
            <a:r>
              <a:rPr lang="en-US" sz="1600" b="1" dirty="0">
                <a:solidFill>
                  <a:schemeClr val="bg1"/>
                </a:solidFill>
              </a:rPr>
              <a:t>App B</a:t>
            </a:r>
            <a:endParaRPr lang="en-US" sz="1600" dirty="0"/>
          </a:p>
        </p:txBody>
      </p:sp>
      <p:sp>
        <p:nvSpPr>
          <p:cNvPr id="21" name="Shape 19"/>
          <p:cNvSpPr/>
          <p:nvPr/>
        </p:nvSpPr>
        <p:spPr>
          <a:xfrm>
            <a:off x="4480560" y="3246120"/>
            <a:ext cx="1828800" cy="731520"/>
          </a:xfrm>
          <a:prstGeom prst="roundRect">
            <a:avLst>
              <a:gd name="adj" fmla="val 7500"/>
            </a:avLst>
          </a:prstGeom>
          <a:solidFill>
            <a:schemeClr val="accent4"/>
          </a:solidFill>
          <a:ln/>
        </p:spPr>
      </p:sp>
      <p:sp>
        <p:nvSpPr>
          <p:cNvPr id="22" name="Text 20"/>
          <p:cNvSpPr txBox="1"/>
          <p:nvPr/>
        </p:nvSpPr>
        <p:spPr>
          <a:xfrm>
            <a:off x="4480560" y="3246120"/>
            <a:ext cx="1828800" cy="731520"/>
          </a:xfrm>
          <a:prstGeom prst="rect">
            <a:avLst/>
          </a:prstGeom>
          <a:noFill/>
          <a:ln/>
        </p:spPr>
        <p:txBody>
          <a:bodyPr wrap="square" lIns="0" tIns="0" rIns="0" bIns="0" rtlCol="0" anchor="ctr"/>
          <a:lstStyle/>
          <a:p>
            <a:pPr algn="ctr" indent="0" marL="0">
              <a:buNone/>
            </a:pPr>
            <a:r>
              <a:rPr lang="en-US" sz="1500" b="1" dirty="0">
                <a:solidFill>
                  <a:schemeClr val="bg1"/>
                </a:solidFill>
              </a:rPr>
              <a:t>Guest OS</a:t>
            </a:r>
            <a:endParaRPr lang="en-US" sz="1500" dirty="0"/>
          </a:p>
        </p:txBody>
      </p:sp>
      <p:sp>
        <p:nvSpPr>
          <p:cNvPr id="23" name="Shape 21"/>
          <p:cNvSpPr/>
          <p:nvPr/>
        </p:nvSpPr>
        <p:spPr>
          <a:xfrm>
            <a:off x="4480560" y="2606040"/>
            <a:ext cx="1828800" cy="548640"/>
          </a:xfrm>
          <a:prstGeom prst="roundRect">
            <a:avLst>
              <a:gd name="adj" fmla="val 10000"/>
            </a:avLst>
          </a:prstGeom>
          <a:solidFill>
            <a:schemeClr val="bg2"/>
          </a:solidFill>
          <a:ln/>
        </p:spPr>
      </p:sp>
      <p:sp>
        <p:nvSpPr>
          <p:cNvPr id="24" name="Text 22"/>
          <p:cNvSpPr txBox="1"/>
          <p:nvPr/>
        </p:nvSpPr>
        <p:spPr>
          <a:xfrm>
            <a:off x="4480560" y="2606040"/>
            <a:ext cx="1828800" cy="548640"/>
          </a:xfrm>
          <a:prstGeom prst="rect">
            <a:avLst/>
          </a:prstGeom>
          <a:noFill/>
          <a:ln/>
        </p:spPr>
        <p:txBody>
          <a:bodyPr wrap="square" lIns="0" tIns="0" rIns="0" bIns="0" rtlCol="0" anchor="ctr"/>
          <a:lstStyle/>
          <a:p>
            <a:pPr algn="ctr" indent="0" marL="0">
              <a:buNone/>
            </a:pPr>
            <a:r>
              <a:rPr lang="en-US" sz="1500" b="1" dirty="0">
                <a:solidFill>
                  <a:schemeClr val="tx1"/>
                </a:solidFill>
              </a:rPr>
              <a:t>Libs</a:t>
            </a:r>
            <a:endParaRPr lang="en-US" sz="1500" dirty="0"/>
          </a:p>
        </p:txBody>
      </p:sp>
      <p:sp>
        <p:nvSpPr>
          <p:cNvPr id="25" name="Shape 23"/>
          <p:cNvSpPr/>
          <p:nvPr/>
        </p:nvSpPr>
        <p:spPr>
          <a:xfrm>
            <a:off x="4480560" y="1874520"/>
            <a:ext cx="1828800" cy="640080"/>
          </a:xfrm>
          <a:prstGeom prst="roundRect">
            <a:avLst>
              <a:gd name="adj" fmla="val 8571"/>
            </a:avLst>
          </a:prstGeom>
          <a:solidFill>
            <a:schemeClr val="accent1"/>
          </a:solidFill>
          <a:ln/>
        </p:spPr>
      </p:sp>
      <p:sp>
        <p:nvSpPr>
          <p:cNvPr id="26" name="Text 24"/>
          <p:cNvSpPr txBox="1"/>
          <p:nvPr/>
        </p:nvSpPr>
        <p:spPr>
          <a:xfrm>
            <a:off x="4480560" y="1874520"/>
            <a:ext cx="1828800" cy="640080"/>
          </a:xfrm>
          <a:prstGeom prst="rect">
            <a:avLst/>
          </a:prstGeom>
          <a:noFill/>
          <a:ln/>
        </p:spPr>
        <p:txBody>
          <a:bodyPr wrap="square" lIns="0" tIns="0" rIns="0" bIns="0" rtlCol="0" anchor="ctr"/>
          <a:lstStyle/>
          <a:p>
            <a:pPr algn="ctr" indent="0" marL="0">
              <a:buNone/>
            </a:pPr>
            <a:r>
              <a:rPr lang="en-US" sz="1600" b="1" dirty="0">
                <a:solidFill>
                  <a:schemeClr val="bg1"/>
                </a:solidFill>
              </a:rPr>
              <a:t>App C</a:t>
            </a:r>
            <a:endParaRPr lang="en-US" sz="1600" dirty="0"/>
          </a:p>
        </p:txBody>
      </p:sp>
      <p:sp>
        <p:nvSpPr>
          <p:cNvPr id="27" name="Text 25"/>
          <p:cNvSpPr txBox="1"/>
          <p:nvPr/>
        </p:nvSpPr>
        <p:spPr>
          <a:xfrm>
            <a:off x="548640" y="1371600"/>
            <a:ext cx="5760720" cy="411480"/>
          </a:xfrm>
          <a:prstGeom prst="rect">
            <a:avLst/>
          </a:prstGeom>
          <a:noFill/>
          <a:ln/>
        </p:spPr>
        <p:txBody>
          <a:bodyPr wrap="square" lIns="0" tIns="0" rIns="0" bIns="0" rtlCol="0" anchor="t"/>
          <a:lstStyle/>
          <a:p>
            <a:pPr algn="ctr" indent="0" marL="0">
              <a:buNone/>
            </a:pPr>
            <a:r>
              <a:rPr lang="en-US" sz="1400" b="1" dirty="0">
                <a:solidFill>
                  <a:schemeClr val="accent4"/>
                </a:solidFill>
              </a:rPr>
              <a:t>Each VM carries a full operating system</a:t>
            </a:r>
            <a:endParaRPr lang="en-US" sz="1400" dirty="0"/>
          </a:p>
        </p:txBody>
      </p:sp>
      <p:sp>
        <p:nvSpPr>
          <p:cNvPr id="28" name="Text 26"/>
          <p:cNvSpPr txBox="1"/>
          <p:nvPr/>
        </p:nvSpPr>
        <p:spPr>
          <a:xfrm>
            <a:off x="6858000" y="1463040"/>
            <a:ext cx="4754880" cy="457200"/>
          </a:xfrm>
          <a:prstGeom prst="rect">
            <a:avLst/>
          </a:prstGeom>
          <a:noFill/>
          <a:ln/>
        </p:spPr>
        <p:txBody>
          <a:bodyPr wrap="square" lIns="0" tIns="0" rIns="0" bIns="0" rtlCol="0" anchor="t"/>
          <a:lstStyle/>
          <a:p>
            <a:pPr indent="0" marL="0">
              <a:buNone/>
            </a:pPr>
            <a:r>
              <a:rPr lang="en-US" sz="2200" b="1" dirty="0">
                <a:solidFill>
                  <a:schemeClr val="accent3"/>
                </a:solidFill>
              </a:rPr>
              <a:t>Wins</a:t>
            </a:r>
            <a:endParaRPr lang="en-US" sz="2200" dirty="0"/>
          </a:p>
        </p:txBody>
      </p:sp>
      <p:sp>
        <p:nvSpPr>
          <p:cNvPr id="29" name="Text 27"/>
          <p:cNvSpPr txBox="1"/>
          <p:nvPr/>
        </p:nvSpPr>
        <p:spPr>
          <a:xfrm>
            <a:off x="6858000" y="1965960"/>
            <a:ext cx="4754880" cy="15544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Strong isolation: each VM has its own kernel</a:t>
            </a:r>
            <a:endParaRPr lang="en-US" sz="1700" dirty="0"/>
          </a:p>
          <a:p>
            <a:pPr marL="342900" indent="-342900">
              <a:spcAft>
                <a:spcPts val="600"/>
              </a:spcAft>
              <a:buSzPct val="100000"/>
              <a:buChar char="•"/>
            </a:pPr>
            <a:r>
              <a:rPr lang="en-US" sz="1700" dirty="0">
                <a:solidFill>
                  <a:schemeClr val="tx1"/>
                </a:solidFill>
              </a:rPr>
              <a:t>Run different OSes on one machine</a:t>
            </a:r>
            <a:endParaRPr lang="en-US" sz="1700" dirty="0"/>
          </a:p>
          <a:p>
            <a:pPr marL="342900" indent="-342900">
              <a:spcAft>
                <a:spcPts val="600"/>
              </a:spcAft>
              <a:buSzPct val="100000"/>
              <a:buChar char="•"/>
            </a:pPr>
            <a:r>
              <a:rPr lang="en-US" sz="1700" dirty="0">
                <a:solidFill>
                  <a:schemeClr val="tx1"/>
                </a:solidFill>
              </a:rPr>
              <a:t>Many apps per server, no conflicts</a:t>
            </a:r>
            <a:endParaRPr lang="en-US" sz="1700" dirty="0"/>
          </a:p>
        </p:txBody>
      </p:sp>
      <p:sp>
        <p:nvSpPr>
          <p:cNvPr id="30" name="Text 28"/>
          <p:cNvSpPr txBox="1"/>
          <p:nvPr/>
        </p:nvSpPr>
        <p:spPr>
          <a:xfrm>
            <a:off x="6858000" y="3703320"/>
            <a:ext cx="4754880" cy="457200"/>
          </a:xfrm>
          <a:prstGeom prst="rect">
            <a:avLst/>
          </a:prstGeom>
          <a:noFill/>
          <a:ln/>
        </p:spPr>
        <p:txBody>
          <a:bodyPr wrap="square" lIns="0" tIns="0" rIns="0" bIns="0" rtlCol="0" anchor="t"/>
          <a:lstStyle/>
          <a:p>
            <a:pPr indent="0" marL="0">
              <a:buNone/>
            </a:pPr>
            <a:r>
              <a:rPr lang="en-US" sz="2200" b="1" dirty="0">
                <a:solidFill>
                  <a:schemeClr val="accent4"/>
                </a:solidFill>
              </a:rPr>
              <a:t>Costs</a:t>
            </a:r>
            <a:endParaRPr lang="en-US" sz="2200" dirty="0"/>
          </a:p>
        </p:txBody>
      </p:sp>
      <p:sp>
        <p:nvSpPr>
          <p:cNvPr id="31" name="Text 29"/>
          <p:cNvSpPr txBox="1"/>
          <p:nvPr/>
        </p:nvSpPr>
        <p:spPr>
          <a:xfrm>
            <a:off x="6858000" y="4206240"/>
            <a:ext cx="4754880" cy="15544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Every VM = a whole OS (gigabytes)</a:t>
            </a:r>
            <a:endParaRPr lang="en-US" sz="1700" dirty="0"/>
          </a:p>
          <a:p>
            <a:pPr marL="342900" indent="-342900">
              <a:spcAft>
                <a:spcPts val="600"/>
              </a:spcAft>
              <a:buSzPct val="100000"/>
              <a:buChar char="•"/>
            </a:pPr>
            <a:r>
              <a:rPr lang="en-US" sz="1700" dirty="0">
                <a:solidFill>
                  <a:schemeClr val="tx1"/>
                </a:solidFill>
              </a:rPr>
              <a:t>Boots in minutes, like a real computer</a:t>
            </a:r>
            <a:endParaRPr lang="en-US" sz="1700" dirty="0"/>
          </a:p>
          <a:p>
            <a:pPr marL="342900" indent="-342900">
              <a:spcAft>
                <a:spcPts val="600"/>
              </a:spcAft>
              <a:buSzPct val="100000"/>
              <a:buChar char="•"/>
            </a:pPr>
            <a:r>
              <a:rPr lang="en-US" sz="1700" dirty="0">
                <a:solidFill>
                  <a:schemeClr val="tx1"/>
                </a:solidFill>
              </a:rPr>
              <a:t>RAM and CPU spent running OS copies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Fix #2: Containers</a:t>
            </a:r>
            <a:endParaRPr lang="en-US" sz="3400" dirty="0"/>
          </a:p>
        </p:txBody>
      </p:sp>
      <p:sp>
        <p:nvSpPr>
          <p:cNvPr id="3" name="Shape 1"/>
          <p:cNvSpPr/>
          <p:nvPr/>
        </p:nvSpPr>
        <p:spPr>
          <a:xfrm>
            <a:off x="548640" y="5349240"/>
            <a:ext cx="5760720" cy="548640"/>
          </a:xfrm>
          <a:prstGeom prst="roundRect">
            <a:avLst>
              <a:gd name="adj" fmla="val 10000"/>
            </a:avLst>
          </a:prstGeom>
          <a:solidFill>
            <a:schemeClr val="accent6"/>
          </a:solidFill>
          <a:ln/>
        </p:spPr>
      </p:sp>
      <p:sp>
        <p:nvSpPr>
          <p:cNvPr id="4" name="Text 2"/>
          <p:cNvSpPr txBox="1"/>
          <p:nvPr/>
        </p:nvSpPr>
        <p:spPr>
          <a:xfrm>
            <a:off x="548640" y="5349240"/>
            <a:ext cx="5760720" cy="548640"/>
          </a:xfrm>
          <a:prstGeom prst="rect">
            <a:avLst/>
          </a:prstGeom>
          <a:noFill/>
          <a:ln/>
        </p:spPr>
        <p:txBody>
          <a:bodyPr wrap="square" lIns="0" tIns="0" rIns="0" bIns="0" rtlCol="0" anchor="ctr"/>
          <a:lstStyle/>
          <a:p>
            <a:pPr algn="ctr" indent="0" marL="0">
              <a:buNone/>
            </a:pPr>
            <a:r>
              <a:rPr lang="en-US" sz="1500" b="1" dirty="0">
                <a:solidFill>
                  <a:schemeClr val="bg1"/>
                </a:solidFill>
              </a:rPr>
              <a:t>Hardware</a:t>
            </a:r>
            <a:endParaRPr lang="en-US" sz="1500" dirty="0"/>
          </a:p>
        </p:txBody>
      </p:sp>
      <p:sp>
        <p:nvSpPr>
          <p:cNvPr id="5" name="Shape 3"/>
          <p:cNvSpPr/>
          <p:nvPr/>
        </p:nvSpPr>
        <p:spPr>
          <a:xfrm>
            <a:off x="548640" y="4709160"/>
            <a:ext cx="5760720" cy="548640"/>
          </a:xfrm>
          <a:prstGeom prst="roundRect">
            <a:avLst>
              <a:gd name="adj" fmla="val 10000"/>
            </a:avLst>
          </a:prstGeom>
          <a:solidFill>
            <a:schemeClr val="tx2"/>
          </a:solidFill>
          <a:ln/>
        </p:spPr>
      </p:sp>
      <p:sp>
        <p:nvSpPr>
          <p:cNvPr id="6" name="Text 4"/>
          <p:cNvSpPr txBox="1"/>
          <p:nvPr/>
        </p:nvSpPr>
        <p:spPr>
          <a:xfrm>
            <a:off x="548640" y="4709160"/>
            <a:ext cx="5760720" cy="548640"/>
          </a:xfrm>
          <a:prstGeom prst="rect">
            <a:avLst/>
          </a:prstGeom>
          <a:noFill/>
          <a:ln/>
        </p:spPr>
        <p:txBody>
          <a:bodyPr wrap="square" lIns="0" tIns="0" rIns="0" bIns="0" rtlCol="0" anchor="ctr"/>
          <a:lstStyle/>
          <a:p>
            <a:pPr algn="ctr" indent="0" marL="0">
              <a:buNone/>
            </a:pPr>
            <a:r>
              <a:rPr lang="en-US" sz="1500" b="1" dirty="0">
                <a:solidFill>
                  <a:schemeClr val="bg1"/>
                </a:solidFill>
              </a:rPr>
              <a:t>Host OS  (one shared Linux kernel)</a:t>
            </a:r>
            <a:endParaRPr lang="en-US" sz="1500" dirty="0"/>
          </a:p>
        </p:txBody>
      </p:sp>
      <p:sp>
        <p:nvSpPr>
          <p:cNvPr id="7" name="Shape 5"/>
          <p:cNvSpPr/>
          <p:nvPr/>
        </p:nvSpPr>
        <p:spPr>
          <a:xfrm>
            <a:off x="548640" y="4069080"/>
            <a:ext cx="5760720" cy="548640"/>
          </a:xfrm>
          <a:prstGeom prst="roundRect">
            <a:avLst>
              <a:gd name="adj" fmla="val 10000"/>
            </a:avLst>
          </a:prstGeom>
          <a:solidFill>
            <a:schemeClr val="accent1"/>
          </a:solidFill>
          <a:ln/>
        </p:spPr>
      </p:sp>
      <p:sp>
        <p:nvSpPr>
          <p:cNvPr id="8" name="Text 6"/>
          <p:cNvSpPr txBox="1"/>
          <p:nvPr/>
        </p:nvSpPr>
        <p:spPr>
          <a:xfrm>
            <a:off x="548640" y="4069080"/>
            <a:ext cx="5760720" cy="548640"/>
          </a:xfrm>
          <a:prstGeom prst="rect">
            <a:avLst/>
          </a:prstGeom>
          <a:noFill/>
          <a:ln/>
        </p:spPr>
        <p:txBody>
          <a:bodyPr wrap="square" lIns="0" tIns="0" rIns="0" bIns="0" rtlCol="0" anchor="ctr"/>
          <a:lstStyle/>
          <a:p>
            <a:pPr algn="ctr" indent="0" marL="0">
              <a:buNone/>
            </a:pPr>
            <a:r>
              <a:rPr lang="en-US" sz="1500" b="1" dirty="0">
                <a:solidFill>
                  <a:schemeClr val="bg1"/>
                </a:solidFill>
              </a:rPr>
              <a:t>Container engine (Docker)</a:t>
            </a:r>
            <a:endParaRPr lang="en-US" sz="1500" dirty="0"/>
          </a:p>
        </p:txBody>
      </p:sp>
      <p:sp>
        <p:nvSpPr>
          <p:cNvPr id="9" name="Shape 7"/>
          <p:cNvSpPr/>
          <p:nvPr/>
        </p:nvSpPr>
        <p:spPr>
          <a:xfrm>
            <a:off x="548640" y="3337560"/>
            <a:ext cx="1828800" cy="640080"/>
          </a:xfrm>
          <a:prstGeom prst="roundRect">
            <a:avLst>
              <a:gd name="adj" fmla="val 8571"/>
            </a:avLst>
          </a:prstGeom>
          <a:solidFill>
            <a:schemeClr val="bg2"/>
          </a:solidFill>
          <a:ln/>
        </p:spPr>
      </p:sp>
      <p:sp>
        <p:nvSpPr>
          <p:cNvPr id="10" name="Text 8"/>
          <p:cNvSpPr txBox="1"/>
          <p:nvPr/>
        </p:nvSpPr>
        <p:spPr>
          <a:xfrm>
            <a:off x="548640" y="3337560"/>
            <a:ext cx="1828800" cy="640080"/>
          </a:xfrm>
          <a:prstGeom prst="rect">
            <a:avLst/>
          </a:prstGeom>
          <a:noFill/>
          <a:ln/>
        </p:spPr>
        <p:txBody>
          <a:bodyPr wrap="square" lIns="0" tIns="0" rIns="0" bIns="0" rtlCol="0" anchor="ctr"/>
          <a:lstStyle/>
          <a:p>
            <a:pPr algn="ctr" indent="0" marL="0">
              <a:buNone/>
            </a:pPr>
            <a:r>
              <a:rPr lang="en-US" sz="1500" b="1" dirty="0">
                <a:solidFill>
                  <a:schemeClr val="tx1"/>
                </a:solidFill>
              </a:rPr>
              <a:t>Libs</a:t>
            </a:r>
            <a:endParaRPr lang="en-US" sz="1500" dirty="0"/>
          </a:p>
        </p:txBody>
      </p:sp>
      <p:sp>
        <p:nvSpPr>
          <p:cNvPr id="11" name="Shape 9"/>
          <p:cNvSpPr/>
          <p:nvPr/>
        </p:nvSpPr>
        <p:spPr>
          <a:xfrm>
            <a:off x="548640" y="2606040"/>
            <a:ext cx="1828800" cy="640080"/>
          </a:xfrm>
          <a:prstGeom prst="roundRect">
            <a:avLst>
              <a:gd name="adj" fmla="val 8571"/>
            </a:avLst>
          </a:prstGeom>
          <a:solidFill>
            <a:schemeClr val="accent3"/>
          </a:solidFill>
          <a:ln/>
        </p:spPr>
      </p:sp>
      <p:sp>
        <p:nvSpPr>
          <p:cNvPr id="12" name="Text 10"/>
          <p:cNvSpPr txBox="1"/>
          <p:nvPr/>
        </p:nvSpPr>
        <p:spPr>
          <a:xfrm>
            <a:off x="548640" y="2606040"/>
            <a:ext cx="1828800" cy="640080"/>
          </a:xfrm>
          <a:prstGeom prst="rect">
            <a:avLst/>
          </a:prstGeom>
          <a:noFill/>
          <a:ln/>
        </p:spPr>
        <p:txBody>
          <a:bodyPr wrap="square" lIns="0" tIns="0" rIns="0" bIns="0" rtlCol="0" anchor="ctr"/>
          <a:lstStyle/>
          <a:p>
            <a:pPr algn="ctr" indent="0" marL="0">
              <a:buNone/>
            </a:pPr>
            <a:r>
              <a:rPr lang="en-US" sz="1600" b="1" dirty="0">
                <a:solidFill>
                  <a:schemeClr val="bg1"/>
                </a:solidFill>
              </a:rPr>
              <a:t>App A</a:t>
            </a:r>
            <a:endParaRPr lang="en-US" sz="1600" dirty="0"/>
          </a:p>
        </p:txBody>
      </p:sp>
      <p:sp>
        <p:nvSpPr>
          <p:cNvPr id="13" name="Shape 11"/>
          <p:cNvSpPr/>
          <p:nvPr/>
        </p:nvSpPr>
        <p:spPr>
          <a:xfrm>
            <a:off x="2514600" y="3337560"/>
            <a:ext cx="1828800" cy="640080"/>
          </a:xfrm>
          <a:prstGeom prst="roundRect">
            <a:avLst>
              <a:gd name="adj" fmla="val 8571"/>
            </a:avLst>
          </a:prstGeom>
          <a:solidFill>
            <a:schemeClr val="bg2"/>
          </a:solidFill>
          <a:ln/>
        </p:spPr>
      </p:sp>
      <p:sp>
        <p:nvSpPr>
          <p:cNvPr id="14" name="Text 12"/>
          <p:cNvSpPr txBox="1"/>
          <p:nvPr/>
        </p:nvSpPr>
        <p:spPr>
          <a:xfrm>
            <a:off x="2514600" y="3337560"/>
            <a:ext cx="1828800" cy="640080"/>
          </a:xfrm>
          <a:prstGeom prst="rect">
            <a:avLst/>
          </a:prstGeom>
          <a:noFill/>
          <a:ln/>
        </p:spPr>
        <p:txBody>
          <a:bodyPr wrap="square" lIns="0" tIns="0" rIns="0" bIns="0" rtlCol="0" anchor="ctr"/>
          <a:lstStyle/>
          <a:p>
            <a:pPr algn="ctr" indent="0" marL="0">
              <a:buNone/>
            </a:pPr>
            <a:r>
              <a:rPr lang="en-US" sz="1500" b="1" dirty="0">
                <a:solidFill>
                  <a:schemeClr val="tx1"/>
                </a:solidFill>
              </a:rPr>
              <a:t>Libs</a:t>
            </a:r>
            <a:endParaRPr lang="en-US" sz="1500" dirty="0"/>
          </a:p>
        </p:txBody>
      </p:sp>
      <p:sp>
        <p:nvSpPr>
          <p:cNvPr id="15" name="Shape 13"/>
          <p:cNvSpPr/>
          <p:nvPr/>
        </p:nvSpPr>
        <p:spPr>
          <a:xfrm>
            <a:off x="2514600" y="2606040"/>
            <a:ext cx="1828800" cy="640080"/>
          </a:xfrm>
          <a:prstGeom prst="roundRect">
            <a:avLst>
              <a:gd name="adj" fmla="val 8571"/>
            </a:avLst>
          </a:prstGeom>
          <a:solidFill>
            <a:schemeClr val="accent3"/>
          </a:solidFill>
          <a:ln/>
        </p:spPr>
      </p:sp>
      <p:sp>
        <p:nvSpPr>
          <p:cNvPr id="16" name="Text 14"/>
          <p:cNvSpPr txBox="1"/>
          <p:nvPr/>
        </p:nvSpPr>
        <p:spPr>
          <a:xfrm>
            <a:off x="2514600" y="2606040"/>
            <a:ext cx="1828800" cy="640080"/>
          </a:xfrm>
          <a:prstGeom prst="rect">
            <a:avLst/>
          </a:prstGeom>
          <a:noFill/>
          <a:ln/>
        </p:spPr>
        <p:txBody>
          <a:bodyPr wrap="square" lIns="0" tIns="0" rIns="0" bIns="0" rtlCol="0" anchor="ctr"/>
          <a:lstStyle/>
          <a:p>
            <a:pPr algn="ctr" indent="0" marL="0">
              <a:buNone/>
            </a:pPr>
            <a:r>
              <a:rPr lang="en-US" sz="1600" b="1" dirty="0">
                <a:solidFill>
                  <a:schemeClr val="bg1"/>
                </a:solidFill>
              </a:rPr>
              <a:t>App B</a:t>
            </a:r>
            <a:endParaRPr lang="en-US" sz="1600" dirty="0"/>
          </a:p>
        </p:txBody>
      </p:sp>
      <p:sp>
        <p:nvSpPr>
          <p:cNvPr id="17" name="Shape 15"/>
          <p:cNvSpPr/>
          <p:nvPr/>
        </p:nvSpPr>
        <p:spPr>
          <a:xfrm>
            <a:off x="4480560" y="3337560"/>
            <a:ext cx="1828800" cy="640080"/>
          </a:xfrm>
          <a:prstGeom prst="roundRect">
            <a:avLst>
              <a:gd name="adj" fmla="val 8571"/>
            </a:avLst>
          </a:prstGeom>
          <a:solidFill>
            <a:schemeClr val="bg2"/>
          </a:solidFill>
          <a:ln/>
        </p:spPr>
      </p:sp>
      <p:sp>
        <p:nvSpPr>
          <p:cNvPr id="18" name="Text 16"/>
          <p:cNvSpPr txBox="1"/>
          <p:nvPr/>
        </p:nvSpPr>
        <p:spPr>
          <a:xfrm>
            <a:off x="4480560" y="3337560"/>
            <a:ext cx="1828800" cy="640080"/>
          </a:xfrm>
          <a:prstGeom prst="rect">
            <a:avLst/>
          </a:prstGeom>
          <a:noFill/>
          <a:ln/>
        </p:spPr>
        <p:txBody>
          <a:bodyPr wrap="square" lIns="0" tIns="0" rIns="0" bIns="0" rtlCol="0" anchor="ctr"/>
          <a:lstStyle/>
          <a:p>
            <a:pPr algn="ctr" indent="0" marL="0">
              <a:buNone/>
            </a:pPr>
            <a:r>
              <a:rPr lang="en-US" sz="1500" b="1" dirty="0">
                <a:solidFill>
                  <a:schemeClr val="tx1"/>
                </a:solidFill>
              </a:rPr>
              <a:t>Libs</a:t>
            </a:r>
            <a:endParaRPr lang="en-US" sz="1500" dirty="0"/>
          </a:p>
        </p:txBody>
      </p:sp>
      <p:sp>
        <p:nvSpPr>
          <p:cNvPr id="19" name="Shape 17"/>
          <p:cNvSpPr/>
          <p:nvPr/>
        </p:nvSpPr>
        <p:spPr>
          <a:xfrm>
            <a:off x="4480560" y="2606040"/>
            <a:ext cx="1828800" cy="640080"/>
          </a:xfrm>
          <a:prstGeom prst="roundRect">
            <a:avLst>
              <a:gd name="adj" fmla="val 8571"/>
            </a:avLst>
          </a:prstGeom>
          <a:solidFill>
            <a:schemeClr val="accent3"/>
          </a:solidFill>
          <a:ln/>
        </p:spPr>
      </p:sp>
      <p:sp>
        <p:nvSpPr>
          <p:cNvPr id="20" name="Text 18"/>
          <p:cNvSpPr txBox="1"/>
          <p:nvPr/>
        </p:nvSpPr>
        <p:spPr>
          <a:xfrm>
            <a:off x="4480560" y="2606040"/>
            <a:ext cx="1828800" cy="640080"/>
          </a:xfrm>
          <a:prstGeom prst="rect">
            <a:avLst/>
          </a:prstGeom>
          <a:noFill/>
          <a:ln/>
        </p:spPr>
        <p:txBody>
          <a:bodyPr wrap="square" lIns="0" tIns="0" rIns="0" bIns="0" rtlCol="0" anchor="ctr"/>
          <a:lstStyle/>
          <a:p>
            <a:pPr algn="ctr" indent="0" marL="0">
              <a:buNone/>
            </a:pPr>
            <a:r>
              <a:rPr lang="en-US" sz="1600" b="1" dirty="0">
                <a:solidFill>
                  <a:schemeClr val="bg1"/>
                </a:solidFill>
              </a:rPr>
              <a:t>App C</a:t>
            </a:r>
            <a:endParaRPr lang="en-US" sz="1600" dirty="0"/>
          </a:p>
        </p:txBody>
      </p:sp>
      <p:sp>
        <p:nvSpPr>
          <p:cNvPr id="21" name="Text 19"/>
          <p:cNvSpPr txBox="1"/>
          <p:nvPr/>
        </p:nvSpPr>
        <p:spPr>
          <a:xfrm>
            <a:off x="548640" y="2011680"/>
            <a:ext cx="5760720" cy="411480"/>
          </a:xfrm>
          <a:prstGeom prst="rect">
            <a:avLst/>
          </a:prstGeom>
          <a:noFill/>
          <a:ln/>
        </p:spPr>
        <p:txBody>
          <a:bodyPr wrap="square" lIns="0" tIns="0" rIns="0" bIns="0" rtlCol="0" anchor="t"/>
          <a:lstStyle/>
          <a:p>
            <a:pPr algn="ctr" indent="0" marL="0">
              <a:buNone/>
            </a:pPr>
            <a:r>
              <a:rPr lang="en-US" sz="1400" b="1" dirty="0">
                <a:solidFill>
                  <a:schemeClr val="accent3"/>
                </a:solidFill>
              </a:rPr>
              <a:t>No guest OS — containers share the host kernel</a:t>
            </a:r>
            <a:endParaRPr lang="en-US" sz="1400" dirty="0"/>
          </a:p>
        </p:txBody>
      </p:sp>
      <p:sp>
        <p:nvSpPr>
          <p:cNvPr id="22" name="Shape 20"/>
          <p:cNvSpPr/>
          <p:nvPr/>
        </p:nvSpPr>
        <p:spPr>
          <a:xfrm>
            <a:off x="6858000" y="1463040"/>
            <a:ext cx="4754880" cy="4434840"/>
          </a:xfrm>
          <a:prstGeom prst="roundRect">
            <a:avLst>
              <a:gd name="adj" fmla="val 2474"/>
            </a:avLst>
          </a:prstGeom>
          <a:solidFill>
            <a:schemeClr val="bg2"/>
          </a:solidFill>
          <a:ln/>
        </p:spPr>
      </p:sp>
      <p:sp>
        <p:nvSpPr>
          <p:cNvPr id="23" name="Shape 21"/>
          <p:cNvSpPr/>
          <p:nvPr/>
        </p:nvSpPr>
        <p:spPr>
          <a:xfrm>
            <a:off x="7178040" y="1783080"/>
            <a:ext cx="777240" cy="777240"/>
          </a:xfrm>
          <a:prstGeom prst="ellipse">
            <a:avLst/>
          </a:prstGeom>
          <a:solidFill>
            <a:schemeClr val="accent3"/>
          </a:solidFill>
          <a:ln/>
        </p:spPr>
      </p:sp>
      <p:pic>
        <p:nvPicPr>
          <p:cNvPr id="24" name="Image 0" descr="preencoded.png">    </p:cNvPr>
          <p:cNvPicPr>
            <a:picLocks noChangeAspect="1"/>
          </p:cNvPicPr>
          <p:nvPr/>
        </p:nvPicPr>
        <p:blipFill>
          <a:blip r:embed="rId1"/>
          <a:stretch>
            <a:fillRect/>
          </a:stretch>
        </p:blipFill>
        <p:spPr>
          <a:xfrm>
            <a:off x="7364578" y="1969618"/>
            <a:ext cx="404165" cy="404165"/>
          </a:xfrm>
          <a:prstGeom prst="rect">
            <a:avLst/>
          </a:prstGeom>
        </p:spPr>
      </p:pic>
      <p:sp>
        <p:nvSpPr>
          <p:cNvPr id="25" name="Text 22"/>
          <p:cNvSpPr txBox="1"/>
          <p:nvPr/>
        </p:nvSpPr>
        <p:spPr>
          <a:xfrm>
            <a:off x="8138160" y="1920240"/>
            <a:ext cx="3291840" cy="502920"/>
          </a:xfrm>
          <a:prstGeom prst="rect">
            <a:avLst/>
          </a:prstGeom>
          <a:noFill/>
          <a:ln/>
        </p:spPr>
        <p:txBody>
          <a:bodyPr wrap="square" lIns="0" tIns="0" rIns="0" bIns="0" rtlCol="0" anchor="t"/>
          <a:lstStyle/>
          <a:p>
            <a:pPr indent="0" marL="0">
              <a:buNone/>
            </a:pPr>
            <a:r>
              <a:rPr lang="en-US" sz="2200" b="1" dirty="0">
                <a:solidFill>
                  <a:schemeClr val="tx1"/>
                </a:solidFill>
              </a:rPr>
              <a:t>What changed</a:t>
            </a:r>
            <a:endParaRPr lang="en-US" sz="2200" dirty="0"/>
          </a:p>
        </p:txBody>
      </p:sp>
      <p:sp>
        <p:nvSpPr>
          <p:cNvPr id="26" name="Text 23"/>
          <p:cNvSpPr txBox="1"/>
          <p:nvPr/>
        </p:nvSpPr>
        <p:spPr>
          <a:xfrm>
            <a:off x="7178040" y="2788920"/>
            <a:ext cx="4206240" cy="2926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Each app ships only its libraries and files</a:t>
            </a:r>
            <a:endParaRPr lang="en-US" sz="1700" dirty="0"/>
          </a:p>
          <a:p>
            <a:pPr marL="342900" indent="-342900">
              <a:spcAft>
                <a:spcPts val="1000"/>
              </a:spcAft>
              <a:buSzPct val="100000"/>
              <a:buChar char="•"/>
            </a:pPr>
            <a:r>
              <a:rPr lang="en-US" sz="1700" dirty="0">
                <a:solidFill>
                  <a:schemeClr val="tx1"/>
                </a:solidFill>
              </a:rPr>
              <a:t>All containers use the host’s kernel</a:t>
            </a:r>
            <a:endParaRPr lang="en-US" sz="1700" dirty="0"/>
          </a:p>
          <a:p>
            <a:pPr marL="342900" indent="-342900">
              <a:spcAft>
                <a:spcPts val="1000"/>
              </a:spcAft>
              <a:buSzPct val="100000"/>
              <a:buChar char="•"/>
            </a:pPr>
            <a:r>
              <a:rPr lang="en-US" sz="1700" dirty="0">
                <a:solidFill>
                  <a:schemeClr val="tx1"/>
                </a:solidFill>
              </a:rPr>
              <a:t>Starting one = starting a process, not booting a computer</a:t>
            </a:r>
            <a:endParaRPr lang="en-US" sz="1700" dirty="0"/>
          </a:p>
          <a:p>
            <a:pPr marL="342900" indent="-342900">
              <a:spcAft>
                <a:spcPts val="1000"/>
              </a:spcAft>
              <a:buSzPct val="100000"/>
              <a:buChar char="•"/>
            </a:pPr>
            <a:r>
              <a:rPr lang="en-US" sz="1700" dirty="0">
                <a:solidFill>
                  <a:schemeClr val="tx1"/>
                </a:solidFill>
              </a:rPr>
              <a:t>Each app still believes it is alone on the machine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VMs vs containers at a glance</a:t>
            </a:r>
            <a:endParaRPr lang="en-US" sz="3400" dirty="0"/>
          </a:p>
        </p:txBody>
      </p:sp>
      <p:sp>
        <p:nvSpPr>
          <p:cNvPr id="3" name="Shape 1"/>
          <p:cNvSpPr/>
          <p:nvPr/>
        </p:nvSpPr>
        <p:spPr>
          <a:xfrm>
            <a:off x="3200400" y="1417320"/>
            <a:ext cx="4023360" cy="640080"/>
          </a:xfrm>
          <a:prstGeom prst="roundRect">
            <a:avLst>
              <a:gd name="adj" fmla="val 8571"/>
            </a:avLst>
          </a:prstGeom>
          <a:solidFill>
            <a:schemeClr val="tx2"/>
          </a:solidFill>
          <a:ln/>
        </p:spPr>
      </p:sp>
      <p:sp>
        <p:nvSpPr>
          <p:cNvPr id="4" name="Text 2"/>
          <p:cNvSpPr txBox="1"/>
          <p:nvPr/>
        </p:nvSpPr>
        <p:spPr>
          <a:xfrm>
            <a:off x="3200400" y="1417320"/>
            <a:ext cx="4023360" cy="640080"/>
          </a:xfrm>
          <a:prstGeom prst="rect">
            <a:avLst/>
          </a:prstGeom>
          <a:noFill/>
          <a:ln/>
        </p:spPr>
        <p:txBody>
          <a:bodyPr wrap="square" lIns="0" tIns="0" rIns="0" bIns="0" rtlCol="0" anchor="ctr"/>
          <a:lstStyle/>
          <a:p>
            <a:pPr algn="ctr" indent="0" marL="0">
              <a:buNone/>
            </a:pPr>
            <a:endParaRPr lang="en-US" sz="1500" dirty="0"/>
          </a:p>
        </p:txBody>
      </p:sp>
      <p:sp>
        <p:nvSpPr>
          <p:cNvPr id="5" name="Text 3"/>
          <p:cNvSpPr txBox="1"/>
          <p:nvPr/>
        </p:nvSpPr>
        <p:spPr>
          <a:xfrm>
            <a:off x="3200400" y="1417320"/>
            <a:ext cx="4023360" cy="640080"/>
          </a:xfrm>
          <a:prstGeom prst="rect">
            <a:avLst/>
          </a:prstGeom>
          <a:noFill/>
          <a:ln/>
        </p:spPr>
        <p:txBody>
          <a:bodyPr wrap="square" lIns="0" tIns="0" rIns="0" bIns="0" rtlCol="0" anchor="ctr"/>
          <a:lstStyle/>
          <a:p>
            <a:pPr algn="ctr" indent="0" marL="0">
              <a:buNone/>
            </a:pPr>
            <a:r>
              <a:rPr lang="en-US" sz="2000" b="1" dirty="0">
                <a:solidFill>
                  <a:schemeClr val="bg1"/>
                </a:solidFill>
              </a:rPr>
              <a:t>Virtual machine</a:t>
            </a:r>
            <a:endParaRPr lang="en-US" sz="2000" dirty="0"/>
          </a:p>
        </p:txBody>
      </p:sp>
      <p:sp>
        <p:nvSpPr>
          <p:cNvPr id="6" name="Shape 4"/>
          <p:cNvSpPr/>
          <p:nvPr/>
        </p:nvSpPr>
        <p:spPr>
          <a:xfrm>
            <a:off x="7498080" y="1417320"/>
            <a:ext cx="4114800" cy="640080"/>
          </a:xfrm>
          <a:prstGeom prst="roundRect">
            <a:avLst>
              <a:gd name="adj" fmla="val 8571"/>
            </a:avLst>
          </a:prstGeom>
          <a:solidFill>
            <a:schemeClr val="accent3"/>
          </a:solidFill>
          <a:ln/>
        </p:spPr>
      </p:sp>
      <p:sp>
        <p:nvSpPr>
          <p:cNvPr id="7" name="Text 5"/>
          <p:cNvSpPr txBox="1"/>
          <p:nvPr/>
        </p:nvSpPr>
        <p:spPr>
          <a:xfrm>
            <a:off x="7498080" y="1417320"/>
            <a:ext cx="4114800" cy="640080"/>
          </a:xfrm>
          <a:prstGeom prst="rect">
            <a:avLst/>
          </a:prstGeom>
          <a:noFill/>
          <a:ln/>
        </p:spPr>
        <p:txBody>
          <a:bodyPr wrap="square" lIns="0" tIns="0" rIns="0" bIns="0" rtlCol="0" anchor="ctr"/>
          <a:lstStyle/>
          <a:p>
            <a:pPr algn="ctr" indent="0" marL="0">
              <a:buNone/>
            </a:pPr>
            <a:endParaRPr lang="en-US" sz="1500" dirty="0"/>
          </a:p>
        </p:txBody>
      </p:sp>
      <p:sp>
        <p:nvSpPr>
          <p:cNvPr id="8" name="Text 6"/>
          <p:cNvSpPr txBox="1"/>
          <p:nvPr/>
        </p:nvSpPr>
        <p:spPr>
          <a:xfrm>
            <a:off x="7498080" y="1417320"/>
            <a:ext cx="4114800" cy="640080"/>
          </a:xfrm>
          <a:prstGeom prst="rect">
            <a:avLst/>
          </a:prstGeom>
          <a:noFill/>
          <a:ln/>
        </p:spPr>
        <p:txBody>
          <a:bodyPr wrap="square" lIns="0" tIns="0" rIns="0" bIns="0" rtlCol="0" anchor="ctr"/>
          <a:lstStyle/>
          <a:p>
            <a:pPr algn="ctr" indent="0" marL="0">
              <a:buNone/>
            </a:pPr>
            <a:r>
              <a:rPr lang="en-US" sz="2000" b="1" dirty="0">
                <a:solidFill>
                  <a:schemeClr val="bg1"/>
                </a:solidFill>
              </a:rPr>
              <a:t>Container</a:t>
            </a:r>
            <a:endParaRPr lang="en-US" sz="2000" dirty="0"/>
          </a:p>
        </p:txBody>
      </p:sp>
      <p:sp>
        <p:nvSpPr>
          <p:cNvPr id="9" name="Shape 7"/>
          <p:cNvSpPr/>
          <p:nvPr/>
        </p:nvSpPr>
        <p:spPr>
          <a:xfrm>
            <a:off x="548640" y="2194560"/>
            <a:ext cx="11064240" cy="685800"/>
          </a:xfrm>
          <a:prstGeom prst="roundRect">
            <a:avLst>
              <a:gd name="adj" fmla="val 16000"/>
            </a:avLst>
          </a:prstGeom>
          <a:solidFill>
            <a:schemeClr val="bg2"/>
          </a:solidFill>
          <a:ln/>
        </p:spPr>
      </p:sp>
      <p:sp>
        <p:nvSpPr>
          <p:cNvPr id="10" name="Text 8"/>
          <p:cNvSpPr txBox="1"/>
          <p:nvPr/>
        </p:nvSpPr>
        <p:spPr>
          <a:xfrm>
            <a:off x="777240" y="2194560"/>
            <a:ext cx="2286000" cy="685800"/>
          </a:xfrm>
          <a:prstGeom prst="rect">
            <a:avLst/>
          </a:prstGeom>
          <a:noFill/>
          <a:ln/>
        </p:spPr>
        <p:txBody>
          <a:bodyPr wrap="square" lIns="0" tIns="0" rIns="0" bIns="0" rtlCol="0" anchor="ctr"/>
          <a:lstStyle/>
          <a:p>
            <a:pPr indent="0" marL="0">
              <a:buNone/>
            </a:pPr>
            <a:r>
              <a:rPr lang="en-US" sz="1800" b="1" dirty="0">
                <a:solidFill>
                  <a:schemeClr val="tx1"/>
                </a:solidFill>
              </a:rPr>
              <a:t>Size</a:t>
            </a:r>
            <a:endParaRPr lang="en-US" sz="1800" dirty="0"/>
          </a:p>
        </p:txBody>
      </p:sp>
      <p:sp>
        <p:nvSpPr>
          <p:cNvPr id="11" name="Text 9"/>
          <p:cNvSpPr txBox="1"/>
          <p:nvPr/>
        </p:nvSpPr>
        <p:spPr>
          <a:xfrm>
            <a:off x="3200400" y="2194560"/>
            <a:ext cx="4023360" cy="685800"/>
          </a:xfrm>
          <a:prstGeom prst="rect">
            <a:avLst/>
          </a:prstGeom>
          <a:noFill/>
          <a:ln/>
        </p:spPr>
        <p:txBody>
          <a:bodyPr wrap="square" lIns="0" tIns="0" rIns="0" bIns="0" rtlCol="0" anchor="ctr"/>
          <a:lstStyle/>
          <a:p>
            <a:pPr algn="ctr" indent="0" marL="0">
              <a:buNone/>
            </a:pPr>
            <a:r>
              <a:rPr lang="en-US" sz="1700" dirty="0">
                <a:solidFill>
                  <a:schemeClr val="tx2"/>
                </a:solidFill>
              </a:rPr>
              <a:t>Gigabytes (full OS)</a:t>
            </a:r>
            <a:endParaRPr lang="en-US" sz="1700" dirty="0"/>
          </a:p>
        </p:txBody>
      </p:sp>
      <p:sp>
        <p:nvSpPr>
          <p:cNvPr id="12" name="Text 10"/>
          <p:cNvSpPr txBox="1"/>
          <p:nvPr/>
        </p:nvSpPr>
        <p:spPr>
          <a:xfrm>
            <a:off x="7498080" y="2194560"/>
            <a:ext cx="4114800" cy="685800"/>
          </a:xfrm>
          <a:prstGeom prst="rect">
            <a:avLst/>
          </a:prstGeom>
          <a:noFill/>
          <a:ln/>
        </p:spPr>
        <p:txBody>
          <a:bodyPr wrap="square" lIns="0" tIns="0" rIns="0" bIns="0" rtlCol="0" anchor="ctr"/>
          <a:lstStyle/>
          <a:p>
            <a:pPr algn="ctr" indent="0" marL="0">
              <a:buNone/>
            </a:pPr>
            <a:r>
              <a:rPr lang="en-US" sz="1700" dirty="0">
                <a:solidFill>
                  <a:schemeClr val="tx2"/>
                </a:solidFill>
              </a:rPr>
              <a:t>Megabytes (app + libs)</a:t>
            </a:r>
            <a:endParaRPr lang="en-US" sz="1700" dirty="0"/>
          </a:p>
        </p:txBody>
      </p:sp>
      <p:sp>
        <p:nvSpPr>
          <p:cNvPr id="13" name="Shape 11"/>
          <p:cNvSpPr/>
          <p:nvPr/>
        </p:nvSpPr>
        <p:spPr>
          <a:xfrm>
            <a:off x="548640" y="2971800"/>
            <a:ext cx="11064240" cy="685800"/>
          </a:xfrm>
          <a:prstGeom prst="roundRect">
            <a:avLst>
              <a:gd name="adj" fmla="val 16000"/>
            </a:avLst>
          </a:prstGeom>
          <a:solidFill>
            <a:schemeClr val="bg1"/>
          </a:solidFill>
          <a:ln/>
        </p:spPr>
      </p:sp>
      <p:sp>
        <p:nvSpPr>
          <p:cNvPr id="14" name="Text 12"/>
          <p:cNvSpPr txBox="1"/>
          <p:nvPr/>
        </p:nvSpPr>
        <p:spPr>
          <a:xfrm>
            <a:off x="777240" y="2971800"/>
            <a:ext cx="2286000" cy="685800"/>
          </a:xfrm>
          <a:prstGeom prst="rect">
            <a:avLst/>
          </a:prstGeom>
          <a:noFill/>
          <a:ln/>
        </p:spPr>
        <p:txBody>
          <a:bodyPr wrap="square" lIns="0" tIns="0" rIns="0" bIns="0" rtlCol="0" anchor="ctr"/>
          <a:lstStyle/>
          <a:p>
            <a:pPr indent="0" marL="0">
              <a:buNone/>
            </a:pPr>
            <a:r>
              <a:rPr lang="en-US" sz="1800" b="1" dirty="0">
                <a:solidFill>
                  <a:schemeClr val="tx1"/>
                </a:solidFill>
              </a:rPr>
              <a:t>Startup</a:t>
            </a:r>
            <a:endParaRPr lang="en-US" sz="1800" dirty="0"/>
          </a:p>
        </p:txBody>
      </p:sp>
      <p:sp>
        <p:nvSpPr>
          <p:cNvPr id="15" name="Text 13"/>
          <p:cNvSpPr txBox="1"/>
          <p:nvPr/>
        </p:nvSpPr>
        <p:spPr>
          <a:xfrm>
            <a:off x="3200400" y="2971800"/>
            <a:ext cx="4023360" cy="685800"/>
          </a:xfrm>
          <a:prstGeom prst="rect">
            <a:avLst/>
          </a:prstGeom>
          <a:noFill/>
          <a:ln/>
        </p:spPr>
        <p:txBody>
          <a:bodyPr wrap="square" lIns="0" tIns="0" rIns="0" bIns="0" rtlCol="0" anchor="ctr"/>
          <a:lstStyle/>
          <a:p>
            <a:pPr algn="ctr" indent="0" marL="0">
              <a:buNone/>
            </a:pPr>
            <a:r>
              <a:rPr lang="en-US" sz="1700" dirty="0">
                <a:solidFill>
                  <a:schemeClr val="tx2"/>
                </a:solidFill>
              </a:rPr>
              <a:t>Minutes</a:t>
            </a:r>
            <a:endParaRPr lang="en-US" sz="1700" dirty="0"/>
          </a:p>
        </p:txBody>
      </p:sp>
      <p:sp>
        <p:nvSpPr>
          <p:cNvPr id="16" name="Text 14"/>
          <p:cNvSpPr txBox="1"/>
          <p:nvPr/>
        </p:nvSpPr>
        <p:spPr>
          <a:xfrm>
            <a:off x="7498080" y="2971800"/>
            <a:ext cx="4114800" cy="685800"/>
          </a:xfrm>
          <a:prstGeom prst="rect">
            <a:avLst/>
          </a:prstGeom>
          <a:noFill/>
          <a:ln/>
        </p:spPr>
        <p:txBody>
          <a:bodyPr wrap="square" lIns="0" tIns="0" rIns="0" bIns="0" rtlCol="0" anchor="ctr"/>
          <a:lstStyle/>
          <a:p>
            <a:pPr algn="ctr" indent="0" marL="0">
              <a:buNone/>
            </a:pPr>
            <a:r>
              <a:rPr lang="en-US" sz="1700" dirty="0">
                <a:solidFill>
                  <a:schemeClr val="tx2"/>
                </a:solidFill>
              </a:rPr>
              <a:t>Seconds or less</a:t>
            </a:r>
            <a:endParaRPr lang="en-US" sz="1700" dirty="0"/>
          </a:p>
        </p:txBody>
      </p:sp>
      <p:sp>
        <p:nvSpPr>
          <p:cNvPr id="17" name="Shape 15"/>
          <p:cNvSpPr/>
          <p:nvPr/>
        </p:nvSpPr>
        <p:spPr>
          <a:xfrm>
            <a:off x="548640" y="3749040"/>
            <a:ext cx="11064240" cy="685800"/>
          </a:xfrm>
          <a:prstGeom prst="roundRect">
            <a:avLst>
              <a:gd name="adj" fmla="val 16000"/>
            </a:avLst>
          </a:prstGeom>
          <a:solidFill>
            <a:schemeClr val="bg2"/>
          </a:solidFill>
          <a:ln/>
        </p:spPr>
      </p:sp>
      <p:sp>
        <p:nvSpPr>
          <p:cNvPr id="18" name="Text 16"/>
          <p:cNvSpPr txBox="1"/>
          <p:nvPr/>
        </p:nvSpPr>
        <p:spPr>
          <a:xfrm>
            <a:off x="777240" y="3749040"/>
            <a:ext cx="2286000" cy="685800"/>
          </a:xfrm>
          <a:prstGeom prst="rect">
            <a:avLst/>
          </a:prstGeom>
          <a:noFill/>
          <a:ln/>
        </p:spPr>
        <p:txBody>
          <a:bodyPr wrap="square" lIns="0" tIns="0" rIns="0" bIns="0" rtlCol="0" anchor="ctr"/>
          <a:lstStyle/>
          <a:p>
            <a:pPr indent="0" marL="0">
              <a:buNone/>
            </a:pPr>
            <a:r>
              <a:rPr lang="en-US" sz="1800" b="1" dirty="0">
                <a:solidFill>
                  <a:schemeClr val="tx1"/>
                </a:solidFill>
              </a:rPr>
              <a:t>Isolation</a:t>
            </a:r>
            <a:endParaRPr lang="en-US" sz="1800" dirty="0"/>
          </a:p>
        </p:txBody>
      </p:sp>
      <p:sp>
        <p:nvSpPr>
          <p:cNvPr id="19" name="Text 17"/>
          <p:cNvSpPr txBox="1"/>
          <p:nvPr/>
        </p:nvSpPr>
        <p:spPr>
          <a:xfrm>
            <a:off x="3200400" y="3749040"/>
            <a:ext cx="4023360" cy="685800"/>
          </a:xfrm>
          <a:prstGeom prst="rect">
            <a:avLst/>
          </a:prstGeom>
          <a:noFill/>
          <a:ln/>
        </p:spPr>
        <p:txBody>
          <a:bodyPr wrap="square" lIns="0" tIns="0" rIns="0" bIns="0" rtlCol="0" anchor="ctr"/>
          <a:lstStyle/>
          <a:p>
            <a:pPr algn="ctr" indent="0" marL="0">
              <a:buNone/>
            </a:pPr>
            <a:r>
              <a:rPr lang="en-US" sz="1700" dirty="0">
                <a:solidFill>
                  <a:schemeClr val="tx2"/>
                </a:solidFill>
              </a:rPr>
              <a:t>Own kernel — very strong</a:t>
            </a:r>
            <a:endParaRPr lang="en-US" sz="1700" dirty="0"/>
          </a:p>
        </p:txBody>
      </p:sp>
      <p:sp>
        <p:nvSpPr>
          <p:cNvPr id="20" name="Text 18"/>
          <p:cNvSpPr txBox="1"/>
          <p:nvPr/>
        </p:nvSpPr>
        <p:spPr>
          <a:xfrm>
            <a:off x="7498080" y="3749040"/>
            <a:ext cx="4114800" cy="685800"/>
          </a:xfrm>
          <a:prstGeom prst="rect">
            <a:avLst/>
          </a:prstGeom>
          <a:noFill/>
          <a:ln/>
        </p:spPr>
        <p:txBody>
          <a:bodyPr wrap="square" lIns="0" tIns="0" rIns="0" bIns="0" rtlCol="0" anchor="ctr"/>
          <a:lstStyle/>
          <a:p>
            <a:pPr algn="ctr" indent="0" marL="0">
              <a:buNone/>
            </a:pPr>
            <a:r>
              <a:rPr lang="en-US" sz="1700" dirty="0">
                <a:solidFill>
                  <a:schemeClr val="tx2"/>
                </a:solidFill>
              </a:rPr>
              <a:t>Shared kernel — process-level</a:t>
            </a:r>
            <a:endParaRPr lang="en-US" sz="1700" dirty="0"/>
          </a:p>
        </p:txBody>
      </p:sp>
      <p:sp>
        <p:nvSpPr>
          <p:cNvPr id="21" name="Shape 19"/>
          <p:cNvSpPr/>
          <p:nvPr/>
        </p:nvSpPr>
        <p:spPr>
          <a:xfrm>
            <a:off x="548640" y="4526280"/>
            <a:ext cx="11064240" cy="685800"/>
          </a:xfrm>
          <a:prstGeom prst="roundRect">
            <a:avLst>
              <a:gd name="adj" fmla="val 16000"/>
            </a:avLst>
          </a:prstGeom>
          <a:solidFill>
            <a:schemeClr val="bg1"/>
          </a:solidFill>
          <a:ln/>
        </p:spPr>
      </p:sp>
      <p:sp>
        <p:nvSpPr>
          <p:cNvPr id="22" name="Text 20"/>
          <p:cNvSpPr txBox="1"/>
          <p:nvPr/>
        </p:nvSpPr>
        <p:spPr>
          <a:xfrm>
            <a:off x="777240" y="4526280"/>
            <a:ext cx="2286000" cy="685800"/>
          </a:xfrm>
          <a:prstGeom prst="rect">
            <a:avLst/>
          </a:prstGeom>
          <a:noFill/>
          <a:ln/>
        </p:spPr>
        <p:txBody>
          <a:bodyPr wrap="square" lIns="0" tIns="0" rIns="0" bIns="0" rtlCol="0" anchor="ctr"/>
          <a:lstStyle/>
          <a:p>
            <a:pPr indent="0" marL="0">
              <a:buNone/>
            </a:pPr>
            <a:r>
              <a:rPr lang="en-US" sz="1800" b="1" dirty="0">
                <a:solidFill>
                  <a:schemeClr val="tx1"/>
                </a:solidFill>
              </a:rPr>
              <a:t>Density</a:t>
            </a:r>
            <a:endParaRPr lang="en-US" sz="1800" dirty="0"/>
          </a:p>
        </p:txBody>
      </p:sp>
      <p:sp>
        <p:nvSpPr>
          <p:cNvPr id="23" name="Text 21"/>
          <p:cNvSpPr txBox="1"/>
          <p:nvPr/>
        </p:nvSpPr>
        <p:spPr>
          <a:xfrm>
            <a:off x="3200400" y="4526280"/>
            <a:ext cx="4023360" cy="685800"/>
          </a:xfrm>
          <a:prstGeom prst="rect">
            <a:avLst/>
          </a:prstGeom>
          <a:noFill/>
          <a:ln/>
        </p:spPr>
        <p:txBody>
          <a:bodyPr wrap="square" lIns="0" tIns="0" rIns="0" bIns="0" rtlCol="0" anchor="ctr"/>
          <a:lstStyle/>
          <a:p>
            <a:pPr algn="ctr" indent="0" marL="0">
              <a:buNone/>
            </a:pPr>
            <a:r>
              <a:rPr lang="en-US" sz="1700" dirty="0">
                <a:solidFill>
                  <a:schemeClr val="tx2"/>
                </a:solidFill>
              </a:rPr>
              <a:t>Tens per host</a:t>
            </a:r>
            <a:endParaRPr lang="en-US" sz="1700" dirty="0"/>
          </a:p>
        </p:txBody>
      </p:sp>
      <p:sp>
        <p:nvSpPr>
          <p:cNvPr id="24" name="Text 22"/>
          <p:cNvSpPr txBox="1"/>
          <p:nvPr/>
        </p:nvSpPr>
        <p:spPr>
          <a:xfrm>
            <a:off x="7498080" y="4526280"/>
            <a:ext cx="4114800" cy="685800"/>
          </a:xfrm>
          <a:prstGeom prst="rect">
            <a:avLst/>
          </a:prstGeom>
          <a:noFill/>
          <a:ln/>
        </p:spPr>
        <p:txBody>
          <a:bodyPr wrap="square" lIns="0" tIns="0" rIns="0" bIns="0" rtlCol="0" anchor="ctr"/>
          <a:lstStyle/>
          <a:p>
            <a:pPr algn="ctr" indent="0" marL="0">
              <a:buNone/>
            </a:pPr>
            <a:r>
              <a:rPr lang="en-US" sz="1700" dirty="0">
                <a:solidFill>
                  <a:schemeClr val="tx2"/>
                </a:solidFill>
              </a:rPr>
              <a:t>Hundreds per host</a:t>
            </a:r>
            <a:endParaRPr lang="en-US" sz="1700" dirty="0"/>
          </a:p>
        </p:txBody>
      </p:sp>
      <p:sp>
        <p:nvSpPr>
          <p:cNvPr id="25" name="Shape 23"/>
          <p:cNvSpPr/>
          <p:nvPr/>
        </p:nvSpPr>
        <p:spPr>
          <a:xfrm>
            <a:off x="548640" y="5303520"/>
            <a:ext cx="11064240" cy="685800"/>
          </a:xfrm>
          <a:prstGeom prst="roundRect">
            <a:avLst>
              <a:gd name="adj" fmla="val 16000"/>
            </a:avLst>
          </a:prstGeom>
          <a:solidFill>
            <a:schemeClr val="bg2"/>
          </a:solidFill>
          <a:ln/>
        </p:spPr>
      </p:sp>
      <p:sp>
        <p:nvSpPr>
          <p:cNvPr id="26" name="Text 24"/>
          <p:cNvSpPr txBox="1"/>
          <p:nvPr/>
        </p:nvSpPr>
        <p:spPr>
          <a:xfrm>
            <a:off x="777240" y="5303520"/>
            <a:ext cx="2286000" cy="685800"/>
          </a:xfrm>
          <a:prstGeom prst="rect">
            <a:avLst/>
          </a:prstGeom>
          <a:noFill/>
          <a:ln/>
        </p:spPr>
        <p:txBody>
          <a:bodyPr wrap="square" lIns="0" tIns="0" rIns="0" bIns="0" rtlCol="0" anchor="ctr"/>
          <a:lstStyle/>
          <a:p>
            <a:pPr indent="0" marL="0">
              <a:buNone/>
            </a:pPr>
            <a:r>
              <a:rPr lang="en-US" sz="1800" b="1" dirty="0">
                <a:solidFill>
                  <a:schemeClr val="tx1"/>
                </a:solidFill>
              </a:rPr>
              <a:t>Portability</a:t>
            </a:r>
            <a:endParaRPr lang="en-US" sz="1800" dirty="0"/>
          </a:p>
        </p:txBody>
      </p:sp>
      <p:sp>
        <p:nvSpPr>
          <p:cNvPr id="27" name="Text 25"/>
          <p:cNvSpPr txBox="1"/>
          <p:nvPr/>
        </p:nvSpPr>
        <p:spPr>
          <a:xfrm>
            <a:off x="3200400" y="5303520"/>
            <a:ext cx="4023360" cy="685800"/>
          </a:xfrm>
          <a:prstGeom prst="rect">
            <a:avLst/>
          </a:prstGeom>
          <a:noFill/>
          <a:ln/>
        </p:spPr>
        <p:txBody>
          <a:bodyPr wrap="square" lIns="0" tIns="0" rIns="0" bIns="0" rtlCol="0" anchor="ctr"/>
          <a:lstStyle/>
          <a:p>
            <a:pPr algn="ctr" indent="0" marL="0">
              <a:buNone/>
            </a:pPr>
            <a:r>
              <a:rPr lang="en-US" sz="1700" dirty="0">
                <a:solidFill>
                  <a:schemeClr val="tx2"/>
                </a:solidFill>
              </a:rPr>
              <a:t>Heavy image files</a:t>
            </a:r>
            <a:endParaRPr lang="en-US" sz="1700" dirty="0"/>
          </a:p>
        </p:txBody>
      </p:sp>
      <p:sp>
        <p:nvSpPr>
          <p:cNvPr id="28" name="Text 26"/>
          <p:cNvSpPr txBox="1"/>
          <p:nvPr/>
        </p:nvSpPr>
        <p:spPr>
          <a:xfrm>
            <a:off x="7498080" y="5303520"/>
            <a:ext cx="4114800" cy="685800"/>
          </a:xfrm>
          <a:prstGeom prst="rect">
            <a:avLst/>
          </a:prstGeom>
          <a:noFill/>
          <a:ln/>
        </p:spPr>
        <p:txBody>
          <a:bodyPr wrap="square" lIns="0" tIns="0" rIns="0" bIns="0" rtlCol="0" anchor="ctr"/>
          <a:lstStyle/>
          <a:p>
            <a:pPr algn="ctr" indent="0" marL="0">
              <a:buNone/>
            </a:pPr>
            <a:r>
              <a:rPr lang="en-US" sz="1700" dirty="0">
                <a:solidFill>
                  <a:schemeClr val="tx2"/>
                </a:solidFill>
              </a:rPr>
              <a:t>Same image runs anywhere Docker runs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 container is just a Linux process with walls</a:t>
            </a:r>
            <a:endParaRPr lang="en-US" sz="3400" dirty="0"/>
          </a:p>
        </p:txBody>
      </p:sp>
      <p:sp>
        <p:nvSpPr>
          <p:cNvPr id="3" name="Shape 1"/>
          <p:cNvSpPr/>
          <p:nvPr/>
        </p:nvSpPr>
        <p:spPr>
          <a:xfrm>
            <a:off x="548640" y="1508760"/>
            <a:ext cx="3520440" cy="4023360"/>
          </a:xfrm>
          <a:prstGeom prst="roundRect">
            <a:avLst>
              <a:gd name="adj" fmla="val 3117"/>
            </a:avLst>
          </a:prstGeom>
          <a:solidFill>
            <a:schemeClr val="bg2"/>
          </a:solidFill>
          <a:ln/>
        </p:spPr>
      </p:sp>
      <p:sp>
        <p:nvSpPr>
          <p:cNvPr id="4" name="Shape 2"/>
          <p:cNvSpPr/>
          <p:nvPr/>
        </p:nvSpPr>
        <p:spPr>
          <a:xfrm>
            <a:off x="1851660" y="1828800"/>
            <a:ext cx="914400" cy="9144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2071116" y="2048256"/>
            <a:ext cx="475488" cy="475488"/>
          </a:xfrm>
          <a:prstGeom prst="rect">
            <a:avLst/>
          </a:prstGeom>
        </p:spPr>
      </p:pic>
      <p:sp>
        <p:nvSpPr>
          <p:cNvPr id="6" name="Text 3"/>
          <p:cNvSpPr txBox="1"/>
          <p:nvPr/>
        </p:nvSpPr>
        <p:spPr>
          <a:xfrm>
            <a:off x="777240" y="2926080"/>
            <a:ext cx="3063240" cy="502920"/>
          </a:xfrm>
          <a:prstGeom prst="rect">
            <a:avLst/>
          </a:prstGeom>
          <a:noFill/>
          <a:ln/>
        </p:spPr>
        <p:txBody>
          <a:bodyPr wrap="square" lIns="0" tIns="0" rIns="0" bIns="0" rtlCol="0" anchor="t"/>
          <a:lstStyle/>
          <a:p>
            <a:pPr algn="ctr" indent="0" marL="0">
              <a:buNone/>
            </a:pPr>
            <a:r>
              <a:rPr lang="en-US" sz="2400" b="1" dirty="0">
                <a:solidFill>
                  <a:schemeClr val="tx1"/>
                </a:solidFill>
              </a:rPr>
              <a:t>Namespaces</a:t>
            </a:r>
            <a:endParaRPr lang="en-US" sz="2400" dirty="0"/>
          </a:p>
        </p:txBody>
      </p:sp>
      <p:sp>
        <p:nvSpPr>
          <p:cNvPr id="7" name="Text 4"/>
          <p:cNvSpPr txBox="1"/>
          <p:nvPr/>
        </p:nvSpPr>
        <p:spPr>
          <a:xfrm>
            <a:off x="777240" y="3474720"/>
            <a:ext cx="3063240" cy="411480"/>
          </a:xfrm>
          <a:prstGeom prst="rect">
            <a:avLst/>
          </a:prstGeom>
          <a:noFill/>
          <a:ln/>
        </p:spPr>
        <p:txBody>
          <a:bodyPr wrap="square" lIns="0" tIns="0" rIns="0" bIns="0" rtlCol="0" anchor="t"/>
          <a:lstStyle/>
          <a:p>
            <a:pPr algn="ctr" indent="0" marL="0">
              <a:buNone/>
            </a:pPr>
            <a:r>
              <a:rPr lang="en-US" sz="1700" b="1" dirty="0">
                <a:solidFill>
                  <a:schemeClr val="accent1"/>
                </a:solidFill>
              </a:rPr>
              <a:t>What it can SEE</a:t>
            </a:r>
            <a:endParaRPr lang="en-US" sz="1700" dirty="0"/>
          </a:p>
        </p:txBody>
      </p:sp>
      <p:sp>
        <p:nvSpPr>
          <p:cNvPr id="8" name="Text 5"/>
          <p:cNvSpPr txBox="1"/>
          <p:nvPr/>
        </p:nvSpPr>
        <p:spPr>
          <a:xfrm>
            <a:off x="822960" y="4023360"/>
            <a:ext cx="2971800" cy="1371600"/>
          </a:xfrm>
          <a:prstGeom prst="rect">
            <a:avLst/>
          </a:prstGeom>
          <a:noFill/>
          <a:ln/>
        </p:spPr>
        <p:txBody>
          <a:bodyPr wrap="square" lIns="0" tIns="0" rIns="0" bIns="0" rtlCol="0" anchor="t"/>
          <a:lstStyle/>
          <a:p>
            <a:pPr algn="ctr" indent="0" marL="0">
              <a:buNone/>
            </a:pPr>
            <a:r>
              <a:rPr lang="en-US" sz="1600" dirty="0">
                <a:solidFill>
                  <a:schemeClr val="tx2"/>
                </a:solidFill>
              </a:rPr>
              <a:t>Its own process list, network, hostname and filesystem view.</a:t>
            </a:r>
            <a:endParaRPr lang="en-US" sz="1600" dirty="0"/>
          </a:p>
        </p:txBody>
      </p:sp>
      <p:sp>
        <p:nvSpPr>
          <p:cNvPr id="9" name="Shape 6"/>
          <p:cNvSpPr/>
          <p:nvPr/>
        </p:nvSpPr>
        <p:spPr>
          <a:xfrm>
            <a:off x="4297680" y="1508760"/>
            <a:ext cx="3520440" cy="4023360"/>
          </a:xfrm>
          <a:prstGeom prst="roundRect">
            <a:avLst>
              <a:gd name="adj" fmla="val 3117"/>
            </a:avLst>
          </a:prstGeom>
          <a:solidFill>
            <a:schemeClr val="bg2"/>
          </a:solidFill>
          <a:ln/>
        </p:spPr>
      </p:sp>
      <p:sp>
        <p:nvSpPr>
          <p:cNvPr id="10" name="Shape 7"/>
          <p:cNvSpPr/>
          <p:nvPr/>
        </p:nvSpPr>
        <p:spPr>
          <a:xfrm>
            <a:off x="5600700" y="1828800"/>
            <a:ext cx="914400" cy="91440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5820156" y="2048256"/>
            <a:ext cx="475488" cy="475488"/>
          </a:xfrm>
          <a:prstGeom prst="rect">
            <a:avLst/>
          </a:prstGeom>
        </p:spPr>
      </p:pic>
      <p:sp>
        <p:nvSpPr>
          <p:cNvPr id="12" name="Text 8"/>
          <p:cNvSpPr txBox="1"/>
          <p:nvPr/>
        </p:nvSpPr>
        <p:spPr>
          <a:xfrm>
            <a:off x="4526280" y="2926080"/>
            <a:ext cx="3063240" cy="502920"/>
          </a:xfrm>
          <a:prstGeom prst="rect">
            <a:avLst/>
          </a:prstGeom>
          <a:noFill/>
          <a:ln/>
        </p:spPr>
        <p:txBody>
          <a:bodyPr wrap="square" lIns="0" tIns="0" rIns="0" bIns="0" rtlCol="0" anchor="t"/>
          <a:lstStyle/>
          <a:p>
            <a:pPr algn="ctr" indent="0" marL="0">
              <a:buNone/>
            </a:pPr>
            <a:r>
              <a:rPr lang="en-US" sz="2400" b="1" dirty="0">
                <a:solidFill>
                  <a:schemeClr val="tx1"/>
                </a:solidFill>
              </a:rPr>
              <a:t>cgroups</a:t>
            </a:r>
            <a:endParaRPr lang="en-US" sz="2400" dirty="0"/>
          </a:p>
        </p:txBody>
      </p:sp>
      <p:sp>
        <p:nvSpPr>
          <p:cNvPr id="13" name="Text 9"/>
          <p:cNvSpPr txBox="1"/>
          <p:nvPr/>
        </p:nvSpPr>
        <p:spPr>
          <a:xfrm>
            <a:off x="4526280" y="3474720"/>
            <a:ext cx="3063240" cy="411480"/>
          </a:xfrm>
          <a:prstGeom prst="rect">
            <a:avLst/>
          </a:prstGeom>
          <a:noFill/>
          <a:ln/>
        </p:spPr>
        <p:txBody>
          <a:bodyPr wrap="square" lIns="0" tIns="0" rIns="0" bIns="0" rtlCol="0" anchor="t"/>
          <a:lstStyle/>
          <a:p>
            <a:pPr algn="ctr" indent="0" marL="0">
              <a:buNone/>
            </a:pPr>
            <a:r>
              <a:rPr lang="en-US" sz="1700" b="1" dirty="0">
                <a:solidFill>
                  <a:schemeClr val="accent2"/>
                </a:solidFill>
              </a:rPr>
              <a:t>What it can USE</a:t>
            </a:r>
            <a:endParaRPr lang="en-US" sz="1700" dirty="0"/>
          </a:p>
        </p:txBody>
      </p:sp>
      <p:sp>
        <p:nvSpPr>
          <p:cNvPr id="14" name="Text 10"/>
          <p:cNvSpPr txBox="1"/>
          <p:nvPr/>
        </p:nvSpPr>
        <p:spPr>
          <a:xfrm>
            <a:off x="4572000" y="4023360"/>
            <a:ext cx="2971800" cy="1371600"/>
          </a:xfrm>
          <a:prstGeom prst="rect">
            <a:avLst/>
          </a:prstGeom>
          <a:noFill/>
          <a:ln/>
        </p:spPr>
        <p:txBody>
          <a:bodyPr wrap="square" lIns="0" tIns="0" rIns="0" bIns="0" rtlCol="0" anchor="t"/>
          <a:lstStyle/>
          <a:p>
            <a:pPr algn="ctr" indent="0" marL="0">
              <a:buNone/>
            </a:pPr>
            <a:r>
              <a:rPr lang="en-US" sz="1600" dirty="0">
                <a:solidFill>
                  <a:schemeClr val="tx2"/>
                </a:solidFill>
              </a:rPr>
              <a:t>Limits on CPU, memory and I/O, so one container can’t starve the rest.</a:t>
            </a:r>
            <a:endParaRPr lang="en-US" sz="1600" dirty="0"/>
          </a:p>
        </p:txBody>
      </p:sp>
      <p:sp>
        <p:nvSpPr>
          <p:cNvPr id="15" name="Shape 11"/>
          <p:cNvSpPr/>
          <p:nvPr/>
        </p:nvSpPr>
        <p:spPr>
          <a:xfrm>
            <a:off x="8046720" y="1508760"/>
            <a:ext cx="3520440" cy="4023360"/>
          </a:xfrm>
          <a:prstGeom prst="roundRect">
            <a:avLst>
              <a:gd name="adj" fmla="val 3117"/>
            </a:avLst>
          </a:prstGeom>
          <a:solidFill>
            <a:schemeClr val="bg2"/>
          </a:solidFill>
          <a:ln/>
        </p:spPr>
      </p:sp>
      <p:sp>
        <p:nvSpPr>
          <p:cNvPr id="16" name="Shape 12"/>
          <p:cNvSpPr/>
          <p:nvPr/>
        </p:nvSpPr>
        <p:spPr>
          <a:xfrm>
            <a:off x="9349740" y="1828800"/>
            <a:ext cx="914400" cy="914400"/>
          </a:xfrm>
          <a:prstGeom prst="ellipse">
            <a:avLst/>
          </a:prstGeom>
          <a:solidFill>
            <a:schemeClr val="accent5"/>
          </a:solidFill>
          <a:ln/>
        </p:spPr>
      </p:sp>
      <p:pic>
        <p:nvPicPr>
          <p:cNvPr id="17" name="Image 2" descr="preencoded.png">    </p:cNvPr>
          <p:cNvPicPr>
            <a:picLocks noChangeAspect="1"/>
          </p:cNvPicPr>
          <p:nvPr/>
        </p:nvPicPr>
        <p:blipFill>
          <a:blip r:embed="rId3"/>
          <a:stretch>
            <a:fillRect/>
          </a:stretch>
        </p:blipFill>
        <p:spPr>
          <a:xfrm>
            <a:off x="9569196" y="2048256"/>
            <a:ext cx="475488" cy="475488"/>
          </a:xfrm>
          <a:prstGeom prst="rect">
            <a:avLst/>
          </a:prstGeom>
        </p:spPr>
      </p:pic>
      <p:sp>
        <p:nvSpPr>
          <p:cNvPr id="18" name="Text 13"/>
          <p:cNvSpPr txBox="1"/>
          <p:nvPr/>
        </p:nvSpPr>
        <p:spPr>
          <a:xfrm>
            <a:off x="8275320" y="2926080"/>
            <a:ext cx="3063240" cy="502920"/>
          </a:xfrm>
          <a:prstGeom prst="rect">
            <a:avLst/>
          </a:prstGeom>
          <a:noFill/>
          <a:ln/>
        </p:spPr>
        <p:txBody>
          <a:bodyPr wrap="square" lIns="0" tIns="0" rIns="0" bIns="0" rtlCol="0" anchor="t"/>
          <a:lstStyle/>
          <a:p>
            <a:pPr algn="ctr" indent="0" marL="0">
              <a:buNone/>
            </a:pPr>
            <a:r>
              <a:rPr lang="en-US" sz="2400" b="1" dirty="0">
                <a:solidFill>
                  <a:schemeClr val="tx1"/>
                </a:solidFill>
              </a:rPr>
              <a:t>Image filesystem</a:t>
            </a:r>
            <a:endParaRPr lang="en-US" sz="2400" dirty="0"/>
          </a:p>
        </p:txBody>
      </p:sp>
      <p:sp>
        <p:nvSpPr>
          <p:cNvPr id="19" name="Text 14"/>
          <p:cNvSpPr txBox="1"/>
          <p:nvPr/>
        </p:nvSpPr>
        <p:spPr>
          <a:xfrm>
            <a:off x="8275320" y="3474720"/>
            <a:ext cx="3063240" cy="411480"/>
          </a:xfrm>
          <a:prstGeom prst="rect">
            <a:avLst/>
          </a:prstGeom>
          <a:noFill/>
          <a:ln/>
        </p:spPr>
        <p:txBody>
          <a:bodyPr wrap="square" lIns="0" tIns="0" rIns="0" bIns="0" rtlCol="0" anchor="t"/>
          <a:lstStyle/>
          <a:p>
            <a:pPr algn="ctr" indent="0" marL="0">
              <a:buNone/>
            </a:pPr>
            <a:r>
              <a:rPr lang="en-US" sz="1700" b="1" dirty="0">
                <a:solidFill>
                  <a:schemeClr val="accent5"/>
                </a:solidFill>
              </a:rPr>
              <a:t>What it SHIPS with</a:t>
            </a:r>
            <a:endParaRPr lang="en-US" sz="1700" dirty="0"/>
          </a:p>
        </p:txBody>
      </p:sp>
      <p:sp>
        <p:nvSpPr>
          <p:cNvPr id="20" name="Text 15"/>
          <p:cNvSpPr txBox="1"/>
          <p:nvPr/>
        </p:nvSpPr>
        <p:spPr>
          <a:xfrm>
            <a:off x="8321040" y="4023360"/>
            <a:ext cx="2971800" cy="1371600"/>
          </a:xfrm>
          <a:prstGeom prst="rect">
            <a:avLst/>
          </a:prstGeom>
          <a:noFill/>
          <a:ln/>
        </p:spPr>
        <p:txBody>
          <a:bodyPr wrap="square" lIns="0" tIns="0" rIns="0" bIns="0" rtlCol="0" anchor="t"/>
          <a:lstStyle/>
          <a:p>
            <a:pPr algn="ctr" indent="0" marL="0">
              <a:buNone/>
            </a:pPr>
            <a:r>
              <a:rPr lang="en-US" sz="1600" dirty="0">
                <a:solidFill>
                  <a:schemeClr val="tx2"/>
                </a:solidFill>
              </a:rPr>
              <a:t>A stack of read-only layers holding the app, libraries and config.</a:t>
            </a:r>
            <a:endParaRPr lang="en-US" sz="1600" dirty="0"/>
          </a:p>
        </p:txBody>
      </p:sp>
      <p:sp>
        <p:nvSpPr>
          <p:cNvPr id="21" name="Text 16"/>
          <p:cNvSpPr txBox="1"/>
          <p:nvPr/>
        </p:nvSpPr>
        <p:spPr>
          <a:xfrm>
            <a:off x="548640" y="5806440"/>
            <a:ext cx="11064240" cy="411480"/>
          </a:xfrm>
          <a:prstGeom prst="rect">
            <a:avLst/>
          </a:prstGeom>
          <a:noFill/>
          <a:ln/>
        </p:spPr>
        <p:txBody>
          <a:bodyPr wrap="square" lIns="0" tIns="0" rIns="0" bIns="0" rtlCol="0" anchor="t"/>
          <a:lstStyle/>
          <a:p>
            <a:pPr algn="ctr" indent="0" marL="0">
              <a:buNone/>
            </a:pPr>
            <a:r>
              <a:rPr lang="en-US" sz="1700" i="1" dirty="0">
                <a:solidFill>
                  <a:schemeClr val="tx2"/>
                </a:solidFill>
              </a:rPr>
              <a:t>No hypervisor. No guest OS. Just kernel features that have existed for years.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Namespaces: what a container can see</a:t>
            </a:r>
            <a:endParaRPr lang="en-US" sz="3400" dirty="0"/>
          </a:p>
        </p:txBody>
      </p:sp>
      <p:sp>
        <p:nvSpPr>
          <p:cNvPr id="3" name="Shape 1"/>
          <p:cNvSpPr/>
          <p:nvPr/>
        </p:nvSpPr>
        <p:spPr>
          <a:xfrm>
            <a:off x="548640" y="1554480"/>
            <a:ext cx="3520440" cy="1920240"/>
          </a:xfrm>
          <a:prstGeom prst="roundRect">
            <a:avLst>
              <a:gd name="adj" fmla="val 5714"/>
            </a:avLst>
          </a:prstGeom>
          <a:solidFill>
            <a:schemeClr val="bg2"/>
          </a:solidFill>
          <a:ln/>
        </p:spPr>
      </p:sp>
      <p:sp>
        <p:nvSpPr>
          <p:cNvPr id="4" name="Shape 2"/>
          <p:cNvSpPr/>
          <p:nvPr/>
        </p:nvSpPr>
        <p:spPr>
          <a:xfrm>
            <a:off x="822960" y="187452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98525" y="2050085"/>
            <a:ext cx="380390" cy="380390"/>
          </a:xfrm>
          <a:prstGeom prst="rect">
            <a:avLst/>
          </a:prstGeom>
        </p:spPr>
      </p:pic>
      <p:sp>
        <p:nvSpPr>
          <p:cNvPr id="6" name="Text 3"/>
          <p:cNvSpPr txBox="1"/>
          <p:nvPr/>
        </p:nvSpPr>
        <p:spPr>
          <a:xfrm>
            <a:off x="1737360" y="1965960"/>
            <a:ext cx="2103120" cy="548640"/>
          </a:xfrm>
          <a:prstGeom prst="rect">
            <a:avLst/>
          </a:prstGeom>
          <a:noFill/>
          <a:ln/>
        </p:spPr>
        <p:txBody>
          <a:bodyPr wrap="square" lIns="0" tIns="0" rIns="0" bIns="0" rtlCol="0" anchor="ctr"/>
          <a:lstStyle/>
          <a:p>
            <a:pPr indent="0" marL="0">
              <a:buNone/>
            </a:pPr>
            <a:r>
              <a:rPr lang="en-US" sz="2600" b="1" dirty="0">
                <a:solidFill>
                  <a:schemeClr val="tx1"/>
                </a:solidFill>
              </a:rPr>
              <a:t>PID</a:t>
            </a:r>
            <a:endParaRPr lang="en-US" sz="2600" dirty="0"/>
          </a:p>
        </p:txBody>
      </p:sp>
      <p:sp>
        <p:nvSpPr>
          <p:cNvPr id="7" name="Text 4"/>
          <p:cNvSpPr txBox="1"/>
          <p:nvPr/>
        </p:nvSpPr>
        <p:spPr>
          <a:xfrm>
            <a:off x="822960" y="2697480"/>
            <a:ext cx="3017520" cy="685800"/>
          </a:xfrm>
          <a:prstGeom prst="rect">
            <a:avLst/>
          </a:prstGeom>
          <a:noFill/>
          <a:ln/>
        </p:spPr>
        <p:txBody>
          <a:bodyPr wrap="square" lIns="0" tIns="0" rIns="0" bIns="0" rtlCol="0" anchor="t"/>
          <a:lstStyle/>
          <a:p>
            <a:pPr indent="0" marL="0">
              <a:buNone/>
            </a:pPr>
            <a:r>
              <a:rPr lang="en-US" sz="1600" dirty="0">
                <a:solidFill>
                  <a:schemeClr val="tx2"/>
                </a:solidFill>
              </a:rPr>
              <a:t>Own process tree — your app is PID 1</a:t>
            </a:r>
            <a:endParaRPr lang="en-US" sz="1600" dirty="0"/>
          </a:p>
        </p:txBody>
      </p:sp>
      <p:sp>
        <p:nvSpPr>
          <p:cNvPr id="8" name="Shape 5"/>
          <p:cNvSpPr/>
          <p:nvPr/>
        </p:nvSpPr>
        <p:spPr>
          <a:xfrm>
            <a:off x="4297680" y="1554480"/>
            <a:ext cx="3520440" cy="1920240"/>
          </a:xfrm>
          <a:prstGeom prst="roundRect">
            <a:avLst>
              <a:gd name="adj" fmla="val 5714"/>
            </a:avLst>
          </a:prstGeom>
          <a:solidFill>
            <a:schemeClr val="bg2"/>
          </a:solidFill>
          <a:ln/>
        </p:spPr>
      </p:sp>
      <p:sp>
        <p:nvSpPr>
          <p:cNvPr id="9" name="Shape 6"/>
          <p:cNvSpPr/>
          <p:nvPr/>
        </p:nvSpPr>
        <p:spPr>
          <a:xfrm>
            <a:off x="4572000" y="1874520"/>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747565" y="2050085"/>
            <a:ext cx="380390" cy="380390"/>
          </a:xfrm>
          <a:prstGeom prst="rect">
            <a:avLst/>
          </a:prstGeom>
        </p:spPr>
      </p:pic>
      <p:sp>
        <p:nvSpPr>
          <p:cNvPr id="11" name="Text 7"/>
          <p:cNvSpPr txBox="1"/>
          <p:nvPr/>
        </p:nvSpPr>
        <p:spPr>
          <a:xfrm>
            <a:off x="5486400" y="1965960"/>
            <a:ext cx="2103120" cy="548640"/>
          </a:xfrm>
          <a:prstGeom prst="rect">
            <a:avLst/>
          </a:prstGeom>
          <a:noFill/>
          <a:ln/>
        </p:spPr>
        <p:txBody>
          <a:bodyPr wrap="square" lIns="0" tIns="0" rIns="0" bIns="0" rtlCol="0" anchor="ctr"/>
          <a:lstStyle/>
          <a:p>
            <a:pPr indent="0" marL="0">
              <a:buNone/>
            </a:pPr>
            <a:r>
              <a:rPr lang="en-US" sz="2600" b="1" dirty="0">
                <a:solidFill>
                  <a:schemeClr val="tx1"/>
                </a:solidFill>
              </a:rPr>
              <a:t>NET</a:t>
            </a:r>
            <a:endParaRPr lang="en-US" sz="2600" dirty="0"/>
          </a:p>
        </p:txBody>
      </p:sp>
      <p:sp>
        <p:nvSpPr>
          <p:cNvPr id="12" name="Text 8"/>
          <p:cNvSpPr txBox="1"/>
          <p:nvPr/>
        </p:nvSpPr>
        <p:spPr>
          <a:xfrm>
            <a:off x="4572000" y="2697480"/>
            <a:ext cx="3017520" cy="685800"/>
          </a:xfrm>
          <a:prstGeom prst="rect">
            <a:avLst/>
          </a:prstGeom>
          <a:noFill/>
          <a:ln/>
        </p:spPr>
        <p:txBody>
          <a:bodyPr wrap="square" lIns="0" tIns="0" rIns="0" bIns="0" rtlCol="0" anchor="t"/>
          <a:lstStyle/>
          <a:p>
            <a:pPr indent="0" marL="0">
              <a:buNone/>
            </a:pPr>
            <a:r>
              <a:rPr lang="en-US" sz="1600" dirty="0">
                <a:solidFill>
                  <a:schemeClr val="tx2"/>
                </a:solidFill>
              </a:rPr>
              <a:t>Own IP address, ports and interfaces</a:t>
            </a:r>
            <a:endParaRPr lang="en-US" sz="1600" dirty="0"/>
          </a:p>
        </p:txBody>
      </p:sp>
      <p:sp>
        <p:nvSpPr>
          <p:cNvPr id="13" name="Shape 9"/>
          <p:cNvSpPr/>
          <p:nvPr/>
        </p:nvSpPr>
        <p:spPr>
          <a:xfrm>
            <a:off x="8046720" y="1554480"/>
            <a:ext cx="3520440" cy="1920240"/>
          </a:xfrm>
          <a:prstGeom prst="roundRect">
            <a:avLst>
              <a:gd name="adj" fmla="val 5714"/>
            </a:avLst>
          </a:prstGeom>
          <a:solidFill>
            <a:schemeClr val="bg2"/>
          </a:solidFill>
          <a:ln/>
        </p:spPr>
      </p:sp>
      <p:sp>
        <p:nvSpPr>
          <p:cNvPr id="14" name="Shape 10"/>
          <p:cNvSpPr/>
          <p:nvPr/>
        </p:nvSpPr>
        <p:spPr>
          <a:xfrm>
            <a:off x="8321040" y="1874520"/>
            <a:ext cx="731520" cy="7315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496605" y="2050085"/>
            <a:ext cx="380390" cy="380390"/>
          </a:xfrm>
          <a:prstGeom prst="rect">
            <a:avLst/>
          </a:prstGeom>
        </p:spPr>
      </p:pic>
      <p:sp>
        <p:nvSpPr>
          <p:cNvPr id="16" name="Text 11"/>
          <p:cNvSpPr txBox="1"/>
          <p:nvPr/>
        </p:nvSpPr>
        <p:spPr>
          <a:xfrm>
            <a:off x="9235440" y="1965960"/>
            <a:ext cx="2103120" cy="548640"/>
          </a:xfrm>
          <a:prstGeom prst="rect">
            <a:avLst/>
          </a:prstGeom>
          <a:noFill/>
          <a:ln/>
        </p:spPr>
        <p:txBody>
          <a:bodyPr wrap="square" lIns="0" tIns="0" rIns="0" bIns="0" rtlCol="0" anchor="ctr"/>
          <a:lstStyle/>
          <a:p>
            <a:pPr indent="0" marL="0">
              <a:buNone/>
            </a:pPr>
            <a:r>
              <a:rPr lang="en-US" sz="2600" b="1" dirty="0">
                <a:solidFill>
                  <a:schemeClr val="tx1"/>
                </a:solidFill>
              </a:rPr>
              <a:t>MNT</a:t>
            </a:r>
            <a:endParaRPr lang="en-US" sz="2600" dirty="0"/>
          </a:p>
        </p:txBody>
      </p:sp>
      <p:sp>
        <p:nvSpPr>
          <p:cNvPr id="17" name="Text 12"/>
          <p:cNvSpPr txBox="1"/>
          <p:nvPr/>
        </p:nvSpPr>
        <p:spPr>
          <a:xfrm>
            <a:off x="8321040" y="2697480"/>
            <a:ext cx="3017520" cy="685800"/>
          </a:xfrm>
          <a:prstGeom prst="rect">
            <a:avLst/>
          </a:prstGeom>
          <a:noFill/>
          <a:ln/>
        </p:spPr>
        <p:txBody>
          <a:bodyPr wrap="square" lIns="0" tIns="0" rIns="0" bIns="0" rtlCol="0" anchor="t"/>
          <a:lstStyle/>
          <a:p>
            <a:pPr indent="0" marL="0">
              <a:buNone/>
            </a:pPr>
            <a:r>
              <a:rPr lang="en-US" sz="1600" dirty="0">
                <a:solidFill>
                  <a:schemeClr val="tx2"/>
                </a:solidFill>
              </a:rPr>
              <a:t>Own view of the filesystem</a:t>
            </a:r>
            <a:endParaRPr lang="en-US" sz="1600" dirty="0"/>
          </a:p>
        </p:txBody>
      </p:sp>
      <p:sp>
        <p:nvSpPr>
          <p:cNvPr id="18" name="Shape 13"/>
          <p:cNvSpPr/>
          <p:nvPr/>
        </p:nvSpPr>
        <p:spPr>
          <a:xfrm>
            <a:off x="548640" y="3749040"/>
            <a:ext cx="3520440" cy="1920240"/>
          </a:xfrm>
          <a:prstGeom prst="roundRect">
            <a:avLst>
              <a:gd name="adj" fmla="val 5714"/>
            </a:avLst>
          </a:prstGeom>
          <a:solidFill>
            <a:schemeClr val="bg2"/>
          </a:solidFill>
          <a:ln/>
        </p:spPr>
      </p:sp>
      <p:sp>
        <p:nvSpPr>
          <p:cNvPr id="19" name="Shape 14"/>
          <p:cNvSpPr/>
          <p:nvPr/>
        </p:nvSpPr>
        <p:spPr>
          <a:xfrm>
            <a:off x="822960" y="4069080"/>
            <a:ext cx="731520" cy="7315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98525" y="4244645"/>
            <a:ext cx="380390" cy="380390"/>
          </a:xfrm>
          <a:prstGeom prst="rect">
            <a:avLst/>
          </a:prstGeom>
        </p:spPr>
      </p:pic>
      <p:sp>
        <p:nvSpPr>
          <p:cNvPr id="21" name="Text 15"/>
          <p:cNvSpPr txBox="1"/>
          <p:nvPr/>
        </p:nvSpPr>
        <p:spPr>
          <a:xfrm>
            <a:off x="1737360" y="4160520"/>
            <a:ext cx="2103120" cy="548640"/>
          </a:xfrm>
          <a:prstGeom prst="rect">
            <a:avLst/>
          </a:prstGeom>
          <a:noFill/>
          <a:ln/>
        </p:spPr>
        <p:txBody>
          <a:bodyPr wrap="square" lIns="0" tIns="0" rIns="0" bIns="0" rtlCol="0" anchor="ctr"/>
          <a:lstStyle/>
          <a:p>
            <a:pPr indent="0" marL="0">
              <a:buNone/>
            </a:pPr>
            <a:r>
              <a:rPr lang="en-US" sz="2600" b="1" dirty="0">
                <a:solidFill>
                  <a:schemeClr val="tx1"/>
                </a:solidFill>
              </a:rPr>
              <a:t>UTS</a:t>
            </a:r>
            <a:endParaRPr lang="en-US" sz="2600" dirty="0"/>
          </a:p>
        </p:txBody>
      </p:sp>
      <p:sp>
        <p:nvSpPr>
          <p:cNvPr id="22" name="Text 16"/>
          <p:cNvSpPr txBox="1"/>
          <p:nvPr/>
        </p:nvSpPr>
        <p:spPr>
          <a:xfrm>
            <a:off x="822960" y="4892040"/>
            <a:ext cx="3017520" cy="685800"/>
          </a:xfrm>
          <a:prstGeom prst="rect">
            <a:avLst/>
          </a:prstGeom>
          <a:noFill/>
          <a:ln/>
        </p:spPr>
        <p:txBody>
          <a:bodyPr wrap="square" lIns="0" tIns="0" rIns="0" bIns="0" rtlCol="0" anchor="t"/>
          <a:lstStyle/>
          <a:p>
            <a:pPr indent="0" marL="0">
              <a:buNone/>
            </a:pPr>
            <a:r>
              <a:rPr lang="en-US" sz="1600" dirty="0">
                <a:solidFill>
                  <a:schemeClr val="tx2"/>
                </a:solidFill>
              </a:rPr>
              <a:t>Own hostname</a:t>
            </a:r>
            <a:endParaRPr lang="en-US" sz="1600" dirty="0"/>
          </a:p>
        </p:txBody>
      </p:sp>
      <p:sp>
        <p:nvSpPr>
          <p:cNvPr id="23" name="Shape 17"/>
          <p:cNvSpPr/>
          <p:nvPr/>
        </p:nvSpPr>
        <p:spPr>
          <a:xfrm>
            <a:off x="4297680" y="3749040"/>
            <a:ext cx="3520440" cy="1920240"/>
          </a:xfrm>
          <a:prstGeom prst="roundRect">
            <a:avLst>
              <a:gd name="adj" fmla="val 5714"/>
            </a:avLst>
          </a:prstGeom>
          <a:solidFill>
            <a:schemeClr val="bg2"/>
          </a:solidFill>
          <a:ln/>
        </p:spPr>
      </p:sp>
      <p:sp>
        <p:nvSpPr>
          <p:cNvPr id="24" name="Shape 18"/>
          <p:cNvSpPr/>
          <p:nvPr/>
        </p:nvSpPr>
        <p:spPr>
          <a:xfrm>
            <a:off x="4572000" y="4069080"/>
            <a:ext cx="731520" cy="7315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4747565" y="4244645"/>
            <a:ext cx="380390" cy="380390"/>
          </a:xfrm>
          <a:prstGeom prst="rect">
            <a:avLst/>
          </a:prstGeom>
        </p:spPr>
      </p:pic>
      <p:sp>
        <p:nvSpPr>
          <p:cNvPr id="26" name="Text 19"/>
          <p:cNvSpPr txBox="1"/>
          <p:nvPr/>
        </p:nvSpPr>
        <p:spPr>
          <a:xfrm>
            <a:off x="5486400" y="4160520"/>
            <a:ext cx="2103120" cy="548640"/>
          </a:xfrm>
          <a:prstGeom prst="rect">
            <a:avLst/>
          </a:prstGeom>
          <a:noFill/>
          <a:ln/>
        </p:spPr>
        <p:txBody>
          <a:bodyPr wrap="square" lIns="0" tIns="0" rIns="0" bIns="0" rtlCol="0" anchor="ctr"/>
          <a:lstStyle/>
          <a:p>
            <a:pPr indent="0" marL="0">
              <a:buNone/>
            </a:pPr>
            <a:r>
              <a:rPr lang="en-US" sz="2600" b="1" dirty="0">
                <a:solidFill>
                  <a:schemeClr val="tx1"/>
                </a:solidFill>
              </a:rPr>
              <a:t>IPC</a:t>
            </a:r>
            <a:endParaRPr lang="en-US" sz="2600" dirty="0"/>
          </a:p>
        </p:txBody>
      </p:sp>
      <p:sp>
        <p:nvSpPr>
          <p:cNvPr id="27" name="Text 20"/>
          <p:cNvSpPr txBox="1"/>
          <p:nvPr/>
        </p:nvSpPr>
        <p:spPr>
          <a:xfrm>
            <a:off x="4572000" y="4892040"/>
            <a:ext cx="3017520" cy="685800"/>
          </a:xfrm>
          <a:prstGeom prst="rect">
            <a:avLst/>
          </a:prstGeom>
          <a:noFill/>
          <a:ln/>
        </p:spPr>
        <p:txBody>
          <a:bodyPr wrap="square" lIns="0" tIns="0" rIns="0" bIns="0" rtlCol="0" anchor="t"/>
          <a:lstStyle/>
          <a:p>
            <a:pPr indent="0" marL="0">
              <a:buNone/>
            </a:pPr>
            <a:r>
              <a:rPr lang="en-US" sz="1600" dirty="0">
                <a:solidFill>
                  <a:schemeClr val="tx2"/>
                </a:solidFill>
              </a:rPr>
              <a:t>Own shared memory and message queues</a:t>
            </a:r>
            <a:endParaRPr lang="en-US" sz="1600" dirty="0"/>
          </a:p>
        </p:txBody>
      </p:sp>
      <p:sp>
        <p:nvSpPr>
          <p:cNvPr id="28" name="Shape 21"/>
          <p:cNvSpPr/>
          <p:nvPr/>
        </p:nvSpPr>
        <p:spPr>
          <a:xfrm>
            <a:off x="8046720" y="3749040"/>
            <a:ext cx="3520440" cy="1920240"/>
          </a:xfrm>
          <a:prstGeom prst="roundRect">
            <a:avLst>
              <a:gd name="adj" fmla="val 5714"/>
            </a:avLst>
          </a:prstGeom>
          <a:solidFill>
            <a:schemeClr val="bg2"/>
          </a:solidFill>
          <a:ln/>
        </p:spPr>
      </p:sp>
      <p:sp>
        <p:nvSpPr>
          <p:cNvPr id="29" name="Shape 22"/>
          <p:cNvSpPr/>
          <p:nvPr/>
        </p:nvSpPr>
        <p:spPr>
          <a:xfrm>
            <a:off x="8321040" y="4069080"/>
            <a:ext cx="731520" cy="73152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8496605" y="4244645"/>
            <a:ext cx="380390" cy="380390"/>
          </a:xfrm>
          <a:prstGeom prst="rect">
            <a:avLst/>
          </a:prstGeom>
        </p:spPr>
      </p:pic>
      <p:sp>
        <p:nvSpPr>
          <p:cNvPr id="31" name="Text 23"/>
          <p:cNvSpPr txBox="1"/>
          <p:nvPr/>
        </p:nvSpPr>
        <p:spPr>
          <a:xfrm>
            <a:off x="9235440" y="4160520"/>
            <a:ext cx="2103120" cy="548640"/>
          </a:xfrm>
          <a:prstGeom prst="rect">
            <a:avLst/>
          </a:prstGeom>
          <a:noFill/>
          <a:ln/>
        </p:spPr>
        <p:txBody>
          <a:bodyPr wrap="square" lIns="0" tIns="0" rIns="0" bIns="0" rtlCol="0" anchor="ctr"/>
          <a:lstStyle/>
          <a:p>
            <a:pPr indent="0" marL="0">
              <a:buNone/>
            </a:pPr>
            <a:r>
              <a:rPr lang="en-US" sz="2600" b="1" dirty="0">
                <a:solidFill>
                  <a:schemeClr val="tx1"/>
                </a:solidFill>
              </a:rPr>
              <a:t>USER</a:t>
            </a:r>
            <a:endParaRPr lang="en-US" sz="2600" dirty="0"/>
          </a:p>
        </p:txBody>
      </p:sp>
      <p:sp>
        <p:nvSpPr>
          <p:cNvPr id="32" name="Text 24"/>
          <p:cNvSpPr txBox="1"/>
          <p:nvPr/>
        </p:nvSpPr>
        <p:spPr>
          <a:xfrm>
            <a:off x="8321040" y="4892040"/>
            <a:ext cx="3017520" cy="685800"/>
          </a:xfrm>
          <a:prstGeom prst="rect">
            <a:avLst/>
          </a:prstGeom>
          <a:noFill/>
          <a:ln/>
        </p:spPr>
        <p:txBody>
          <a:bodyPr wrap="square" lIns="0" tIns="0" rIns="0" bIns="0" rtlCol="0" anchor="t"/>
          <a:lstStyle/>
          <a:p>
            <a:pPr indent="0" marL="0">
              <a:buNone/>
            </a:pPr>
            <a:r>
              <a:rPr lang="en-US" sz="1600" dirty="0">
                <a:solidFill>
                  <a:schemeClr val="tx2"/>
                </a:solidFill>
              </a:rPr>
              <a:t>Root inside can map to a normal user outside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Image vs container</a:t>
            </a:r>
            <a:endParaRPr lang="en-US" sz="3400" dirty="0"/>
          </a:p>
        </p:txBody>
      </p:sp>
      <p:sp>
        <p:nvSpPr>
          <p:cNvPr id="3" name="Shape 1"/>
          <p:cNvSpPr/>
          <p:nvPr/>
        </p:nvSpPr>
        <p:spPr>
          <a:xfrm>
            <a:off x="548640" y="1554480"/>
            <a:ext cx="3291840" cy="4023360"/>
          </a:xfrm>
          <a:prstGeom prst="roundRect">
            <a:avLst>
              <a:gd name="adj" fmla="val 3333"/>
            </a:avLst>
          </a:prstGeom>
          <a:solidFill>
            <a:schemeClr val="tx2"/>
          </a:solidFill>
          <a:ln/>
        </p:spPr>
      </p:sp>
      <p:sp>
        <p:nvSpPr>
          <p:cNvPr id="4" name="Shape 2"/>
          <p:cNvSpPr/>
          <p:nvPr/>
        </p:nvSpPr>
        <p:spPr>
          <a:xfrm>
            <a:off x="1691640" y="1874520"/>
            <a:ext cx="1005840" cy="1005840"/>
          </a:xfrm>
          <a:prstGeom prst="ellipse">
            <a:avLst/>
          </a:prstGeom>
          <a:solidFill>
            <a:schemeClr val="accent5"/>
          </a:solidFill>
          <a:ln/>
        </p:spPr>
      </p:sp>
      <p:pic>
        <p:nvPicPr>
          <p:cNvPr id="5" name="Image 0" descr="preencoded.png">    </p:cNvPr>
          <p:cNvPicPr>
            <a:picLocks noChangeAspect="1"/>
          </p:cNvPicPr>
          <p:nvPr/>
        </p:nvPicPr>
        <p:blipFill>
          <a:blip r:embed="rId1"/>
          <a:stretch>
            <a:fillRect/>
          </a:stretch>
        </p:blipFill>
        <p:spPr>
          <a:xfrm>
            <a:off x="1933042" y="2115922"/>
            <a:ext cx="523037" cy="523037"/>
          </a:xfrm>
          <a:prstGeom prst="rect">
            <a:avLst/>
          </a:prstGeom>
        </p:spPr>
      </p:pic>
      <p:sp>
        <p:nvSpPr>
          <p:cNvPr id="6" name="Text 3"/>
          <p:cNvSpPr txBox="1"/>
          <p:nvPr/>
        </p:nvSpPr>
        <p:spPr>
          <a:xfrm>
            <a:off x="548640" y="3017520"/>
            <a:ext cx="3291840" cy="548640"/>
          </a:xfrm>
          <a:prstGeom prst="rect">
            <a:avLst/>
          </a:prstGeom>
          <a:noFill/>
          <a:ln/>
        </p:spPr>
        <p:txBody>
          <a:bodyPr wrap="square" lIns="0" tIns="0" rIns="0" bIns="0" rtlCol="0" anchor="t"/>
          <a:lstStyle/>
          <a:p>
            <a:pPr algn="ctr" indent="0" marL="0">
              <a:buNone/>
            </a:pPr>
            <a:r>
              <a:rPr lang="en-US" sz="2800" b="1" dirty="0">
                <a:solidFill>
                  <a:schemeClr val="bg1"/>
                </a:solidFill>
              </a:rPr>
              <a:t>Image</a:t>
            </a:r>
            <a:endParaRPr lang="en-US" sz="2800" dirty="0"/>
          </a:p>
        </p:txBody>
      </p:sp>
      <p:sp>
        <p:nvSpPr>
          <p:cNvPr id="7" name="Text 4"/>
          <p:cNvSpPr txBox="1"/>
          <p:nvPr/>
        </p:nvSpPr>
        <p:spPr>
          <a:xfrm>
            <a:off x="777240" y="3657600"/>
            <a:ext cx="2834640" cy="1097280"/>
          </a:xfrm>
          <a:prstGeom prst="rect">
            <a:avLst/>
          </a:prstGeom>
          <a:noFill/>
          <a:ln/>
        </p:spPr>
        <p:txBody>
          <a:bodyPr wrap="square" lIns="0" tIns="0" rIns="0" bIns="0" rtlCol="0" anchor="t"/>
          <a:lstStyle/>
          <a:p>
            <a:pPr algn="ctr" indent="0" marL="0">
              <a:buNone/>
            </a:pPr>
            <a:r>
              <a:rPr lang="en-US" sz="1600" dirty="0">
                <a:solidFill>
                  <a:schemeClr val="bg2"/>
                </a:solidFill>
              </a:rPr>
              <a:t>Read-only blueprint</a:t>
            </a:r>
            <a:endParaRPr lang="en-US" sz="1600" dirty="0"/>
          </a:p>
          <a:p>
            <a:pPr algn="ctr" indent="0" marL="0">
              <a:buNone/>
            </a:pPr>
            <a:r>
              <a:rPr lang="en-US" sz="1600" dirty="0">
                <a:solidFill>
                  <a:schemeClr val="bg2"/>
                </a:solidFill>
              </a:rPr>
              <a:t>Built once, shared, versioned</a:t>
            </a:r>
            <a:endParaRPr lang="en-US" sz="1600" dirty="0"/>
          </a:p>
        </p:txBody>
      </p:sp>
      <p:sp>
        <p:nvSpPr>
          <p:cNvPr id="8" name="Text 5"/>
          <p:cNvSpPr txBox="1"/>
          <p:nvPr/>
        </p:nvSpPr>
        <p:spPr>
          <a:xfrm>
            <a:off x="777240" y="4846320"/>
            <a:ext cx="2834640" cy="457200"/>
          </a:xfrm>
          <a:prstGeom prst="rect">
            <a:avLst/>
          </a:prstGeom>
          <a:noFill/>
          <a:ln/>
        </p:spPr>
        <p:txBody>
          <a:bodyPr wrap="square" lIns="0" tIns="0" rIns="0" bIns="0" rtlCol="0" anchor="t"/>
          <a:lstStyle/>
          <a:p>
            <a:pPr algn="ctr" indent="0" marL="0">
              <a:buNone/>
            </a:pPr>
            <a:r>
              <a:rPr lang="en-US" sz="1500" i="1" dirty="0">
                <a:solidFill>
                  <a:schemeClr val="accent2"/>
                </a:solidFill>
              </a:rPr>
              <a:t>like a class / a recipe</a:t>
            </a:r>
            <a:endParaRPr lang="en-US" sz="1500" dirty="0"/>
          </a:p>
        </p:txBody>
      </p:sp>
      <p:sp>
        <p:nvSpPr>
          <p:cNvPr id="9" name="Shape 6"/>
          <p:cNvSpPr/>
          <p:nvPr/>
        </p:nvSpPr>
        <p:spPr>
          <a:xfrm flipV="1">
            <a:off x="4023360" y="2194560"/>
            <a:ext cx="1097280" cy="1371600"/>
          </a:xfrm>
          <a:prstGeom prst="line">
            <a:avLst/>
          </a:prstGeom>
          <a:noFill/>
          <a:ln w="31750">
            <a:solidFill>
              <a:schemeClr val="accent6"/>
            </a:solidFill>
            <a:prstDash val="solid"/>
            <a:tailEnd type="triangle"/>
          </a:ln>
        </p:spPr>
      </p:sp>
      <p:sp>
        <p:nvSpPr>
          <p:cNvPr id="10" name="Shape 7"/>
          <p:cNvSpPr/>
          <p:nvPr/>
        </p:nvSpPr>
        <p:spPr>
          <a:xfrm>
            <a:off x="5303520" y="1691640"/>
            <a:ext cx="2926080" cy="1051560"/>
          </a:xfrm>
          <a:prstGeom prst="roundRect">
            <a:avLst>
              <a:gd name="adj" fmla="val 10435"/>
            </a:avLst>
          </a:prstGeom>
          <a:solidFill>
            <a:schemeClr val="bg2"/>
          </a:solidFill>
          <a:ln/>
        </p:spPr>
      </p:sp>
      <p:sp>
        <p:nvSpPr>
          <p:cNvPr id="11" name="Shape 8"/>
          <p:cNvSpPr/>
          <p:nvPr/>
        </p:nvSpPr>
        <p:spPr>
          <a:xfrm>
            <a:off x="5486400" y="1874520"/>
            <a:ext cx="685800" cy="68580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5650992" y="2039112"/>
            <a:ext cx="356616" cy="356616"/>
          </a:xfrm>
          <a:prstGeom prst="rect">
            <a:avLst/>
          </a:prstGeom>
        </p:spPr>
      </p:pic>
      <p:sp>
        <p:nvSpPr>
          <p:cNvPr id="13" name="Text 9"/>
          <p:cNvSpPr txBox="1"/>
          <p:nvPr/>
        </p:nvSpPr>
        <p:spPr>
          <a:xfrm>
            <a:off x="6355080" y="1783080"/>
            <a:ext cx="1828800" cy="457200"/>
          </a:xfrm>
          <a:prstGeom prst="rect">
            <a:avLst/>
          </a:prstGeom>
          <a:noFill/>
          <a:ln/>
        </p:spPr>
        <p:txBody>
          <a:bodyPr wrap="square" lIns="0" tIns="0" rIns="0" bIns="0" rtlCol="0" anchor="ctr"/>
          <a:lstStyle/>
          <a:p>
            <a:pPr indent="0" marL="0">
              <a:buNone/>
            </a:pPr>
            <a:r>
              <a:rPr lang="en-US" sz="1800" b="1" dirty="0">
                <a:solidFill>
                  <a:schemeClr val="tx1"/>
                </a:solidFill>
              </a:rPr>
              <a:t>Container 1</a:t>
            </a:r>
            <a:endParaRPr lang="en-US" sz="1800" dirty="0"/>
          </a:p>
        </p:txBody>
      </p:sp>
      <p:sp>
        <p:nvSpPr>
          <p:cNvPr id="14" name="Text 10"/>
          <p:cNvSpPr txBox="1"/>
          <p:nvPr/>
        </p:nvSpPr>
        <p:spPr>
          <a:xfrm>
            <a:off x="6355080" y="2240280"/>
            <a:ext cx="1828800" cy="365760"/>
          </a:xfrm>
          <a:prstGeom prst="rect">
            <a:avLst/>
          </a:prstGeom>
          <a:noFill/>
          <a:ln/>
        </p:spPr>
        <p:txBody>
          <a:bodyPr wrap="square" lIns="0" tIns="0" rIns="0" bIns="0" rtlCol="0" anchor="t"/>
          <a:lstStyle/>
          <a:p>
            <a:pPr indent="0" marL="0">
              <a:buNone/>
            </a:pPr>
            <a:r>
              <a:rPr lang="en-US" sz="1400" dirty="0">
                <a:solidFill>
                  <a:schemeClr val="tx2"/>
                </a:solidFill>
              </a:rPr>
              <a:t>running · writable</a:t>
            </a:r>
            <a:endParaRPr lang="en-US" sz="1400" dirty="0"/>
          </a:p>
        </p:txBody>
      </p:sp>
      <p:sp>
        <p:nvSpPr>
          <p:cNvPr id="15" name="Shape 11"/>
          <p:cNvSpPr/>
          <p:nvPr/>
        </p:nvSpPr>
        <p:spPr>
          <a:xfrm flipV="1">
            <a:off x="4023360" y="3520440"/>
            <a:ext cx="1097280" cy="45720"/>
          </a:xfrm>
          <a:prstGeom prst="line">
            <a:avLst/>
          </a:prstGeom>
          <a:noFill/>
          <a:ln w="31750">
            <a:solidFill>
              <a:schemeClr val="accent6"/>
            </a:solidFill>
            <a:prstDash val="solid"/>
            <a:tailEnd type="triangle"/>
          </a:ln>
        </p:spPr>
      </p:sp>
      <p:sp>
        <p:nvSpPr>
          <p:cNvPr id="16" name="Shape 12"/>
          <p:cNvSpPr/>
          <p:nvPr/>
        </p:nvSpPr>
        <p:spPr>
          <a:xfrm>
            <a:off x="5303520" y="3017520"/>
            <a:ext cx="2926080" cy="1051560"/>
          </a:xfrm>
          <a:prstGeom prst="roundRect">
            <a:avLst>
              <a:gd name="adj" fmla="val 10435"/>
            </a:avLst>
          </a:prstGeom>
          <a:solidFill>
            <a:schemeClr val="bg2"/>
          </a:solidFill>
          <a:ln/>
        </p:spPr>
      </p:sp>
      <p:sp>
        <p:nvSpPr>
          <p:cNvPr id="17" name="Shape 13"/>
          <p:cNvSpPr/>
          <p:nvPr/>
        </p:nvSpPr>
        <p:spPr>
          <a:xfrm>
            <a:off x="5486400" y="3200400"/>
            <a:ext cx="685800" cy="685800"/>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5650992" y="3364992"/>
            <a:ext cx="356616" cy="356616"/>
          </a:xfrm>
          <a:prstGeom prst="rect">
            <a:avLst/>
          </a:prstGeom>
        </p:spPr>
      </p:pic>
      <p:sp>
        <p:nvSpPr>
          <p:cNvPr id="19" name="Text 14"/>
          <p:cNvSpPr txBox="1"/>
          <p:nvPr/>
        </p:nvSpPr>
        <p:spPr>
          <a:xfrm>
            <a:off x="6355080" y="3108960"/>
            <a:ext cx="1828800" cy="457200"/>
          </a:xfrm>
          <a:prstGeom prst="rect">
            <a:avLst/>
          </a:prstGeom>
          <a:noFill/>
          <a:ln/>
        </p:spPr>
        <p:txBody>
          <a:bodyPr wrap="square" lIns="0" tIns="0" rIns="0" bIns="0" rtlCol="0" anchor="ctr"/>
          <a:lstStyle/>
          <a:p>
            <a:pPr indent="0" marL="0">
              <a:buNone/>
            </a:pPr>
            <a:r>
              <a:rPr lang="en-US" sz="1800" b="1" dirty="0">
                <a:solidFill>
                  <a:schemeClr val="tx1"/>
                </a:solidFill>
              </a:rPr>
              <a:t>Container 2</a:t>
            </a:r>
            <a:endParaRPr lang="en-US" sz="1800" dirty="0"/>
          </a:p>
        </p:txBody>
      </p:sp>
      <p:sp>
        <p:nvSpPr>
          <p:cNvPr id="20" name="Text 15"/>
          <p:cNvSpPr txBox="1"/>
          <p:nvPr/>
        </p:nvSpPr>
        <p:spPr>
          <a:xfrm>
            <a:off x="6355080" y="3566160"/>
            <a:ext cx="1828800" cy="365760"/>
          </a:xfrm>
          <a:prstGeom prst="rect">
            <a:avLst/>
          </a:prstGeom>
          <a:noFill/>
          <a:ln/>
        </p:spPr>
        <p:txBody>
          <a:bodyPr wrap="square" lIns="0" tIns="0" rIns="0" bIns="0" rtlCol="0" anchor="t"/>
          <a:lstStyle/>
          <a:p>
            <a:pPr indent="0" marL="0">
              <a:buNone/>
            </a:pPr>
            <a:r>
              <a:rPr lang="en-US" sz="1400" dirty="0">
                <a:solidFill>
                  <a:schemeClr val="tx2"/>
                </a:solidFill>
              </a:rPr>
              <a:t>running · writable</a:t>
            </a:r>
            <a:endParaRPr lang="en-US" sz="1400" dirty="0"/>
          </a:p>
        </p:txBody>
      </p:sp>
      <p:sp>
        <p:nvSpPr>
          <p:cNvPr id="21" name="Shape 16"/>
          <p:cNvSpPr/>
          <p:nvPr/>
        </p:nvSpPr>
        <p:spPr>
          <a:xfrm>
            <a:off x="4023360" y="3566160"/>
            <a:ext cx="1097280" cy="1280160"/>
          </a:xfrm>
          <a:prstGeom prst="line">
            <a:avLst/>
          </a:prstGeom>
          <a:noFill/>
          <a:ln w="31750">
            <a:solidFill>
              <a:schemeClr val="accent6"/>
            </a:solidFill>
            <a:prstDash val="solid"/>
            <a:tailEnd type="triangle"/>
          </a:ln>
        </p:spPr>
      </p:sp>
      <p:sp>
        <p:nvSpPr>
          <p:cNvPr id="22" name="Shape 17"/>
          <p:cNvSpPr/>
          <p:nvPr/>
        </p:nvSpPr>
        <p:spPr>
          <a:xfrm>
            <a:off x="5303520" y="4343400"/>
            <a:ext cx="2926080" cy="1051560"/>
          </a:xfrm>
          <a:prstGeom prst="roundRect">
            <a:avLst>
              <a:gd name="adj" fmla="val 10435"/>
            </a:avLst>
          </a:prstGeom>
          <a:solidFill>
            <a:schemeClr val="bg2"/>
          </a:solidFill>
          <a:ln/>
        </p:spPr>
      </p:sp>
      <p:sp>
        <p:nvSpPr>
          <p:cNvPr id="23" name="Shape 18"/>
          <p:cNvSpPr/>
          <p:nvPr/>
        </p:nvSpPr>
        <p:spPr>
          <a:xfrm>
            <a:off x="5486400" y="4526280"/>
            <a:ext cx="685800" cy="685800"/>
          </a:xfrm>
          <a:prstGeom prst="ellipse">
            <a:avLst/>
          </a:prstGeom>
          <a:solidFill>
            <a:schemeClr val="accent3"/>
          </a:solidFill>
          <a:ln/>
        </p:spPr>
      </p:sp>
      <p:pic>
        <p:nvPicPr>
          <p:cNvPr id="24" name="Image 3" descr="preencoded.png">    </p:cNvPr>
          <p:cNvPicPr>
            <a:picLocks noChangeAspect="1"/>
          </p:cNvPicPr>
          <p:nvPr/>
        </p:nvPicPr>
        <p:blipFill>
          <a:blip r:embed="rId4"/>
          <a:stretch>
            <a:fillRect/>
          </a:stretch>
        </p:blipFill>
        <p:spPr>
          <a:xfrm>
            <a:off x="5650992" y="4690872"/>
            <a:ext cx="356616" cy="356616"/>
          </a:xfrm>
          <a:prstGeom prst="rect">
            <a:avLst/>
          </a:prstGeom>
        </p:spPr>
      </p:pic>
      <p:sp>
        <p:nvSpPr>
          <p:cNvPr id="25" name="Text 19"/>
          <p:cNvSpPr txBox="1"/>
          <p:nvPr/>
        </p:nvSpPr>
        <p:spPr>
          <a:xfrm>
            <a:off x="6355080" y="4434840"/>
            <a:ext cx="1828800" cy="457200"/>
          </a:xfrm>
          <a:prstGeom prst="rect">
            <a:avLst/>
          </a:prstGeom>
          <a:noFill/>
          <a:ln/>
        </p:spPr>
        <p:txBody>
          <a:bodyPr wrap="square" lIns="0" tIns="0" rIns="0" bIns="0" rtlCol="0" anchor="ctr"/>
          <a:lstStyle/>
          <a:p>
            <a:pPr indent="0" marL="0">
              <a:buNone/>
            </a:pPr>
            <a:r>
              <a:rPr lang="en-US" sz="1800" b="1" dirty="0">
                <a:solidFill>
                  <a:schemeClr val="tx1"/>
                </a:solidFill>
              </a:rPr>
              <a:t>Container 3</a:t>
            </a:r>
            <a:endParaRPr lang="en-US" sz="1800" dirty="0"/>
          </a:p>
        </p:txBody>
      </p:sp>
      <p:sp>
        <p:nvSpPr>
          <p:cNvPr id="26" name="Text 20"/>
          <p:cNvSpPr txBox="1"/>
          <p:nvPr/>
        </p:nvSpPr>
        <p:spPr>
          <a:xfrm>
            <a:off x="6355080" y="4892040"/>
            <a:ext cx="1828800" cy="365760"/>
          </a:xfrm>
          <a:prstGeom prst="rect">
            <a:avLst/>
          </a:prstGeom>
          <a:noFill/>
          <a:ln/>
        </p:spPr>
        <p:txBody>
          <a:bodyPr wrap="square" lIns="0" tIns="0" rIns="0" bIns="0" rtlCol="0" anchor="t"/>
          <a:lstStyle/>
          <a:p>
            <a:pPr indent="0" marL="0">
              <a:buNone/>
            </a:pPr>
            <a:r>
              <a:rPr lang="en-US" sz="1400" dirty="0">
                <a:solidFill>
                  <a:schemeClr val="tx2"/>
                </a:solidFill>
              </a:rPr>
              <a:t>running · writable</a:t>
            </a:r>
            <a:endParaRPr lang="en-US" sz="1400" dirty="0"/>
          </a:p>
        </p:txBody>
      </p:sp>
      <p:sp>
        <p:nvSpPr>
          <p:cNvPr id="27" name="Text 21"/>
          <p:cNvSpPr txBox="1"/>
          <p:nvPr/>
        </p:nvSpPr>
        <p:spPr>
          <a:xfrm>
            <a:off x="8686800" y="1737360"/>
            <a:ext cx="2926080" cy="502920"/>
          </a:xfrm>
          <a:prstGeom prst="rect">
            <a:avLst/>
          </a:prstGeom>
          <a:noFill/>
          <a:ln/>
        </p:spPr>
        <p:txBody>
          <a:bodyPr wrap="square" lIns="0" tIns="0" rIns="0" bIns="0" rtlCol="0" anchor="t"/>
          <a:lstStyle/>
          <a:p>
            <a:pPr indent="0" marL="0">
              <a:buNone/>
            </a:pPr>
            <a:r>
              <a:rPr lang="en-US" sz="2400" b="1" dirty="0">
                <a:solidFill>
                  <a:schemeClr val="tx1"/>
                </a:solidFill>
              </a:rPr>
              <a:t>Container</a:t>
            </a:r>
            <a:endParaRPr lang="en-US" sz="2400" dirty="0"/>
          </a:p>
        </p:txBody>
      </p:sp>
      <p:sp>
        <p:nvSpPr>
          <p:cNvPr id="28" name="Text 22"/>
          <p:cNvSpPr txBox="1"/>
          <p:nvPr/>
        </p:nvSpPr>
        <p:spPr>
          <a:xfrm>
            <a:off x="8686800" y="2331720"/>
            <a:ext cx="292608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running instance of an image</a:t>
            </a:r>
            <a:endParaRPr lang="en-US" sz="1600" dirty="0"/>
          </a:p>
          <a:p>
            <a:pPr marL="342900" indent="-342900">
              <a:spcAft>
                <a:spcPts val="1000"/>
              </a:spcAft>
              <a:buSzPct val="100000"/>
              <a:buChar char="•"/>
            </a:pPr>
            <a:r>
              <a:rPr lang="en-US" sz="1600" dirty="0">
                <a:solidFill>
                  <a:schemeClr val="tx1"/>
                </a:solidFill>
              </a:rPr>
              <a:t>Gets a thin writable layer on top</a:t>
            </a:r>
            <a:endParaRPr lang="en-US" sz="1600" dirty="0"/>
          </a:p>
          <a:p>
            <a:pPr marL="342900" indent="-342900">
              <a:spcAft>
                <a:spcPts val="1000"/>
              </a:spcAft>
              <a:buSzPct val="100000"/>
              <a:buChar char="•"/>
            </a:pPr>
            <a:r>
              <a:rPr lang="en-US" sz="1600" dirty="0">
                <a:solidFill>
                  <a:schemeClr val="tx1"/>
                </a:solidFill>
              </a:rPr>
              <a:t>Delete it and that layer is gone</a:t>
            </a:r>
            <a:endParaRPr lang="en-US" sz="1600" dirty="0"/>
          </a:p>
          <a:p>
            <a:pPr marL="342900" indent="-342900">
              <a:spcAft>
                <a:spcPts val="1000"/>
              </a:spcAft>
              <a:buSzPct val="100000"/>
              <a:buChar char="•"/>
            </a:pPr>
            <a:r>
              <a:rPr lang="en-US" sz="1600" i="1" dirty="0">
                <a:solidFill>
                  <a:schemeClr val="tx1"/>
                </a:solidFill>
              </a:rPr>
              <a:t>like an object / a dish cooked from the recipe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Where Docker fits</a:t>
            </a:r>
            <a:endParaRPr lang="en-US" sz="3400" dirty="0"/>
          </a:p>
        </p:txBody>
      </p:sp>
      <p:sp>
        <p:nvSpPr>
          <p:cNvPr id="3" name="Shape 1"/>
          <p:cNvSpPr/>
          <p:nvPr/>
        </p:nvSpPr>
        <p:spPr>
          <a:xfrm>
            <a:off x="548640" y="1600200"/>
            <a:ext cx="1920240" cy="868680"/>
          </a:xfrm>
          <a:prstGeom prst="roundRect">
            <a:avLst>
              <a:gd name="adj" fmla="val 6316"/>
            </a:avLst>
          </a:prstGeom>
          <a:solidFill>
            <a:schemeClr val="accent1"/>
          </a:solidFill>
          <a:ln/>
        </p:spPr>
      </p:sp>
      <p:sp>
        <p:nvSpPr>
          <p:cNvPr id="4" name="Text 2"/>
          <p:cNvSpPr txBox="1"/>
          <p:nvPr/>
        </p:nvSpPr>
        <p:spPr>
          <a:xfrm>
            <a:off x="548640" y="1600200"/>
            <a:ext cx="1920240" cy="868680"/>
          </a:xfrm>
          <a:prstGeom prst="rect">
            <a:avLst/>
          </a:prstGeom>
          <a:noFill/>
          <a:ln/>
        </p:spPr>
        <p:txBody>
          <a:bodyPr wrap="square" lIns="0" tIns="0" rIns="0" bIns="0" rtlCol="0" anchor="ctr"/>
          <a:lstStyle/>
          <a:p>
            <a:pPr algn="ctr" indent="0" marL="0">
              <a:buNone/>
            </a:pPr>
            <a:r>
              <a:rPr lang="en-US" sz="1700" b="1" dirty="0">
                <a:solidFill>
                  <a:schemeClr val="bg1"/>
                </a:solidFill>
              </a:rPr>
              <a:t>docker CLI</a:t>
            </a:r>
            <a:endParaRPr lang="en-US" sz="1700" dirty="0"/>
          </a:p>
        </p:txBody>
      </p:sp>
      <p:sp>
        <p:nvSpPr>
          <p:cNvPr id="5" name="Text 3"/>
          <p:cNvSpPr txBox="1"/>
          <p:nvPr/>
        </p:nvSpPr>
        <p:spPr>
          <a:xfrm>
            <a:off x="548640" y="2560320"/>
            <a:ext cx="1920240" cy="457200"/>
          </a:xfrm>
          <a:prstGeom prst="rect">
            <a:avLst/>
          </a:prstGeom>
          <a:noFill/>
          <a:ln/>
        </p:spPr>
        <p:txBody>
          <a:bodyPr wrap="square" lIns="0" tIns="0" rIns="0" bIns="0" rtlCol="0" anchor="t"/>
          <a:lstStyle/>
          <a:p>
            <a:pPr algn="ctr" indent="0" marL="0">
              <a:buNone/>
            </a:pPr>
            <a:r>
              <a:rPr lang="en-US" sz="1400" dirty="0">
                <a:solidFill>
                  <a:schemeClr val="tx2"/>
                </a:solidFill>
              </a:rPr>
              <a:t>what you type</a:t>
            </a:r>
            <a:endParaRPr lang="en-US" sz="1400" dirty="0"/>
          </a:p>
        </p:txBody>
      </p:sp>
      <p:sp>
        <p:nvSpPr>
          <p:cNvPr id="6" name="Shape 4"/>
          <p:cNvSpPr/>
          <p:nvPr/>
        </p:nvSpPr>
        <p:spPr>
          <a:xfrm>
            <a:off x="2487168" y="2029968"/>
            <a:ext cx="329184" cy="914"/>
          </a:xfrm>
          <a:prstGeom prst="line">
            <a:avLst/>
          </a:prstGeom>
          <a:noFill/>
          <a:ln w="31750">
            <a:solidFill>
              <a:schemeClr val="accent6"/>
            </a:solidFill>
            <a:prstDash val="solid"/>
            <a:tailEnd type="triangle"/>
          </a:ln>
        </p:spPr>
      </p:sp>
      <p:sp>
        <p:nvSpPr>
          <p:cNvPr id="7" name="Shape 5"/>
          <p:cNvSpPr/>
          <p:nvPr/>
        </p:nvSpPr>
        <p:spPr>
          <a:xfrm>
            <a:off x="2834640" y="1600200"/>
            <a:ext cx="1920240" cy="868680"/>
          </a:xfrm>
          <a:prstGeom prst="roundRect">
            <a:avLst>
              <a:gd name="adj" fmla="val 6316"/>
            </a:avLst>
          </a:prstGeom>
          <a:solidFill>
            <a:schemeClr val="accent1"/>
          </a:solidFill>
          <a:ln/>
        </p:spPr>
      </p:sp>
      <p:sp>
        <p:nvSpPr>
          <p:cNvPr id="8" name="Text 6"/>
          <p:cNvSpPr txBox="1"/>
          <p:nvPr/>
        </p:nvSpPr>
        <p:spPr>
          <a:xfrm>
            <a:off x="2834640" y="1600200"/>
            <a:ext cx="1920240" cy="868680"/>
          </a:xfrm>
          <a:prstGeom prst="rect">
            <a:avLst/>
          </a:prstGeom>
          <a:noFill/>
          <a:ln/>
        </p:spPr>
        <p:txBody>
          <a:bodyPr wrap="square" lIns="0" tIns="0" rIns="0" bIns="0" rtlCol="0" anchor="ctr"/>
          <a:lstStyle/>
          <a:p>
            <a:pPr algn="ctr" indent="0" marL="0">
              <a:buNone/>
            </a:pPr>
            <a:r>
              <a:rPr lang="en-US" sz="1700" b="1" dirty="0">
                <a:solidFill>
                  <a:schemeClr val="bg1"/>
                </a:solidFill>
              </a:rPr>
              <a:t>dockerd</a:t>
            </a:r>
            <a:endParaRPr lang="en-US" sz="1700" dirty="0"/>
          </a:p>
        </p:txBody>
      </p:sp>
      <p:sp>
        <p:nvSpPr>
          <p:cNvPr id="9" name="Text 7"/>
          <p:cNvSpPr txBox="1"/>
          <p:nvPr/>
        </p:nvSpPr>
        <p:spPr>
          <a:xfrm>
            <a:off x="2834640" y="2560320"/>
            <a:ext cx="1920240" cy="457200"/>
          </a:xfrm>
          <a:prstGeom prst="rect">
            <a:avLst/>
          </a:prstGeom>
          <a:noFill/>
          <a:ln/>
        </p:spPr>
        <p:txBody>
          <a:bodyPr wrap="square" lIns="0" tIns="0" rIns="0" bIns="0" rtlCol="0" anchor="t"/>
          <a:lstStyle/>
          <a:p>
            <a:pPr algn="ctr" indent="0" marL="0">
              <a:buNone/>
            </a:pPr>
            <a:r>
              <a:rPr lang="en-US" sz="1400" dirty="0">
                <a:solidFill>
                  <a:schemeClr val="tx2"/>
                </a:solidFill>
              </a:rPr>
              <a:t>Docker Engine API</a:t>
            </a:r>
            <a:endParaRPr lang="en-US" sz="1400" dirty="0"/>
          </a:p>
        </p:txBody>
      </p:sp>
      <p:sp>
        <p:nvSpPr>
          <p:cNvPr id="10" name="Shape 8"/>
          <p:cNvSpPr/>
          <p:nvPr/>
        </p:nvSpPr>
        <p:spPr>
          <a:xfrm>
            <a:off x="4773168" y="2029968"/>
            <a:ext cx="329184" cy="914"/>
          </a:xfrm>
          <a:prstGeom prst="line">
            <a:avLst/>
          </a:prstGeom>
          <a:noFill/>
          <a:ln w="31750">
            <a:solidFill>
              <a:schemeClr val="accent6"/>
            </a:solidFill>
            <a:prstDash val="solid"/>
            <a:tailEnd type="triangle"/>
          </a:ln>
        </p:spPr>
      </p:sp>
      <p:sp>
        <p:nvSpPr>
          <p:cNvPr id="11" name="Shape 9"/>
          <p:cNvSpPr/>
          <p:nvPr/>
        </p:nvSpPr>
        <p:spPr>
          <a:xfrm>
            <a:off x="5120640" y="1600200"/>
            <a:ext cx="1920240" cy="868680"/>
          </a:xfrm>
          <a:prstGeom prst="roundRect">
            <a:avLst>
              <a:gd name="adj" fmla="val 6316"/>
            </a:avLst>
          </a:prstGeom>
          <a:solidFill>
            <a:schemeClr val="accent5"/>
          </a:solidFill>
          <a:ln/>
        </p:spPr>
      </p:sp>
      <p:sp>
        <p:nvSpPr>
          <p:cNvPr id="12" name="Text 10"/>
          <p:cNvSpPr txBox="1"/>
          <p:nvPr/>
        </p:nvSpPr>
        <p:spPr>
          <a:xfrm>
            <a:off x="5120640" y="1600200"/>
            <a:ext cx="1920240" cy="868680"/>
          </a:xfrm>
          <a:prstGeom prst="rect">
            <a:avLst/>
          </a:prstGeom>
          <a:noFill/>
          <a:ln/>
        </p:spPr>
        <p:txBody>
          <a:bodyPr wrap="square" lIns="0" tIns="0" rIns="0" bIns="0" rtlCol="0" anchor="ctr"/>
          <a:lstStyle/>
          <a:p>
            <a:pPr algn="ctr" indent="0" marL="0">
              <a:buNone/>
            </a:pPr>
            <a:r>
              <a:rPr lang="en-US" sz="1700" b="1" dirty="0">
                <a:solidFill>
                  <a:schemeClr val="bg1"/>
                </a:solidFill>
              </a:rPr>
              <a:t>containerd</a:t>
            </a:r>
            <a:endParaRPr lang="en-US" sz="1700" dirty="0"/>
          </a:p>
        </p:txBody>
      </p:sp>
      <p:sp>
        <p:nvSpPr>
          <p:cNvPr id="13" name="Text 11"/>
          <p:cNvSpPr txBox="1"/>
          <p:nvPr/>
        </p:nvSpPr>
        <p:spPr>
          <a:xfrm>
            <a:off x="5120640" y="2560320"/>
            <a:ext cx="1920240" cy="457200"/>
          </a:xfrm>
          <a:prstGeom prst="rect">
            <a:avLst/>
          </a:prstGeom>
          <a:noFill/>
          <a:ln/>
        </p:spPr>
        <p:txBody>
          <a:bodyPr wrap="square" lIns="0" tIns="0" rIns="0" bIns="0" rtlCol="0" anchor="t"/>
          <a:lstStyle/>
          <a:p>
            <a:pPr algn="ctr" indent="0" marL="0">
              <a:buNone/>
            </a:pPr>
            <a:r>
              <a:rPr lang="en-US" sz="1400" dirty="0">
                <a:solidFill>
                  <a:schemeClr val="tx2"/>
                </a:solidFill>
              </a:rPr>
              <a:t>manages containers</a:t>
            </a:r>
            <a:endParaRPr lang="en-US" sz="1400" dirty="0"/>
          </a:p>
        </p:txBody>
      </p:sp>
      <p:sp>
        <p:nvSpPr>
          <p:cNvPr id="14" name="Shape 12"/>
          <p:cNvSpPr/>
          <p:nvPr/>
        </p:nvSpPr>
        <p:spPr>
          <a:xfrm>
            <a:off x="7059168" y="2029968"/>
            <a:ext cx="329184" cy="914"/>
          </a:xfrm>
          <a:prstGeom prst="line">
            <a:avLst/>
          </a:prstGeom>
          <a:noFill/>
          <a:ln w="31750">
            <a:solidFill>
              <a:schemeClr val="accent6"/>
            </a:solidFill>
            <a:prstDash val="solid"/>
            <a:tailEnd type="triangle"/>
          </a:ln>
        </p:spPr>
      </p:sp>
      <p:sp>
        <p:nvSpPr>
          <p:cNvPr id="15" name="Shape 13"/>
          <p:cNvSpPr/>
          <p:nvPr/>
        </p:nvSpPr>
        <p:spPr>
          <a:xfrm>
            <a:off x="7406640" y="1600200"/>
            <a:ext cx="1920240" cy="868680"/>
          </a:xfrm>
          <a:prstGeom prst="roundRect">
            <a:avLst>
              <a:gd name="adj" fmla="val 6316"/>
            </a:avLst>
          </a:prstGeom>
          <a:solidFill>
            <a:schemeClr val="accent5"/>
          </a:solidFill>
          <a:ln/>
        </p:spPr>
      </p:sp>
      <p:sp>
        <p:nvSpPr>
          <p:cNvPr id="16" name="Text 14"/>
          <p:cNvSpPr txBox="1"/>
          <p:nvPr/>
        </p:nvSpPr>
        <p:spPr>
          <a:xfrm>
            <a:off x="7406640" y="1600200"/>
            <a:ext cx="1920240" cy="868680"/>
          </a:xfrm>
          <a:prstGeom prst="rect">
            <a:avLst/>
          </a:prstGeom>
          <a:noFill/>
          <a:ln/>
        </p:spPr>
        <p:txBody>
          <a:bodyPr wrap="square" lIns="0" tIns="0" rIns="0" bIns="0" rtlCol="0" anchor="ctr"/>
          <a:lstStyle/>
          <a:p>
            <a:pPr algn="ctr" indent="0" marL="0">
              <a:buNone/>
            </a:pPr>
            <a:r>
              <a:rPr lang="en-US" sz="1700" b="1" dirty="0">
                <a:solidFill>
                  <a:schemeClr val="bg1"/>
                </a:solidFill>
              </a:rPr>
              <a:t>runc</a:t>
            </a:r>
            <a:endParaRPr lang="en-US" sz="1700" dirty="0"/>
          </a:p>
        </p:txBody>
      </p:sp>
      <p:sp>
        <p:nvSpPr>
          <p:cNvPr id="17" name="Text 15"/>
          <p:cNvSpPr txBox="1"/>
          <p:nvPr/>
        </p:nvSpPr>
        <p:spPr>
          <a:xfrm>
            <a:off x="7406640" y="2560320"/>
            <a:ext cx="1920240" cy="457200"/>
          </a:xfrm>
          <a:prstGeom prst="rect">
            <a:avLst/>
          </a:prstGeom>
          <a:noFill/>
          <a:ln/>
        </p:spPr>
        <p:txBody>
          <a:bodyPr wrap="square" lIns="0" tIns="0" rIns="0" bIns="0" rtlCol="0" anchor="t"/>
          <a:lstStyle/>
          <a:p>
            <a:pPr algn="ctr" indent="0" marL="0">
              <a:buNone/>
            </a:pPr>
            <a:r>
              <a:rPr lang="en-US" sz="1400" dirty="0">
                <a:solidFill>
                  <a:schemeClr val="tx2"/>
                </a:solidFill>
              </a:rPr>
              <a:t>creates the process</a:t>
            </a:r>
            <a:endParaRPr lang="en-US" sz="1400" dirty="0"/>
          </a:p>
        </p:txBody>
      </p:sp>
      <p:sp>
        <p:nvSpPr>
          <p:cNvPr id="18" name="Shape 16"/>
          <p:cNvSpPr/>
          <p:nvPr/>
        </p:nvSpPr>
        <p:spPr>
          <a:xfrm>
            <a:off x="9345168" y="2029968"/>
            <a:ext cx="329184" cy="914"/>
          </a:xfrm>
          <a:prstGeom prst="line">
            <a:avLst/>
          </a:prstGeom>
          <a:noFill/>
          <a:ln w="31750">
            <a:solidFill>
              <a:schemeClr val="accent6"/>
            </a:solidFill>
            <a:prstDash val="solid"/>
            <a:tailEnd type="triangle"/>
          </a:ln>
        </p:spPr>
      </p:sp>
      <p:sp>
        <p:nvSpPr>
          <p:cNvPr id="19" name="Shape 17"/>
          <p:cNvSpPr/>
          <p:nvPr/>
        </p:nvSpPr>
        <p:spPr>
          <a:xfrm>
            <a:off x="9692640" y="1600200"/>
            <a:ext cx="1920240" cy="868680"/>
          </a:xfrm>
          <a:prstGeom prst="roundRect">
            <a:avLst>
              <a:gd name="adj" fmla="val 6316"/>
            </a:avLst>
          </a:prstGeom>
          <a:solidFill>
            <a:schemeClr val="tx2"/>
          </a:solidFill>
          <a:ln/>
        </p:spPr>
      </p:sp>
      <p:sp>
        <p:nvSpPr>
          <p:cNvPr id="20" name="Text 18"/>
          <p:cNvSpPr txBox="1"/>
          <p:nvPr/>
        </p:nvSpPr>
        <p:spPr>
          <a:xfrm>
            <a:off x="9692640" y="1600200"/>
            <a:ext cx="1920240" cy="868680"/>
          </a:xfrm>
          <a:prstGeom prst="rect">
            <a:avLst/>
          </a:prstGeom>
          <a:noFill/>
          <a:ln/>
        </p:spPr>
        <p:txBody>
          <a:bodyPr wrap="square" lIns="0" tIns="0" rIns="0" bIns="0" rtlCol="0" anchor="ctr"/>
          <a:lstStyle/>
          <a:p>
            <a:pPr algn="ctr" indent="0" marL="0">
              <a:buNone/>
            </a:pPr>
            <a:r>
              <a:rPr lang="en-US" sz="1700" b="1" dirty="0">
                <a:solidFill>
                  <a:schemeClr val="bg1"/>
                </a:solidFill>
              </a:rPr>
              <a:t>Linux kernel</a:t>
            </a:r>
            <a:endParaRPr lang="en-US" sz="1700" dirty="0"/>
          </a:p>
        </p:txBody>
      </p:sp>
      <p:sp>
        <p:nvSpPr>
          <p:cNvPr id="21" name="Text 19"/>
          <p:cNvSpPr txBox="1"/>
          <p:nvPr/>
        </p:nvSpPr>
        <p:spPr>
          <a:xfrm>
            <a:off x="9692640" y="2560320"/>
            <a:ext cx="1920240" cy="457200"/>
          </a:xfrm>
          <a:prstGeom prst="rect">
            <a:avLst/>
          </a:prstGeom>
          <a:noFill/>
          <a:ln/>
        </p:spPr>
        <p:txBody>
          <a:bodyPr wrap="square" lIns="0" tIns="0" rIns="0" bIns="0" rtlCol="0" anchor="t"/>
          <a:lstStyle/>
          <a:p>
            <a:pPr algn="ctr" indent="0" marL="0">
              <a:buNone/>
            </a:pPr>
            <a:r>
              <a:rPr lang="en-US" sz="1400" dirty="0">
                <a:solidFill>
                  <a:schemeClr val="tx2"/>
                </a:solidFill>
              </a:rPr>
              <a:t>namespaces + cgroups</a:t>
            </a:r>
            <a:endParaRPr lang="en-US" sz="1400" dirty="0"/>
          </a:p>
        </p:txBody>
      </p:sp>
      <p:sp>
        <p:nvSpPr>
          <p:cNvPr id="22" name="Text 20"/>
          <p:cNvSpPr txBox="1"/>
          <p:nvPr/>
        </p:nvSpPr>
        <p:spPr>
          <a:xfrm>
            <a:off x="548640" y="3429000"/>
            <a:ext cx="11064240" cy="457200"/>
          </a:xfrm>
          <a:prstGeom prst="rect">
            <a:avLst/>
          </a:prstGeom>
          <a:noFill/>
          <a:ln/>
        </p:spPr>
        <p:txBody>
          <a:bodyPr wrap="square" lIns="0" tIns="0" rIns="0" bIns="0" rtlCol="0" anchor="t"/>
          <a:lstStyle/>
          <a:p>
            <a:pPr indent="0" marL="0">
              <a:buNone/>
            </a:pPr>
            <a:r>
              <a:rPr lang="en-US" sz="2000" b="1" dirty="0">
                <a:solidFill>
                  <a:schemeClr val="tx1"/>
                </a:solidFill>
              </a:rPr>
              <a:t>Containers are older than Docker</a:t>
            </a:r>
            <a:endParaRPr lang="en-US" sz="2000" dirty="0"/>
          </a:p>
        </p:txBody>
      </p:sp>
      <p:sp>
        <p:nvSpPr>
          <p:cNvPr id="23" name="Shape 21"/>
          <p:cNvSpPr/>
          <p:nvPr/>
        </p:nvSpPr>
        <p:spPr>
          <a:xfrm>
            <a:off x="914400" y="4617720"/>
            <a:ext cx="10332720" cy="0"/>
          </a:xfrm>
          <a:prstGeom prst="line">
            <a:avLst/>
          </a:prstGeom>
          <a:noFill/>
          <a:ln w="25400">
            <a:solidFill>
              <a:schemeClr val="accent6"/>
            </a:solidFill>
            <a:prstDash val="solid"/>
          </a:ln>
        </p:spPr>
      </p:sp>
      <p:sp>
        <p:nvSpPr>
          <p:cNvPr id="24" name="Shape 22"/>
          <p:cNvSpPr/>
          <p:nvPr/>
        </p:nvSpPr>
        <p:spPr>
          <a:xfrm>
            <a:off x="786384" y="4489704"/>
            <a:ext cx="256032" cy="256032"/>
          </a:xfrm>
          <a:prstGeom prst="ellipse">
            <a:avLst/>
          </a:prstGeom>
          <a:solidFill>
            <a:schemeClr val="accent6"/>
          </a:solidFill>
          <a:ln/>
        </p:spPr>
      </p:sp>
      <p:sp>
        <p:nvSpPr>
          <p:cNvPr id="25" name="Text 23"/>
          <p:cNvSpPr txBox="1"/>
          <p:nvPr/>
        </p:nvSpPr>
        <p:spPr>
          <a:xfrm>
            <a:off x="-91440" y="397764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1979</a:t>
            </a:r>
            <a:endParaRPr lang="en-US" sz="1800" dirty="0"/>
          </a:p>
        </p:txBody>
      </p:sp>
      <p:sp>
        <p:nvSpPr>
          <p:cNvPr id="26" name="Text 24"/>
          <p:cNvSpPr txBox="1"/>
          <p:nvPr/>
        </p:nvSpPr>
        <p:spPr>
          <a:xfrm>
            <a:off x="-228600" y="4892040"/>
            <a:ext cx="2286000" cy="731520"/>
          </a:xfrm>
          <a:prstGeom prst="rect">
            <a:avLst/>
          </a:prstGeom>
          <a:noFill/>
          <a:ln/>
        </p:spPr>
        <p:txBody>
          <a:bodyPr wrap="square" lIns="0" tIns="0" rIns="0" bIns="0" rtlCol="0" anchor="t"/>
          <a:lstStyle/>
          <a:p>
            <a:pPr algn="ctr" indent="0" marL="0">
              <a:buNone/>
            </a:pPr>
            <a:r>
              <a:rPr lang="en-US" sz="1500" dirty="0">
                <a:solidFill>
                  <a:schemeClr val="tx2"/>
                </a:solidFill>
              </a:rPr>
              <a:t>chroot</a:t>
            </a:r>
            <a:endParaRPr lang="en-US" sz="1500" dirty="0"/>
          </a:p>
        </p:txBody>
      </p:sp>
      <p:sp>
        <p:nvSpPr>
          <p:cNvPr id="27" name="Shape 25"/>
          <p:cNvSpPr/>
          <p:nvPr/>
        </p:nvSpPr>
        <p:spPr>
          <a:xfrm>
            <a:off x="3369564" y="4489704"/>
            <a:ext cx="256032" cy="256032"/>
          </a:xfrm>
          <a:prstGeom prst="ellipse">
            <a:avLst/>
          </a:prstGeom>
          <a:solidFill>
            <a:schemeClr val="accent6"/>
          </a:solidFill>
          <a:ln/>
        </p:spPr>
      </p:sp>
      <p:sp>
        <p:nvSpPr>
          <p:cNvPr id="28" name="Text 26"/>
          <p:cNvSpPr txBox="1"/>
          <p:nvPr/>
        </p:nvSpPr>
        <p:spPr>
          <a:xfrm>
            <a:off x="2491740" y="397764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2000</a:t>
            </a:r>
            <a:endParaRPr lang="en-US" sz="1800" dirty="0"/>
          </a:p>
        </p:txBody>
      </p:sp>
      <p:sp>
        <p:nvSpPr>
          <p:cNvPr id="29" name="Text 27"/>
          <p:cNvSpPr txBox="1"/>
          <p:nvPr/>
        </p:nvSpPr>
        <p:spPr>
          <a:xfrm>
            <a:off x="2354580" y="4892040"/>
            <a:ext cx="2286000" cy="731520"/>
          </a:xfrm>
          <a:prstGeom prst="rect">
            <a:avLst/>
          </a:prstGeom>
          <a:noFill/>
          <a:ln/>
        </p:spPr>
        <p:txBody>
          <a:bodyPr wrap="square" lIns="0" tIns="0" rIns="0" bIns="0" rtlCol="0" anchor="t"/>
          <a:lstStyle/>
          <a:p>
            <a:pPr algn="ctr" indent="0" marL="0">
              <a:buNone/>
            </a:pPr>
            <a:r>
              <a:rPr lang="en-US" sz="1500" dirty="0">
                <a:solidFill>
                  <a:schemeClr val="tx2"/>
                </a:solidFill>
              </a:rPr>
              <a:t>FreeBSD jails</a:t>
            </a:r>
            <a:endParaRPr lang="en-US" sz="1500" dirty="0"/>
          </a:p>
        </p:txBody>
      </p:sp>
      <p:sp>
        <p:nvSpPr>
          <p:cNvPr id="30" name="Shape 28"/>
          <p:cNvSpPr/>
          <p:nvPr/>
        </p:nvSpPr>
        <p:spPr>
          <a:xfrm>
            <a:off x="5952744" y="4489704"/>
            <a:ext cx="256032" cy="256032"/>
          </a:xfrm>
          <a:prstGeom prst="ellipse">
            <a:avLst/>
          </a:prstGeom>
          <a:solidFill>
            <a:schemeClr val="accent6"/>
          </a:solidFill>
          <a:ln/>
        </p:spPr>
      </p:sp>
      <p:sp>
        <p:nvSpPr>
          <p:cNvPr id="31" name="Text 29"/>
          <p:cNvSpPr txBox="1"/>
          <p:nvPr/>
        </p:nvSpPr>
        <p:spPr>
          <a:xfrm>
            <a:off x="5074920" y="397764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2008</a:t>
            </a:r>
            <a:endParaRPr lang="en-US" sz="1800" dirty="0"/>
          </a:p>
        </p:txBody>
      </p:sp>
      <p:sp>
        <p:nvSpPr>
          <p:cNvPr id="32" name="Text 30"/>
          <p:cNvSpPr txBox="1"/>
          <p:nvPr/>
        </p:nvSpPr>
        <p:spPr>
          <a:xfrm>
            <a:off x="4937760" y="4892040"/>
            <a:ext cx="2286000" cy="731520"/>
          </a:xfrm>
          <a:prstGeom prst="rect">
            <a:avLst/>
          </a:prstGeom>
          <a:noFill/>
          <a:ln/>
        </p:spPr>
        <p:txBody>
          <a:bodyPr wrap="square" lIns="0" tIns="0" rIns="0" bIns="0" rtlCol="0" anchor="t"/>
          <a:lstStyle/>
          <a:p>
            <a:pPr algn="ctr" indent="0" marL="0">
              <a:buNone/>
            </a:pPr>
            <a:r>
              <a:rPr lang="en-US" sz="1500" dirty="0">
                <a:solidFill>
                  <a:schemeClr val="tx2"/>
                </a:solidFill>
              </a:rPr>
              <a:t>cgroups in Linux · LXC</a:t>
            </a:r>
            <a:endParaRPr lang="en-US" sz="1500" dirty="0"/>
          </a:p>
        </p:txBody>
      </p:sp>
      <p:sp>
        <p:nvSpPr>
          <p:cNvPr id="33" name="Shape 31"/>
          <p:cNvSpPr/>
          <p:nvPr/>
        </p:nvSpPr>
        <p:spPr>
          <a:xfrm>
            <a:off x="8535924" y="4489704"/>
            <a:ext cx="256032" cy="256032"/>
          </a:xfrm>
          <a:prstGeom prst="ellipse">
            <a:avLst/>
          </a:prstGeom>
          <a:solidFill>
            <a:schemeClr val="accent1"/>
          </a:solidFill>
          <a:ln/>
        </p:spPr>
      </p:sp>
      <p:sp>
        <p:nvSpPr>
          <p:cNvPr id="34" name="Text 32"/>
          <p:cNvSpPr txBox="1"/>
          <p:nvPr/>
        </p:nvSpPr>
        <p:spPr>
          <a:xfrm>
            <a:off x="7658100" y="3977640"/>
            <a:ext cx="2011680" cy="411480"/>
          </a:xfrm>
          <a:prstGeom prst="rect">
            <a:avLst/>
          </a:prstGeom>
          <a:noFill/>
          <a:ln/>
        </p:spPr>
        <p:txBody>
          <a:bodyPr wrap="square" lIns="0" tIns="0" rIns="0" bIns="0" rtlCol="0" anchor="t"/>
          <a:lstStyle/>
          <a:p>
            <a:pPr algn="ctr" indent="0" marL="0">
              <a:buNone/>
            </a:pPr>
            <a:r>
              <a:rPr lang="en-US" sz="1800" b="1" dirty="0">
                <a:solidFill>
                  <a:schemeClr val="accent1"/>
                </a:solidFill>
              </a:rPr>
              <a:t>2013</a:t>
            </a:r>
            <a:endParaRPr lang="en-US" sz="1800" dirty="0"/>
          </a:p>
        </p:txBody>
      </p:sp>
      <p:sp>
        <p:nvSpPr>
          <p:cNvPr id="35" name="Text 33"/>
          <p:cNvSpPr txBox="1"/>
          <p:nvPr/>
        </p:nvSpPr>
        <p:spPr>
          <a:xfrm>
            <a:off x="7520940" y="4892040"/>
            <a:ext cx="2286000" cy="731520"/>
          </a:xfrm>
          <a:prstGeom prst="rect">
            <a:avLst/>
          </a:prstGeom>
          <a:noFill/>
          <a:ln/>
        </p:spPr>
        <p:txBody>
          <a:bodyPr wrap="square" lIns="0" tIns="0" rIns="0" bIns="0" rtlCol="0" anchor="t"/>
          <a:lstStyle/>
          <a:p>
            <a:pPr algn="ctr" indent="0" marL="0">
              <a:buNone/>
            </a:pPr>
            <a:r>
              <a:rPr lang="en-US" sz="1500" dirty="0">
                <a:solidFill>
                  <a:schemeClr val="tx2"/>
                </a:solidFill>
              </a:rPr>
              <a:t>Docker</a:t>
            </a:r>
            <a:endParaRPr lang="en-US" sz="1500" dirty="0"/>
          </a:p>
        </p:txBody>
      </p:sp>
      <p:sp>
        <p:nvSpPr>
          <p:cNvPr id="36" name="Shape 34"/>
          <p:cNvSpPr/>
          <p:nvPr/>
        </p:nvSpPr>
        <p:spPr>
          <a:xfrm>
            <a:off x="11119104" y="4489704"/>
            <a:ext cx="256032" cy="256032"/>
          </a:xfrm>
          <a:prstGeom prst="ellipse">
            <a:avLst/>
          </a:prstGeom>
          <a:solidFill>
            <a:schemeClr val="accent6"/>
          </a:solidFill>
          <a:ln/>
        </p:spPr>
      </p:sp>
      <p:sp>
        <p:nvSpPr>
          <p:cNvPr id="37" name="Text 35"/>
          <p:cNvSpPr txBox="1"/>
          <p:nvPr/>
        </p:nvSpPr>
        <p:spPr>
          <a:xfrm>
            <a:off x="10241280" y="397764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2015</a:t>
            </a:r>
            <a:endParaRPr lang="en-US" sz="1800" dirty="0"/>
          </a:p>
        </p:txBody>
      </p:sp>
      <p:sp>
        <p:nvSpPr>
          <p:cNvPr id="38" name="Text 36"/>
          <p:cNvSpPr txBox="1"/>
          <p:nvPr/>
        </p:nvSpPr>
        <p:spPr>
          <a:xfrm>
            <a:off x="10104120" y="4892040"/>
            <a:ext cx="2286000" cy="731520"/>
          </a:xfrm>
          <a:prstGeom prst="rect">
            <a:avLst/>
          </a:prstGeom>
          <a:noFill/>
          <a:ln/>
        </p:spPr>
        <p:txBody>
          <a:bodyPr wrap="square" lIns="0" tIns="0" rIns="0" bIns="0" rtlCol="0" anchor="t"/>
          <a:lstStyle/>
          <a:p>
            <a:pPr algn="ctr" indent="0" marL="0">
              <a:buNone/>
            </a:pPr>
            <a:r>
              <a:rPr lang="en-US" sz="1500" dirty="0">
                <a:solidFill>
                  <a:schemeClr val="tx2"/>
                </a:solidFill>
              </a:rPr>
              <a:t>OCI standard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When VMs still win</a:t>
            </a:r>
            <a:endParaRPr lang="en-US" sz="3400" dirty="0"/>
          </a:p>
        </p:txBody>
      </p:sp>
      <p:sp>
        <p:nvSpPr>
          <p:cNvPr id="3" name="Shape 1"/>
          <p:cNvSpPr/>
          <p:nvPr/>
        </p:nvSpPr>
        <p:spPr>
          <a:xfrm>
            <a:off x="548640" y="1554480"/>
            <a:ext cx="777240" cy="777240"/>
          </a:xfrm>
          <a:prstGeom prst="ellipse">
            <a:avLst/>
          </a:prstGeom>
          <a:solidFill>
            <a:schemeClr val="accent5"/>
          </a:solidFill>
          <a:ln/>
        </p:spPr>
      </p:sp>
      <p:pic>
        <p:nvPicPr>
          <p:cNvPr id="4" name="Image 0" descr="preencoded.png">    </p:cNvPr>
          <p:cNvPicPr>
            <a:picLocks noChangeAspect="1"/>
          </p:cNvPicPr>
          <p:nvPr/>
        </p:nvPicPr>
        <p:blipFill>
          <a:blip r:embed="rId1"/>
          <a:stretch>
            <a:fillRect/>
          </a:stretch>
        </p:blipFill>
        <p:spPr>
          <a:xfrm>
            <a:off x="735178" y="1741018"/>
            <a:ext cx="404165" cy="404165"/>
          </a:xfrm>
          <a:prstGeom prst="rect">
            <a:avLst/>
          </a:prstGeom>
        </p:spPr>
      </p:pic>
      <p:sp>
        <p:nvSpPr>
          <p:cNvPr id="5" name="Text 2"/>
          <p:cNvSpPr txBox="1"/>
          <p:nvPr/>
        </p:nvSpPr>
        <p:spPr>
          <a:xfrm>
            <a:off x="1554480" y="1463040"/>
            <a:ext cx="9966960" cy="457200"/>
          </a:xfrm>
          <a:prstGeom prst="rect">
            <a:avLst/>
          </a:prstGeom>
          <a:noFill/>
          <a:ln/>
        </p:spPr>
        <p:txBody>
          <a:bodyPr wrap="square" lIns="0" tIns="0" rIns="0" bIns="0" rtlCol="0" anchor="t"/>
          <a:lstStyle/>
          <a:p>
            <a:pPr indent="0" marL="0">
              <a:buNone/>
            </a:pPr>
            <a:r>
              <a:rPr lang="en-US" sz="2100" b="1" dirty="0">
                <a:solidFill>
                  <a:schemeClr val="tx1"/>
                </a:solidFill>
              </a:rPr>
              <a:t>You need a different kernel</a:t>
            </a:r>
            <a:endParaRPr lang="en-US" sz="2100" dirty="0"/>
          </a:p>
        </p:txBody>
      </p:sp>
      <p:sp>
        <p:nvSpPr>
          <p:cNvPr id="6" name="Text 3"/>
          <p:cNvSpPr txBox="1"/>
          <p:nvPr/>
        </p:nvSpPr>
        <p:spPr>
          <a:xfrm>
            <a:off x="1554480" y="1938528"/>
            <a:ext cx="9966960" cy="822960"/>
          </a:xfrm>
          <a:prstGeom prst="rect">
            <a:avLst/>
          </a:prstGeom>
          <a:noFill/>
          <a:ln/>
        </p:spPr>
        <p:txBody>
          <a:bodyPr wrap="square" lIns="0" tIns="0" rIns="0" bIns="0" rtlCol="0" anchor="t"/>
          <a:lstStyle/>
          <a:p>
            <a:pPr indent="0" marL="0">
              <a:buNone/>
            </a:pPr>
            <a:r>
              <a:rPr lang="en-US" sz="1600" dirty="0">
                <a:solidFill>
                  <a:schemeClr val="tx2"/>
                </a:solidFill>
              </a:rPr>
              <a:t>Windows apps on a Linux host, or a custom kernel. Docker Desktop on Mac and Windows quietly runs a small Linux VM for exactly this reason.</a:t>
            </a:r>
            <a:endParaRPr lang="en-US" sz="1600" dirty="0"/>
          </a:p>
        </p:txBody>
      </p:sp>
      <p:sp>
        <p:nvSpPr>
          <p:cNvPr id="7" name="Shape 4"/>
          <p:cNvSpPr/>
          <p:nvPr/>
        </p:nvSpPr>
        <p:spPr>
          <a:xfrm>
            <a:off x="548640" y="3017520"/>
            <a:ext cx="777240" cy="777240"/>
          </a:xfrm>
          <a:prstGeom prst="ellipse">
            <a:avLst/>
          </a:prstGeom>
          <a:solidFill>
            <a:schemeClr val="accent4"/>
          </a:solidFill>
          <a:ln/>
        </p:spPr>
      </p:sp>
      <p:pic>
        <p:nvPicPr>
          <p:cNvPr id="8" name="Image 1" descr="preencoded.png">    </p:cNvPr>
          <p:cNvPicPr>
            <a:picLocks noChangeAspect="1"/>
          </p:cNvPicPr>
          <p:nvPr/>
        </p:nvPicPr>
        <p:blipFill>
          <a:blip r:embed="rId2"/>
          <a:stretch>
            <a:fillRect/>
          </a:stretch>
        </p:blipFill>
        <p:spPr>
          <a:xfrm>
            <a:off x="735178" y="3204058"/>
            <a:ext cx="404165" cy="404165"/>
          </a:xfrm>
          <a:prstGeom prst="rect">
            <a:avLst/>
          </a:prstGeom>
        </p:spPr>
      </p:pic>
      <p:sp>
        <p:nvSpPr>
          <p:cNvPr id="9" name="Text 5"/>
          <p:cNvSpPr txBox="1"/>
          <p:nvPr/>
        </p:nvSpPr>
        <p:spPr>
          <a:xfrm>
            <a:off x="1554480" y="2926080"/>
            <a:ext cx="9966960" cy="457200"/>
          </a:xfrm>
          <a:prstGeom prst="rect">
            <a:avLst/>
          </a:prstGeom>
          <a:noFill/>
          <a:ln/>
        </p:spPr>
        <p:txBody>
          <a:bodyPr wrap="square" lIns="0" tIns="0" rIns="0" bIns="0" rtlCol="0" anchor="t"/>
          <a:lstStyle/>
          <a:p>
            <a:pPr indent="0" marL="0">
              <a:buNone/>
            </a:pPr>
            <a:r>
              <a:rPr lang="en-US" sz="2100" b="1" dirty="0">
                <a:solidFill>
                  <a:schemeClr val="tx1"/>
                </a:solidFill>
              </a:rPr>
              <a:t>You run untrusted code</a:t>
            </a:r>
            <a:endParaRPr lang="en-US" sz="2100" dirty="0"/>
          </a:p>
        </p:txBody>
      </p:sp>
      <p:sp>
        <p:nvSpPr>
          <p:cNvPr id="10" name="Text 6"/>
          <p:cNvSpPr txBox="1"/>
          <p:nvPr/>
        </p:nvSpPr>
        <p:spPr>
          <a:xfrm>
            <a:off x="1554480" y="3401568"/>
            <a:ext cx="9966960" cy="822960"/>
          </a:xfrm>
          <a:prstGeom prst="rect">
            <a:avLst/>
          </a:prstGeom>
          <a:noFill/>
          <a:ln/>
        </p:spPr>
        <p:txBody>
          <a:bodyPr wrap="square" lIns="0" tIns="0" rIns="0" bIns="0" rtlCol="0" anchor="t"/>
          <a:lstStyle/>
          <a:p>
            <a:pPr indent="0" marL="0">
              <a:buNone/>
            </a:pPr>
            <a:r>
              <a:rPr lang="en-US" sz="1600" dirty="0">
                <a:solidFill>
                  <a:schemeClr val="tx2"/>
                </a:solidFill>
              </a:rPr>
              <a:t>A shared kernel is a shared attack surface. Multi-tenant platforms often use micro-VMs such as Firecracker or sandboxes like gVisor.</a:t>
            </a:r>
            <a:endParaRPr lang="en-US" sz="1600" dirty="0"/>
          </a:p>
        </p:txBody>
      </p:sp>
      <p:sp>
        <p:nvSpPr>
          <p:cNvPr id="11" name="Shape 7"/>
          <p:cNvSpPr/>
          <p:nvPr/>
        </p:nvSpPr>
        <p:spPr>
          <a:xfrm>
            <a:off x="548640" y="4480560"/>
            <a:ext cx="777240" cy="777240"/>
          </a:xfrm>
          <a:prstGeom prst="ellipse">
            <a:avLst/>
          </a:prstGeom>
          <a:solidFill>
            <a:schemeClr val="tx2"/>
          </a:solidFill>
          <a:ln/>
        </p:spPr>
      </p:sp>
      <p:pic>
        <p:nvPicPr>
          <p:cNvPr id="12" name="Image 2" descr="preencoded.png">    </p:cNvPr>
          <p:cNvPicPr>
            <a:picLocks noChangeAspect="1"/>
          </p:cNvPicPr>
          <p:nvPr/>
        </p:nvPicPr>
        <p:blipFill>
          <a:blip r:embed="rId3"/>
          <a:stretch>
            <a:fillRect/>
          </a:stretch>
        </p:blipFill>
        <p:spPr>
          <a:xfrm>
            <a:off x="735178" y="4667098"/>
            <a:ext cx="404165" cy="404165"/>
          </a:xfrm>
          <a:prstGeom prst="rect">
            <a:avLst/>
          </a:prstGeom>
        </p:spPr>
      </p:pic>
      <p:sp>
        <p:nvSpPr>
          <p:cNvPr id="13" name="Text 8"/>
          <p:cNvSpPr txBox="1"/>
          <p:nvPr/>
        </p:nvSpPr>
        <p:spPr>
          <a:xfrm>
            <a:off x="1554480" y="4389120"/>
            <a:ext cx="9966960" cy="457200"/>
          </a:xfrm>
          <a:prstGeom prst="rect">
            <a:avLst/>
          </a:prstGeom>
          <a:noFill/>
          <a:ln/>
        </p:spPr>
        <p:txBody>
          <a:bodyPr wrap="square" lIns="0" tIns="0" rIns="0" bIns="0" rtlCol="0" anchor="t"/>
          <a:lstStyle/>
          <a:p>
            <a:pPr indent="0" marL="0">
              <a:buNone/>
            </a:pPr>
            <a:r>
              <a:rPr lang="en-US" sz="2100" b="1" dirty="0">
                <a:solidFill>
                  <a:schemeClr val="tx1"/>
                </a:solidFill>
              </a:rPr>
              <a:t>You need kernel-level changes</a:t>
            </a:r>
            <a:endParaRPr lang="en-US" sz="2100" dirty="0"/>
          </a:p>
        </p:txBody>
      </p:sp>
      <p:sp>
        <p:nvSpPr>
          <p:cNvPr id="14" name="Text 9"/>
          <p:cNvSpPr txBox="1"/>
          <p:nvPr/>
        </p:nvSpPr>
        <p:spPr>
          <a:xfrm>
            <a:off x="1554480" y="4864608"/>
            <a:ext cx="9966960" cy="822960"/>
          </a:xfrm>
          <a:prstGeom prst="rect">
            <a:avLst/>
          </a:prstGeom>
          <a:noFill/>
          <a:ln/>
        </p:spPr>
        <p:txBody>
          <a:bodyPr wrap="square" lIns="0" tIns="0" rIns="0" bIns="0" rtlCol="0" anchor="t"/>
          <a:lstStyle/>
          <a:p>
            <a:pPr indent="0" marL="0">
              <a:buNone/>
            </a:pPr>
            <a:r>
              <a:rPr lang="en-US" sz="1600" dirty="0">
                <a:solidFill>
                  <a:schemeClr val="tx2"/>
                </a:solidFill>
              </a:rPr>
              <a:t>Loading kernel modules or tuning kernel settings affects every container on the host.</a:t>
            </a:r>
            <a:endParaRPr lang="en-US" sz="1600" dirty="0"/>
          </a:p>
        </p:txBody>
      </p:sp>
      <p:sp>
        <p:nvSpPr>
          <p:cNvPr id="15" name="Shape 10"/>
          <p:cNvSpPr/>
          <p:nvPr/>
        </p:nvSpPr>
        <p:spPr>
          <a:xfrm>
            <a:off x="548640" y="5715000"/>
            <a:ext cx="11064240" cy="548640"/>
          </a:xfrm>
          <a:prstGeom prst="roundRect">
            <a:avLst>
              <a:gd name="adj" fmla="val 20000"/>
            </a:avLst>
          </a:prstGeom>
          <a:solidFill>
            <a:schemeClr val="bg2"/>
          </a:solidFill>
          <a:ln/>
        </p:spPr>
      </p:sp>
      <p:sp>
        <p:nvSpPr>
          <p:cNvPr id="16" name="Text 11"/>
          <p:cNvSpPr txBox="1"/>
          <p:nvPr/>
        </p:nvSpPr>
        <p:spPr>
          <a:xfrm>
            <a:off x="731520" y="5715000"/>
            <a:ext cx="10698480" cy="548640"/>
          </a:xfrm>
          <a:prstGeom prst="rect">
            <a:avLst/>
          </a:prstGeom>
          <a:noFill/>
          <a:ln/>
        </p:spPr>
        <p:txBody>
          <a:bodyPr wrap="square" lIns="0" tIns="0" rIns="0" bIns="0" rtlCol="0" anchor="ctr"/>
          <a:lstStyle/>
          <a:p>
            <a:pPr algn="ctr" indent="0" marL="0">
              <a:buNone/>
            </a:pPr>
            <a:r>
              <a:rPr lang="en-US" sz="1700" b="1" dirty="0">
                <a:solidFill>
                  <a:schemeClr val="tx1"/>
                </a:solidFill>
              </a:rPr>
              <a:t>In the cloud, containers usually run inside VMs. They complement each other.</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554480"/>
          </a:xfrm>
          <a:prstGeom prst="rect">
            <a:avLst/>
          </a:prstGeom>
          <a:noFill/>
          <a:ln/>
        </p:spPr>
        <p:txBody>
          <a:bodyPr wrap="square" lIns="0" tIns="0" rIns="0" bIns="0" rtlCol="0" anchor="b"/>
          <a:lstStyle/>
          <a:p>
            <a:pPr algn="l" indent="0" marL="0">
              <a:buNone/>
            </a:pPr>
            <a:r>
              <a:rPr lang="en-US" sz="5200" b="1" dirty="0">
                <a:solidFill>
                  <a:schemeClr val="bg1"/>
                </a:solidFill>
              </a:rPr>
              <a:t>Recap</a:t>
            </a:r>
            <a:endParaRPr lang="en-US" sz="5200" dirty="0"/>
          </a:p>
        </p:txBody>
      </p:sp>
      <p:sp>
        <p:nvSpPr>
          <p:cNvPr id="3" name="Text 0"/>
          <p:cNvSpPr/>
          <p:nvPr>
            <p:ph idx="101" type="body" hasCustomPrompt="1"/>
          </p:nvPr>
        </p:nvSpPr>
        <p:spPr>
          <a:xfrm>
            <a:off x="731520" y="3886200"/>
            <a:ext cx="10698480" cy="914400"/>
          </a:xfrm>
          <a:prstGeom prst="rect">
            <a:avLst/>
          </a:prstGeom>
          <a:noFill/>
          <a:ln/>
        </p:spPr>
        <p:txBody>
          <a:bodyPr wrap="square" lIns="0" tIns="0" rIns="0" bIns="0" rtlCol="0" anchor="t"/>
          <a:lstStyle/>
          <a:p>
            <a:pPr indent="0" marL="0">
              <a:buNone/>
            </a:pPr>
            <a:r>
              <a:rPr lang="en-US" sz="2400" dirty="0">
                <a:solidFill>
                  <a:schemeClr val="accent1"/>
                </a:solidFill>
              </a:rPr>
              <a:t>Next: Episode 2 — Your first container</a:t>
            </a:r>
            <a:endParaRPr lang="en-US" sz="2400" dirty="0"/>
          </a:p>
        </p:txBody>
      </p:sp>
      <p:sp>
        <p:nvSpPr>
          <p:cNvPr id="4" name="Text 2"/>
          <p:cNvSpPr txBox="1"/>
          <p:nvPr/>
        </p:nvSpPr>
        <p:spPr>
          <a:xfrm>
            <a:off x="731520" y="4709160"/>
            <a:ext cx="10698480" cy="14630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2"/>
                </a:solidFill>
              </a:rPr>
              <a:t>The app = code + environment. Containers ship both.</a:t>
            </a:r>
            <a:endParaRPr lang="en-US" sz="1800" dirty="0"/>
          </a:p>
          <a:p>
            <a:pPr marL="342900" indent="-342900">
              <a:spcAft>
                <a:spcPts val="800"/>
              </a:spcAft>
              <a:buSzPct val="100000"/>
              <a:buChar char="•"/>
            </a:pPr>
            <a:r>
              <a:rPr lang="en-US" sz="1800" dirty="0">
                <a:solidFill>
                  <a:schemeClr val="bg2"/>
                </a:solidFill>
              </a:rPr>
              <a:t>VMs virtualize hardware. Containers isolate processes and share one kernel.</a:t>
            </a:r>
            <a:endParaRPr lang="en-US" sz="1800" dirty="0"/>
          </a:p>
          <a:p>
            <a:pPr marL="342900" indent="-342900">
              <a:spcAft>
                <a:spcPts val="800"/>
              </a:spcAft>
              <a:buSzPct val="100000"/>
              <a:buChar char="•"/>
            </a:pPr>
            <a:r>
              <a:rPr lang="en-US" sz="1800" dirty="0">
                <a:solidFill>
                  <a:schemeClr val="bg2"/>
                </a:solidFill>
              </a:rPr>
              <a:t>A container = a Linux process + namespaces + cgroups + image layers.</a:t>
            </a:r>
            <a:endParaRPr lang="en-US" sz="1800" dirty="0"/>
          </a:p>
        </p:txBody>
      </p:sp>
    </p:spTree>
  </p:cSld>
  <p:clrMapOvr>
    <a:masterClrMapping/>
  </p:clrMapOvr>
</p:sld>
</file>

<file path=ppt/theme/theme1.xml><?xml version="1.0" encoding="utf-8"?>
<a:theme xmlns:a="http://schemas.openxmlformats.org/drawingml/2006/main" name="Docker Zero to GPU">
  <a:themeElements>
    <a:clrScheme name="Docker Zero to GPU">
      <a:dk1>
        <a:srgbClr val="0B1220"/>
      </a:dk1>
      <a:lt1>
        <a:srgbClr val="FFFFFF"/>
      </a:lt1>
      <a:dk2>
        <a:srgbClr val="1E293B"/>
      </a:dk2>
      <a:lt2>
        <a:srgbClr val="EEF3F8"/>
      </a:lt2>
      <a:accent1>
        <a:srgbClr val="0EA5E9"/>
      </a:accent1>
      <a:accent2>
        <a:srgbClr val="F59E0B"/>
      </a:accent2>
      <a:accent3>
        <a:srgbClr val="10B981"/>
      </a:accent3>
      <a:accent4>
        <a:srgbClr val="EF4444"/>
      </a:accent4>
      <a:accent5>
        <a:srgbClr val="8B5CF6"/>
      </a:accent5>
      <a:accent6>
        <a:srgbClr val="64748B"/>
      </a:accent6>
      <a:hlink>
        <a:srgbClr val="0EA5E9"/>
      </a:hlink>
      <a:folHlink>
        <a:srgbClr val="8B5CF6"/>
      </a:folHlink>
    </a:clrScheme>
    <a:fontScheme name="Docker Zero to GPU">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Episode 1 - Why Containers Exist</dc:title>
  <dc:subject>PptxGenJS Presentation</dc:subject>
  <dc:creator>Sai Ram N.</dc:creator>
  <cp:lastModifiedBy>Sai Ram N.</cp:lastModifiedBy>
  <cp:revision>1</cp:revision>
  <dcterms:created xsi:type="dcterms:W3CDTF">2026-10-22T00:37:30Z</dcterms:created>
  <dcterms:modified xsi:type="dcterms:W3CDTF">2026-10-22T00:37:30Z</dcterms:modified>
</cp:coreProperties>
</file>