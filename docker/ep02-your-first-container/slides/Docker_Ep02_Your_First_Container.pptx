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35b0b61-7138-0fb2-e1ec-bf9ab7615685}">
          <p14:sldIdLst>
            <p14:sldId id="256"/>
            <p14:sldId id="257"/>
          </p14:sldIdLst>
        </p14:section>
        <p14:section name="Install" id="{3e62ba25-3fac-bf5d-1c57-d1ed4386f1d1}">
          <p14:sldIdLst>
            <p14:sldId id="258"/>
          </p14:sldIdLst>
        </p14:section>
        <p14:section name="Run" id="{40d1be00-fa75-f03a-7005-fc9feb75fe73}">
          <p14:sldIdLst>
            <p14:sldId id="259"/>
            <p14:sldId id="260"/>
            <p14:sldId id="261"/>
          </p14:sldIdLst>
        </p14:section>
        <p14:section name="Inspect" id="{4458a49c-6c22-985d-ffee-f47e5e41b390}">
          <p14:sldIdLst>
            <p14:sldId id="262"/>
            <p14:sldId id="263"/>
          </p14:sldIdLst>
        </p14:section>
        <p14:section name="Enter" id="{ee260dea-fe86-f5b3-fcac-623b98d8a3b2}">
          <p14:sldIdLst>
            <p14:sldId id="264"/>
            <p14:sldId id="265"/>
          </p14:sldIdLst>
        </p14:section>
        <p14:section name="Clean up" id="{0666c085-d44f-473d-5370-3a0427f39a27}">
          <p14:sldIdLst>
            <p14:sldId id="266"/>
            <p14:sldId id="267"/>
            <p14:sldId id="268"/>
            <p14:sldId id="269"/>
          </p14:sldIdLst>
        </p14:section>
        <p14:section name="Wrap-up" id="{374cddb3-4e4d-28f5-23aa-90d7788c89c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CAMERA — TITLE SLIDE]
Welcome back to "Docker: Zero to GPU." This is episode 2.
Last time we covered WHY containers exist and what they really are: a Linux process with walls around it. Today we stop talking and start typing.
By the end of this video you'll have Docker installed, and you'll know how to run a container, see what's running, read its logs, step inside it, stop it, and clean it all up. These are the commands you'll use every single day, so we're going to go slowly and explain every flag.
Open a terminal and follow along.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you'll be able to do by the end.
Install Docker, on Linux, Mac, or Windows.
Run containers, both in the foreground where you interact with them, and in the background like a server.
Inspect them: see what's running and read their logs.
Enter them: open a shell inside a running container and look around.
And clean up: stop containers, remove them, and get your disk space back. Docker is notorious for quietly eating disk space, so this part matters.
Everything today runs on a normal laptop. No cloud account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 docker.com docs side by side]
Let's install Docker.
On Linux, you install Docker Engine. The quickest way for learning is Docker's convenience script. [Type along:] curl dash f-s-S-L get.docker.com, save it as get-docker.sh, then run it with sudo sh. For production servers you'd normally install from Docker's apt or yum repository instead, so you control the versions. I'll link the official docs in the description.
By default, Docker commands need sudo. To fix that, add your user to the docker group: sudo usermod dash a-G docker dollar-USER. Then either log out and back in, or run newgrp docker to apply it to this terminal.
[CAUTION — say this:] Quick security note: being in the docker group is effectively root access on that machine. Fine on your laptop, think twice on shared servers.
On Mac or Windows, download Docker Desktop from docker.com and install it like any app. On Windows, make sure it uses the WSL 2 backend. And remember from episode 1: Docker Desktop is quietly running a small Linux VM for you, because containers need a Linux kernel.
Now verify. Run docker version. [Run it.] Notice there are TWO sections: Client and Server. The client is the docker CLI you type into. The server is the Docker Engine daemon running in the background. If you only see the client and an error about connecting, the daemon isn't running — start Docker Desktop, or on Linux run sudo systemctl start docker.
Then docker info shows you details about the engine: how many containers and images you have, the storage driver,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full screen]
The classic first command. Type: docker run hello-world.
[Run it, then scroll back to the top of the output.]
Let's read what happened, because this tiny command does a LOT.
First line: "Unable to find image hello-world:latest locally." Docker looked on your machine for an image named hello-world and didn't find it.
So it pulled it. "Pulling from library/hello-world." It downloaded the image from Docker Hub, the default public registry. Notice the ":latest" — when you don't give a tag, Docker assumes latest. We'll talk about why relying on latest is a bad habit in the images episode.
Then the daemon created a container from that image and started it. The program inside printed this message. And then, because the program finished, the container stopped.
[Point at step 4.] That last part is the single most important rule in Docker: a container lives exactly as long as its main process. Main process ends, container stops. Keep that in mind; it explains a lot of "why did my container just exit?" moments.
Now run docker run hello-world a second time. [Run it.] No download this time. The image is cached locally, so it starts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write the command big, then underline each part in a different color as you explain]
hello-world exits immediately, which isn't very exciting. Let's run something that keeps running: nginx, a web server. Here's the command, and let's take it apart piece by piece.
"docker run" — create and start a new container.
"-d" — detached. Run it in the background and give me my terminal back. Without -d, the container is attached to your terminal and you'd see nginx's logs scroll past.
"--name web" — give it a name. If you don't, Docker invents a random one like "quirky_turing". Names make every other command easier, because you can say "web" instead of copying an ID.
"-p 8080:80" — publish a port. This is the one people get backwards, so let me be really clear. [Draw: laptop box with 8080 on the edge, container box inside with 80.] The LEFT number is the port on YOUR machine. The RIGHT number is the port INSIDE the container. nginx listens on 80 inside the container; we expose it on 8080 on the laptop. Remember the NET namespace from episode 1? The container has its own network, which is why we need this mapping at all.
And finally "nginx" — the image. Everything after the image name would be a command to run inside the container, but we don't need one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on the left, browser on the right]
Let's run it. docker run -d --name web -p 8080:80 nginx.
[Run it.] Docker pulls nginx if you don't have it, and then prints this long string. That's the full container ID. Then it gives the terminal back immediately, because of -d. The web server is now running in the background.
Let's prove it. curl localhost:8080. [Run it.] There's the "Welcome to nginx!" HTML.
Or open a browser and go to localhost:8080. [Switch to the browser, refresh.] There it is.
Think about what just happened. You didn't install nginx. You didn't touch any config files on your machine. One command, and you have a production-grade web server running in a few seconds. And when we're done, we'll delete it and your laptop will be exactly as it was before. That's the magic of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How do we see what's running? docker ps. [Run it.]
Let's read the columns. CONTAINER ID — a short version of that long ID. IMAGE — nginx. COMMAND — the process the container is running. CREATED, STATUS — "Up 2 minutes". PORTS — here's our 0.0.0.0:8080 to 80 mapping. And NAMES — web.
Now, docker ps only shows RUNNING containers. Run docker ps -a. [Run it.] Now we also see our hello-world containers with the status "Exited (0)". Exit code 0 means the program finished successfully. They're stopped, but they still exist and still take up a little disk space. Most beginners don't realize stopped containers stick around.
[DRAW: the lifecycle diagram]
Here's the lifecycle. A container is created, then started — now it's running. From running it can be paused, which freezes it in place. When you stop it, or when its main process ends on its own, it becomes exited. And only when you run docker rm is it actually removed.
Let's try it. docker stop web. [Run it.] docker ps — gone from the list. docker ps -a — there it is, exited. docker start web — back up, same container, same name. Refresh the browser —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 browser]
Our web server is running in the background, so how do we see what it's doing? docker logs web. [Run it.] You'll see nginx's startup messages and an access log line for every request we made.
Add -f to follow the logs live. docker logs -f web. [Run it, then refresh the browser a few times.] Watch — every refresh shows up instantly. Press Ctrl+C to stop following. That only stops the log viewer; the container keeps running.
On a busy app, the full log can be huge, so use --tail 20 to see just the last 20 lines. And -t adds timestamps.
Where do these logs come from? Docker captures whatever the container's main process writes to standard output and standard error. That's it.
Which gives us an important rule for when you containerize your own apps: log to stdout and stderr, not to a log file inside the container. If your app writes to /var/log/app.log inside the container, docker logs shows nothing, and that file disappears when the container is deleted. Log to stdout, and docker logs, and later Kubernetes and every logging tool, just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Now my favorite part: getting inside a running container. docker exec runs an extra command inside a container that's already running. We'll run bash, the shell.
docker exec -it web bash. [Run it.]
The -it is two flags together. -i keeps input open so you can type. -t gives you a proper terminal. You'll use -it any time you want an interactive shell.
Look at the prompt: root at some ID. Let's run hostname. [Run it.] The hostname is the container ID. That's the UTS namespace from episode 1 — the container has its own hostname.
cat /etc/os-release. [Run it.] It says Debian. I'm on [your OS], but inside this container it's Debian, because the nginx image is built on Debian. That's the "environment ships with the app" idea, live.
Now let's change something. The page nginx serves lives at /usr/share/nginx/html/index.html. I'll overwrite it: echo "Hello from inside" into that file. Type exit to leave the shell.
[Run curl localhost:8080.] Our new text. We modified a running container.
Two important points. One: typing exit only closed the bash shell we started with exec. The container keeps running, because its main process is nginx, not our shell. Two: that change lives in the container's writable layer. Hold that thought, because in a minute we'll delete this container and the change will vanish.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exec is for containers that are already running. You can also START a container interactively with docker run -it.
Let's use Alpine, a tiny Linux image, only a few megabytes. docker run -it --rm alpine sh. [Run it.]
--rm means: delete this container automatically when it exits. Perfect for throwaway experiments, so you don't pile up stopped containers.
Now, inside, type ps. [Run it.] Look at this. Only two processes. And sh — our shell — is PID 1. On your actual machine there are hundreds of processes, and PID 1 is systemd or launchd. But this process lives in its own PID namespace, so it thinks it's the first process on the system. That's what I promised you in episode 1, right there on screen.
Type exit. Because sh was the main process, the container stops. And because of --rm, it's deleted too. docker ps -a — no trace.
Now a classic beginner confusion. Run docker run ubuntu. [Run it.] It returns instantly and... nothing. docker ps — not there. docker ps -a — "Exited (0)". Did it crash? No. The ubuntu image's default command is bash. Without -it, bash has no terminal to read from, so it has nothing to do and exits immediately. Main process ends, container stops. Same rule as hello-world.
So if your container "dies instantly," the first question is always: what is its main process, and why did it end? docker logs will usually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Three ways to get rid of a container, and they're different.
docker stop is the polite one. It sends the main process a SIGTERM signal — basically "please shut down." A well-written app finishes in-flight requests, closes files, and exits. If it hasn't exited after 10 seconds, Docker sends SIGKILL and forcefully ends it. You can change that timeout with -t.
docker kill is the impolite one. SIGKILL immediately. No cleanup. Use it when stop hangs.
Neither of those deletes anything. The container is just exited. docker rm actually deletes it, along with its writable layer. docker rm only works on stopped containers, unless you add -f, which stops and removes in one go.
Now, remember the change we made inside nginx? Let's prove it lives only in the container. docker rm -f web, then run the exact same docker run command again. [Run both.] curl localhost:8080. [Run it.] It's back to "Welcome to nginx." Our "Hello from inside" is gone.
That's not a bug. That's the image-versus-container idea: the image is read-only, each new container starts fresh from it, and changes in a container die with the container. If you want data to survive, you use volumes, and that's coming in episode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terminal]
Last skill for today: cleaning up. Docker is famous for quietly filling your disk.
docker images lists every image on your machine and its size. [Run it.] You'll see hello-world, nginx, alpine, ubuntu.
docker rmi removes an image. Try docker rmi hello-world. [Run it.] You'll probably get an error saying the image is in use by a container — those exited hello-world containers. Docker won't delete an image while any container, even a stopped one, still uses it.
So first, docker container prune. [Run it.] It asks for confirmation, then removes ALL stopped containers at once. Now docker rmi hello-world works.
To see what's eating your disk, docker system df. [Run it.] It breaks it down: images, containers, local volumes, and build cache.
And the big broom: docker system prune. It removes stopped containers, unused networks, dangling images, and build cache. Add -a and it also removes every image that isn't being used by a container.
Be careful with -a on a machine where you've pulled large images, because you'll have to download them all again. Especially later in the series, when we're working with GPU images that are several gigabytes each. Docker always asks before it prunes, so actually read that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wrap up, here are the four errors you're almost guaranteed to hit this week, so you recognize them.
"Port is already allocated." Something on your machine is already using that host port — maybe another container, maybe a local app. Either pick a different host port, like -p 8081:80, or stop whatever's using it. Remember, only the LEFT number has to be free.
"Conflict. The container name /web is already in use." Container names are unique, and that includes stopped containers. Remove the old one with docker rm web, or pick a different name.
"Permission denied while trying to connect to the Docker daemon socket." Your user isn't in the docker group yet. Run the usermod command from the install step, then log out and back in. Use sudo in the meantime if you have to.
And "my container exits immediately." Its main process ended. Run docker ps -a to see the exit code and docker logs to see why. Exit code 0 means it finished normally, like ubuntu did. Anything else usually means an error. We'll go deep on exit codes in the debugging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hold on this slide for a few seconds]
Here's everything from today on one screen. Pause the video and screenshot it.
Run: docker run with -d, --name and -p for servers, and -it with --rm for throwaway shells.
Inspect: docker ps, and ps -a to include stopped containers. docker logs with -f to follow and --tail to limit.
Enter: docker exec -it name bash.
Lifecycle: stop, start, kill.
Clean up: docker rm -f, docker images and rmi, docker system df to see disk usage, and docker system prune.
I'll also put this in the description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CAMERA]
Let's recap with the three things I really want you to remember.
One: a container lives exactly as long as its main process. That explains hello-world exiting, ubuntu exiting, and why typing exit in a docker exec shell does NOT stop the container.
Two: in -p, the left number is your machine, the right number is inside the container.
Three: changes inside a container die with the container. The image stays clean and every new container starts fresh.
Homework: run a different image from Docker Hub — try redis or httpd — publish its port, read its logs, exec into it, and then clean everything up with prune. If you get stuck, drop the error in the comments.
Next episode, we look at images themselves: what layers are, how tags and digests work, why "latest" is a trap, and how registries like Docker Hub work. That's where you'll start to understand what we've actually been downloading today.
Subscribe so you don't miss it, and I'll see you in episode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3" name="Text 0"/>
          <p:cNvSpPr/>
          <p:nvPr>
            <p:ph idx="101" type="body" hasCustomPrompt="1"/>
          </p:nvPr>
        </p:nvSpPr>
        <p:spPr>
          <a:xfrm>
            <a:off x="731520" y="3886200"/>
            <a:ext cx="10698480" cy="914400"/>
          </a:xfrm>
          <a:prstGeom prst="rect">
            <a:avLst/>
          </a:prstGeom>
          <a:noFill/>
          <a:ln/>
        </p:spPr>
        <p:txBody>
          <a:bodyPr wrap="square" rtlCol="0"/>
          <a:lstStyle>
            <a:lvl1pPr indent="0" marL="0">
              <a:buNone/>
              <a:defRPr lang="en-US" sz="2400" dirty="0">
                <a:solidFill>
                  <a:schemeClr val="accent1"/>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Docker: Zero to GPU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lIns="0" tIns="0" rIns="0" bIns="0" rtlCol="0" anchor="b"/>
          <a:lstStyle/>
          <a:p>
            <a:pPr algn="l" indent="0" marL="0">
              <a:buNone/>
            </a:pPr>
            <a:r>
              <a:rPr lang="en-US" sz="5200" b="1" dirty="0">
                <a:solidFill>
                  <a:schemeClr val="bg1"/>
                </a:solidFill>
              </a:rPr>
              <a:t>Your First Container</a:t>
            </a:r>
            <a:endParaRPr lang="en-US" sz="5200" dirty="0"/>
          </a:p>
        </p:txBody>
      </p:sp>
      <p:sp>
        <p:nvSpPr>
          <p:cNvPr id="3" name="Text 0"/>
          <p:cNvSpPr/>
          <p:nvPr>
            <p:ph idx="101" type="body" hasCustomPrompt="1"/>
          </p:nvPr>
        </p:nvSpPr>
        <p:spPr>
          <a:xfrm>
            <a:off x="731520" y="3886200"/>
            <a:ext cx="10698480" cy="914400"/>
          </a:xfrm>
          <a:prstGeom prst="rect">
            <a:avLst/>
          </a:prstGeom>
          <a:noFill/>
          <a:ln/>
        </p:spPr>
        <p:txBody>
          <a:bodyPr wrap="square" lIns="0" tIns="0" rIns="0" bIns="0" rtlCol="0" anchor="t"/>
          <a:lstStyle/>
          <a:p>
            <a:pPr indent="0" marL="0">
              <a:buNone/>
            </a:pPr>
            <a:r>
              <a:rPr lang="en-US" sz="2400" dirty="0">
                <a:solidFill>
                  <a:schemeClr val="accent1"/>
                </a:solidFill>
              </a:rPr>
              <a:t>Docker: Zero to GPU  ·  Episode 2</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By the end of this video you can…</a:t>
            </a:r>
            <a:endParaRPr lang="en-US" sz="3400" dirty="0"/>
          </a:p>
        </p:txBody>
      </p:sp>
      <p:sp>
        <p:nvSpPr>
          <p:cNvPr id="3" name="Shape 1"/>
          <p:cNvSpPr/>
          <p:nvPr/>
        </p:nvSpPr>
        <p:spPr>
          <a:xfrm>
            <a:off x="548640" y="1645920"/>
            <a:ext cx="2057400" cy="3657600"/>
          </a:xfrm>
          <a:prstGeom prst="roundRect">
            <a:avLst>
              <a:gd name="adj" fmla="val 5333"/>
            </a:avLst>
          </a:prstGeom>
          <a:solidFill>
            <a:schemeClr val="bg2"/>
          </a:solidFill>
          <a:ln/>
        </p:spPr>
      </p:sp>
      <p:sp>
        <p:nvSpPr>
          <p:cNvPr id="4" name="Shape 2"/>
          <p:cNvSpPr/>
          <p:nvPr/>
        </p:nvSpPr>
        <p:spPr>
          <a:xfrm>
            <a:off x="1161288" y="2011680"/>
            <a:ext cx="822960" cy="8229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358798" y="2209190"/>
            <a:ext cx="427939" cy="427939"/>
          </a:xfrm>
          <a:prstGeom prst="rect">
            <a:avLst/>
          </a:prstGeom>
        </p:spPr>
      </p:pic>
      <p:sp>
        <p:nvSpPr>
          <p:cNvPr id="6" name="Text 3"/>
          <p:cNvSpPr txBox="1"/>
          <p:nvPr/>
        </p:nvSpPr>
        <p:spPr>
          <a:xfrm>
            <a:off x="685800" y="3063240"/>
            <a:ext cx="1783080" cy="502920"/>
          </a:xfrm>
          <a:prstGeom prst="rect">
            <a:avLst/>
          </a:prstGeom>
          <a:noFill/>
          <a:ln/>
        </p:spPr>
        <p:txBody>
          <a:bodyPr wrap="square" lIns="0" tIns="0" rIns="0" bIns="0" rtlCol="0" anchor="t"/>
          <a:lstStyle/>
          <a:p>
            <a:pPr algn="ctr" indent="0" marL="0">
              <a:buNone/>
            </a:pPr>
            <a:r>
              <a:rPr lang="en-US" sz="2200" b="1" dirty="0">
                <a:solidFill>
                  <a:schemeClr val="tx1"/>
                </a:solidFill>
              </a:rPr>
              <a:t>Install</a:t>
            </a:r>
            <a:endParaRPr lang="en-US" sz="2200" dirty="0"/>
          </a:p>
        </p:txBody>
      </p:sp>
      <p:sp>
        <p:nvSpPr>
          <p:cNvPr id="7" name="Text 4"/>
          <p:cNvSpPr txBox="1"/>
          <p:nvPr/>
        </p:nvSpPr>
        <p:spPr>
          <a:xfrm>
            <a:off x="731520" y="3657600"/>
            <a:ext cx="1691640" cy="1371600"/>
          </a:xfrm>
          <a:prstGeom prst="rect">
            <a:avLst/>
          </a:prstGeom>
          <a:noFill/>
          <a:ln/>
        </p:spPr>
        <p:txBody>
          <a:bodyPr wrap="square" lIns="0" tIns="0" rIns="0" bIns="0" rtlCol="0" anchor="t"/>
          <a:lstStyle/>
          <a:p>
            <a:pPr algn="ctr" indent="0" marL="0">
              <a:buNone/>
            </a:pPr>
            <a:r>
              <a:rPr lang="en-US" sz="1600" dirty="0">
                <a:solidFill>
                  <a:schemeClr val="tx2"/>
                </a:solidFill>
              </a:rPr>
              <a:t>Docker on Linux, Mac or Windows</a:t>
            </a:r>
            <a:endParaRPr lang="en-US" sz="1600" dirty="0"/>
          </a:p>
        </p:txBody>
      </p:sp>
      <p:sp>
        <p:nvSpPr>
          <p:cNvPr id="8" name="Shape 5"/>
          <p:cNvSpPr/>
          <p:nvPr/>
        </p:nvSpPr>
        <p:spPr>
          <a:xfrm>
            <a:off x="2798064" y="1645920"/>
            <a:ext cx="2057400" cy="3657600"/>
          </a:xfrm>
          <a:prstGeom prst="roundRect">
            <a:avLst>
              <a:gd name="adj" fmla="val 5333"/>
            </a:avLst>
          </a:prstGeom>
          <a:solidFill>
            <a:schemeClr val="bg2"/>
          </a:solidFill>
          <a:ln/>
        </p:spPr>
      </p:sp>
      <p:sp>
        <p:nvSpPr>
          <p:cNvPr id="9" name="Shape 6"/>
          <p:cNvSpPr/>
          <p:nvPr/>
        </p:nvSpPr>
        <p:spPr>
          <a:xfrm>
            <a:off x="3410712" y="2011680"/>
            <a:ext cx="822960" cy="82296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3608222" y="2209190"/>
            <a:ext cx="427939" cy="427939"/>
          </a:xfrm>
          <a:prstGeom prst="rect">
            <a:avLst/>
          </a:prstGeom>
        </p:spPr>
      </p:pic>
      <p:sp>
        <p:nvSpPr>
          <p:cNvPr id="11" name="Text 7"/>
          <p:cNvSpPr txBox="1"/>
          <p:nvPr/>
        </p:nvSpPr>
        <p:spPr>
          <a:xfrm>
            <a:off x="2935224" y="3063240"/>
            <a:ext cx="1783080" cy="502920"/>
          </a:xfrm>
          <a:prstGeom prst="rect">
            <a:avLst/>
          </a:prstGeom>
          <a:noFill/>
          <a:ln/>
        </p:spPr>
        <p:txBody>
          <a:bodyPr wrap="square" lIns="0" tIns="0" rIns="0" bIns="0" rtlCol="0" anchor="t"/>
          <a:lstStyle/>
          <a:p>
            <a:pPr algn="ctr" indent="0" marL="0">
              <a:buNone/>
            </a:pPr>
            <a:r>
              <a:rPr lang="en-US" sz="2200" b="1" dirty="0">
                <a:solidFill>
                  <a:schemeClr val="tx1"/>
                </a:solidFill>
              </a:rPr>
              <a:t>Run</a:t>
            </a:r>
            <a:endParaRPr lang="en-US" sz="2200" dirty="0"/>
          </a:p>
        </p:txBody>
      </p:sp>
      <p:sp>
        <p:nvSpPr>
          <p:cNvPr id="12" name="Text 8"/>
          <p:cNvSpPr txBox="1"/>
          <p:nvPr/>
        </p:nvSpPr>
        <p:spPr>
          <a:xfrm>
            <a:off x="2980944" y="3657600"/>
            <a:ext cx="1691640" cy="1371600"/>
          </a:xfrm>
          <a:prstGeom prst="rect">
            <a:avLst/>
          </a:prstGeom>
          <a:noFill/>
          <a:ln/>
        </p:spPr>
        <p:txBody>
          <a:bodyPr wrap="square" lIns="0" tIns="0" rIns="0" bIns="0" rtlCol="0" anchor="t"/>
          <a:lstStyle/>
          <a:p>
            <a:pPr algn="ctr" indent="0" marL="0">
              <a:buNone/>
            </a:pPr>
            <a:r>
              <a:rPr lang="en-US" sz="1600" dirty="0">
                <a:solidFill>
                  <a:schemeClr val="tx2"/>
                </a:solidFill>
              </a:rPr>
              <a:t>Containers in the foreground and background</a:t>
            </a:r>
            <a:endParaRPr lang="en-US" sz="1600" dirty="0"/>
          </a:p>
        </p:txBody>
      </p:sp>
      <p:sp>
        <p:nvSpPr>
          <p:cNvPr id="13" name="Shape 9"/>
          <p:cNvSpPr/>
          <p:nvPr/>
        </p:nvSpPr>
        <p:spPr>
          <a:xfrm>
            <a:off x="5047488" y="1645920"/>
            <a:ext cx="2057400" cy="3657600"/>
          </a:xfrm>
          <a:prstGeom prst="roundRect">
            <a:avLst>
              <a:gd name="adj" fmla="val 5333"/>
            </a:avLst>
          </a:prstGeom>
          <a:solidFill>
            <a:schemeClr val="bg2"/>
          </a:solidFill>
          <a:ln/>
        </p:spPr>
      </p:sp>
      <p:sp>
        <p:nvSpPr>
          <p:cNvPr id="14" name="Shape 10"/>
          <p:cNvSpPr/>
          <p:nvPr/>
        </p:nvSpPr>
        <p:spPr>
          <a:xfrm>
            <a:off x="5660136" y="2011680"/>
            <a:ext cx="822960" cy="822960"/>
          </a:xfrm>
          <a:prstGeom prst="ellipse">
            <a:avLst/>
          </a:prstGeom>
          <a:solidFill>
            <a:schemeClr val="accent5"/>
          </a:solidFill>
          <a:ln/>
        </p:spPr>
      </p:sp>
      <p:pic>
        <p:nvPicPr>
          <p:cNvPr id="15" name="Image 2" descr="preencoded.png">    </p:cNvPr>
          <p:cNvPicPr>
            <a:picLocks noChangeAspect="1"/>
          </p:cNvPicPr>
          <p:nvPr/>
        </p:nvPicPr>
        <p:blipFill>
          <a:blip r:embed="rId3"/>
          <a:stretch>
            <a:fillRect/>
          </a:stretch>
        </p:blipFill>
        <p:spPr>
          <a:xfrm>
            <a:off x="5857646" y="2209190"/>
            <a:ext cx="427939" cy="427939"/>
          </a:xfrm>
          <a:prstGeom prst="rect">
            <a:avLst/>
          </a:prstGeom>
        </p:spPr>
      </p:pic>
      <p:sp>
        <p:nvSpPr>
          <p:cNvPr id="16" name="Text 11"/>
          <p:cNvSpPr txBox="1"/>
          <p:nvPr/>
        </p:nvSpPr>
        <p:spPr>
          <a:xfrm>
            <a:off x="5184648" y="3063240"/>
            <a:ext cx="1783080" cy="502920"/>
          </a:xfrm>
          <a:prstGeom prst="rect">
            <a:avLst/>
          </a:prstGeom>
          <a:noFill/>
          <a:ln/>
        </p:spPr>
        <p:txBody>
          <a:bodyPr wrap="square" lIns="0" tIns="0" rIns="0" bIns="0" rtlCol="0" anchor="t"/>
          <a:lstStyle/>
          <a:p>
            <a:pPr algn="ctr" indent="0" marL="0">
              <a:buNone/>
            </a:pPr>
            <a:r>
              <a:rPr lang="en-US" sz="2200" b="1" dirty="0">
                <a:solidFill>
                  <a:schemeClr val="tx1"/>
                </a:solidFill>
              </a:rPr>
              <a:t>Inspect</a:t>
            </a:r>
            <a:endParaRPr lang="en-US" sz="2200" dirty="0"/>
          </a:p>
        </p:txBody>
      </p:sp>
      <p:sp>
        <p:nvSpPr>
          <p:cNvPr id="17" name="Text 12"/>
          <p:cNvSpPr txBox="1"/>
          <p:nvPr/>
        </p:nvSpPr>
        <p:spPr>
          <a:xfrm>
            <a:off x="5230368" y="3657600"/>
            <a:ext cx="1691640" cy="1371600"/>
          </a:xfrm>
          <a:prstGeom prst="rect">
            <a:avLst/>
          </a:prstGeom>
          <a:noFill/>
          <a:ln/>
        </p:spPr>
        <p:txBody>
          <a:bodyPr wrap="square" lIns="0" tIns="0" rIns="0" bIns="0" rtlCol="0" anchor="t"/>
          <a:lstStyle/>
          <a:p>
            <a:pPr algn="ctr" indent="0" marL="0">
              <a:buNone/>
            </a:pPr>
            <a:r>
              <a:rPr lang="en-US" sz="1600" dirty="0">
                <a:solidFill>
                  <a:schemeClr val="tx2"/>
                </a:solidFill>
              </a:rPr>
              <a:t>List containers and read their logs</a:t>
            </a:r>
            <a:endParaRPr lang="en-US" sz="1600" dirty="0"/>
          </a:p>
        </p:txBody>
      </p:sp>
      <p:sp>
        <p:nvSpPr>
          <p:cNvPr id="18" name="Shape 13"/>
          <p:cNvSpPr/>
          <p:nvPr/>
        </p:nvSpPr>
        <p:spPr>
          <a:xfrm>
            <a:off x="7296912" y="1645920"/>
            <a:ext cx="2057400" cy="3657600"/>
          </a:xfrm>
          <a:prstGeom prst="roundRect">
            <a:avLst>
              <a:gd name="adj" fmla="val 5333"/>
            </a:avLst>
          </a:prstGeom>
          <a:solidFill>
            <a:schemeClr val="bg2"/>
          </a:solidFill>
          <a:ln/>
        </p:spPr>
      </p:sp>
      <p:sp>
        <p:nvSpPr>
          <p:cNvPr id="19" name="Shape 14"/>
          <p:cNvSpPr/>
          <p:nvPr/>
        </p:nvSpPr>
        <p:spPr>
          <a:xfrm>
            <a:off x="7909560" y="2011680"/>
            <a:ext cx="822960" cy="822960"/>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8107070" y="2209190"/>
            <a:ext cx="427939" cy="427939"/>
          </a:xfrm>
          <a:prstGeom prst="rect">
            <a:avLst/>
          </a:prstGeom>
        </p:spPr>
      </p:pic>
      <p:sp>
        <p:nvSpPr>
          <p:cNvPr id="21" name="Text 15"/>
          <p:cNvSpPr txBox="1"/>
          <p:nvPr/>
        </p:nvSpPr>
        <p:spPr>
          <a:xfrm>
            <a:off x="7434072" y="3063240"/>
            <a:ext cx="1783080" cy="502920"/>
          </a:xfrm>
          <a:prstGeom prst="rect">
            <a:avLst/>
          </a:prstGeom>
          <a:noFill/>
          <a:ln/>
        </p:spPr>
        <p:txBody>
          <a:bodyPr wrap="square" lIns="0" tIns="0" rIns="0" bIns="0" rtlCol="0" anchor="t"/>
          <a:lstStyle/>
          <a:p>
            <a:pPr algn="ctr" indent="0" marL="0">
              <a:buNone/>
            </a:pPr>
            <a:r>
              <a:rPr lang="en-US" sz="2200" b="1" dirty="0">
                <a:solidFill>
                  <a:schemeClr val="tx1"/>
                </a:solidFill>
              </a:rPr>
              <a:t>Enter</a:t>
            </a:r>
            <a:endParaRPr lang="en-US" sz="2200" dirty="0"/>
          </a:p>
        </p:txBody>
      </p:sp>
      <p:sp>
        <p:nvSpPr>
          <p:cNvPr id="22" name="Text 16"/>
          <p:cNvSpPr txBox="1"/>
          <p:nvPr/>
        </p:nvSpPr>
        <p:spPr>
          <a:xfrm>
            <a:off x="7479792" y="3657600"/>
            <a:ext cx="1691640" cy="1371600"/>
          </a:xfrm>
          <a:prstGeom prst="rect">
            <a:avLst/>
          </a:prstGeom>
          <a:noFill/>
          <a:ln/>
        </p:spPr>
        <p:txBody>
          <a:bodyPr wrap="square" lIns="0" tIns="0" rIns="0" bIns="0" rtlCol="0" anchor="t"/>
          <a:lstStyle/>
          <a:p>
            <a:pPr algn="ctr" indent="0" marL="0">
              <a:buNone/>
            </a:pPr>
            <a:r>
              <a:rPr lang="en-US" sz="1600" dirty="0">
                <a:solidFill>
                  <a:schemeClr val="tx2"/>
                </a:solidFill>
              </a:rPr>
              <a:t>Open a shell inside a running container</a:t>
            </a:r>
            <a:endParaRPr lang="en-US" sz="1600" dirty="0"/>
          </a:p>
        </p:txBody>
      </p:sp>
      <p:sp>
        <p:nvSpPr>
          <p:cNvPr id="23" name="Shape 17"/>
          <p:cNvSpPr/>
          <p:nvPr/>
        </p:nvSpPr>
        <p:spPr>
          <a:xfrm>
            <a:off x="9546336" y="1645920"/>
            <a:ext cx="2057400" cy="3657600"/>
          </a:xfrm>
          <a:prstGeom prst="roundRect">
            <a:avLst>
              <a:gd name="adj" fmla="val 5333"/>
            </a:avLst>
          </a:prstGeom>
          <a:solidFill>
            <a:schemeClr val="bg2"/>
          </a:solidFill>
          <a:ln/>
        </p:spPr>
      </p:sp>
      <p:sp>
        <p:nvSpPr>
          <p:cNvPr id="24" name="Shape 18"/>
          <p:cNvSpPr/>
          <p:nvPr/>
        </p:nvSpPr>
        <p:spPr>
          <a:xfrm>
            <a:off x="10158984" y="2011680"/>
            <a:ext cx="822960" cy="822960"/>
          </a:xfrm>
          <a:prstGeom prst="ellipse">
            <a:avLst/>
          </a:prstGeom>
          <a:solidFill>
            <a:schemeClr val="accent4"/>
          </a:solidFill>
          <a:ln/>
        </p:spPr>
      </p:sp>
      <p:pic>
        <p:nvPicPr>
          <p:cNvPr id="25" name="Image 4" descr="preencoded.png">    </p:cNvPr>
          <p:cNvPicPr>
            <a:picLocks noChangeAspect="1"/>
          </p:cNvPicPr>
          <p:nvPr/>
        </p:nvPicPr>
        <p:blipFill>
          <a:blip r:embed="rId5"/>
          <a:stretch>
            <a:fillRect/>
          </a:stretch>
        </p:blipFill>
        <p:spPr>
          <a:xfrm>
            <a:off x="10356494" y="2209190"/>
            <a:ext cx="427939" cy="427939"/>
          </a:xfrm>
          <a:prstGeom prst="rect">
            <a:avLst/>
          </a:prstGeom>
        </p:spPr>
      </p:pic>
      <p:sp>
        <p:nvSpPr>
          <p:cNvPr id="26" name="Text 19"/>
          <p:cNvSpPr txBox="1"/>
          <p:nvPr/>
        </p:nvSpPr>
        <p:spPr>
          <a:xfrm>
            <a:off x="9683496" y="3063240"/>
            <a:ext cx="1783080" cy="502920"/>
          </a:xfrm>
          <a:prstGeom prst="rect">
            <a:avLst/>
          </a:prstGeom>
          <a:noFill/>
          <a:ln/>
        </p:spPr>
        <p:txBody>
          <a:bodyPr wrap="square" lIns="0" tIns="0" rIns="0" bIns="0" rtlCol="0" anchor="t"/>
          <a:lstStyle/>
          <a:p>
            <a:pPr algn="ctr" indent="0" marL="0">
              <a:buNone/>
            </a:pPr>
            <a:r>
              <a:rPr lang="en-US" sz="2200" b="1" dirty="0">
                <a:solidFill>
                  <a:schemeClr val="tx1"/>
                </a:solidFill>
              </a:rPr>
              <a:t>Clean up</a:t>
            </a:r>
            <a:endParaRPr lang="en-US" sz="2200" dirty="0"/>
          </a:p>
        </p:txBody>
      </p:sp>
      <p:sp>
        <p:nvSpPr>
          <p:cNvPr id="27" name="Text 20"/>
          <p:cNvSpPr txBox="1"/>
          <p:nvPr/>
        </p:nvSpPr>
        <p:spPr>
          <a:xfrm>
            <a:off x="9729216" y="3657600"/>
            <a:ext cx="1691640" cy="1371600"/>
          </a:xfrm>
          <a:prstGeom prst="rect">
            <a:avLst/>
          </a:prstGeom>
          <a:noFill/>
          <a:ln/>
        </p:spPr>
        <p:txBody>
          <a:bodyPr wrap="square" lIns="0" tIns="0" rIns="0" bIns="0" rtlCol="0" anchor="t"/>
          <a:lstStyle/>
          <a:p>
            <a:pPr algn="ctr" indent="0" marL="0">
              <a:buNone/>
            </a:pPr>
            <a:r>
              <a:rPr lang="en-US" sz="1600" dirty="0">
                <a:solidFill>
                  <a:schemeClr val="tx2"/>
                </a:solidFill>
              </a:rPr>
              <a:t>Stop, remove and reclaim disk space</a:t>
            </a:r>
            <a:endParaRPr lang="en-US" sz="1600" dirty="0"/>
          </a:p>
        </p:txBody>
      </p:sp>
      <p:sp>
        <p:nvSpPr>
          <p:cNvPr id="28" name="Text 21"/>
          <p:cNvSpPr txBox="1"/>
          <p:nvPr/>
        </p:nvSpPr>
        <p:spPr>
          <a:xfrm>
            <a:off x="548640" y="5623560"/>
            <a:ext cx="11064240" cy="411480"/>
          </a:xfrm>
          <a:prstGeom prst="rect">
            <a:avLst/>
          </a:prstGeom>
          <a:noFill/>
          <a:ln/>
        </p:spPr>
        <p:txBody>
          <a:bodyPr wrap="square" lIns="0" tIns="0" rIns="0" bIns="0" rtlCol="0" anchor="t"/>
          <a:lstStyle/>
          <a:p>
            <a:pPr algn="ctr" indent="0" marL="0">
              <a:buNone/>
            </a:pPr>
            <a:r>
              <a:rPr lang="en-US" sz="1700" i="1" dirty="0">
                <a:solidFill>
                  <a:schemeClr val="tx2"/>
                </a:solidFill>
              </a:rPr>
              <a:t>Follow along — everything in this episode runs on a laptop.</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Install Docker</a:t>
            </a:r>
            <a:endParaRPr lang="en-US" sz="3400" dirty="0"/>
          </a:p>
        </p:txBody>
      </p:sp>
      <p:sp>
        <p:nvSpPr>
          <p:cNvPr id="3" name="Shape 1"/>
          <p:cNvSpPr/>
          <p:nvPr/>
        </p:nvSpPr>
        <p:spPr>
          <a:xfrm>
            <a:off x="548640" y="1463040"/>
            <a:ext cx="5577840" cy="4572000"/>
          </a:xfrm>
          <a:prstGeom prst="roundRect">
            <a:avLst>
              <a:gd name="adj" fmla="val 2400"/>
            </a:avLst>
          </a:prstGeom>
          <a:solidFill>
            <a:schemeClr val="bg2"/>
          </a:solidFill>
          <a:ln/>
        </p:spPr>
      </p:sp>
      <p:sp>
        <p:nvSpPr>
          <p:cNvPr id="4" name="Shape 2"/>
          <p:cNvSpPr/>
          <p:nvPr/>
        </p:nvSpPr>
        <p:spPr>
          <a:xfrm>
            <a:off x="822960" y="1691640"/>
            <a:ext cx="685800" cy="68580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6" name="Text 3"/>
          <p:cNvSpPr txBox="1"/>
          <p:nvPr/>
        </p:nvSpPr>
        <p:spPr>
          <a:xfrm>
            <a:off x="1691640" y="1783080"/>
            <a:ext cx="4297680" cy="502920"/>
          </a:xfrm>
          <a:prstGeom prst="rect">
            <a:avLst/>
          </a:prstGeom>
          <a:noFill/>
          <a:ln/>
        </p:spPr>
        <p:txBody>
          <a:bodyPr wrap="square" lIns="0" tIns="0" rIns="0" bIns="0" rtlCol="0" anchor="ctr"/>
          <a:lstStyle/>
          <a:p>
            <a:pPr indent="0" marL="0">
              <a:buNone/>
            </a:pPr>
            <a:r>
              <a:rPr lang="en-US" sz="2100" b="1" dirty="0">
                <a:solidFill>
                  <a:schemeClr val="tx1"/>
                </a:solidFill>
              </a:rPr>
              <a:t>Linux: Docker Engine</a:t>
            </a:r>
            <a:endParaRPr lang="en-US" sz="2100" dirty="0"/>
          </a:p>
        </p:txBody>
      </p:sp>
      <p:sp>
        <p:nvSpPr>
          <p:cNvPr id="7" name="Terminal"/>
          <p:cNvSpPr/>
          <p:nvPr/>
        </p:nvSpPr>
        <p:spPr>
          <a:xfrm>
            <a:off x="777240" y="2560320"/>
            <a:ext cx="5120640" cy="3200400"/>
          </a:xfrm>
          <a:prstGeom prst="roundRect">
            <a:avLst>
              <a:gd name="adj" fmla="val 2857"/>
            </a:avLst>
          </a:prstGeom>
          <a:solidFill>
            <a:schemeClr val="tx2"/>
          </a:solidFill>
          <a:ln/>
        </p:spPr>
      </p:sp>
      <p:sp>
        <p:nvSpPr>
          <p:cNvPr id="8" name="Text 5"/>
          <p:cNvSpPr txBox="1"/>
          <p:nvPr/>
        </p:nvSpPr>
        <p:spPr>
          <a:xfrm>
            <a:off x="1051560" y="2743200"/>
            <a:ext cx="4572000" cy="2834640"/>
          </a:xfrm>
          <a:prstGeom prst="rect">
            <a:avLst/>
          </a:prstGeom>
          <a:noFill/>
          <a:ln/>
        </p:spPr>
        <p:txBody>
          <a:bodyPr wrap="square" lIns="0" tIns="0" rIns="0" bIns="0" rtlCol="0" anchor="t"/>
          <a:lstStyle/>
          <a:p>
            <a:pPr indent="0" marL="0">
              <a:spcAft>
                <a:spcPts val="400"/>
              </a:spcAft>
              <a:buNone/>
            </a:pPr>
            <a:r>
              <a:rPr lang="en-US" sz="1300" dirty="0">
                <a:solidFill>
                  <a:schemeClr val="accent2"/>
                </a:solidFill>
                <a:latin typeface="Courier New" pitchFamily="34" charset="0"/>
                <a:ea typeface="Courier New" pitchFamily="34" charset="-122"/>
                <a:cs typeface="Courier New" pitchFamily="34" charset="-120"/>
              </a:rPr>
              <a:t># quick install (fine for learning)</a:t>
            </a:r>
            <a:endParaRPr lang="en-US" sz="1300" dirty="0"/>
          </a:p>
          <a:p>
            <a:pPr indent="0" marL="0">
              <a:spcAft>
                <a:spcPts val="400"/>
              </a:spcAft>
              <a:buNone/>
            </a:pPr>
            <a:r>
              <a:rPr lang="en-US" sz="13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curl -fsSL https://get.docker.com \</a:t>
            </a:r>
            <a:endParaRPr lang="en-US" sz="1300" dirty="0"/>
          </a:p>
          <a:p>
            <a:pPr indent="0" marL="0">
              <a:spcAft>
                <a:spcPts val="400"/>
              </a:spcAft>
              <a:buNone/>
            </a:pPr>
            <a:r>
              <a:rPr lang="en-US" sz="1300" dirty="0">
                <a:solidFill>
                  <a:srgbClr val="A8B3C4"/>
                </a:solidFill>
                <a:latin typeface="Courier New" pitchFamily="34" charset="0"/>
                <a:ea typeface="Courier New" pitchFamily="34" charset="-122"/>
                <a:cs typeface="Courier New" pitchFamily="34" charset="-120"/>
              </a:rPr>
              <a:t>    -o get-docker.sh</a:t>
            </a:r>
            <a:endParaRPr lang="en-US" sz="1300" dirty="0"/>
          </a:p>
          <a:p>
            <a:pPr indent="0" marL="0">
              <a:spcAft>
                <a:spcPts val="400"/>
              </a:spcAft>
              <a:buNone/>
            </a:pPr>
            <a:r>
              <a:rPr lang="en-US" sz="13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sudo sh get-docker.sh</a:t>
            </a:r>
            <a:endParaRPr lang="en-US" sz="1300" dirty="0"/>
          </a:p>
          <a:p>
            <a:pPr indent="0" marL="0">
              <a:spcAft>
                <a:spcPts val="400"/>
              </a:spcAft>
              <a:buNone/>
            </a:pPr>
            <a:r>
              <a:rPr lang="en-US" sz="1300" dirty="0">
                <a:solidFill>
                  <a:srgbClr val="A8B3C4"/>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dirty="0">
                <a:solidFill>
                  <a:schemeClr val="accent2"/>
                </a:solidFill>
                <a:latin typeface="Courier New" pitchFamily="34" charset="0"/>
                <a:ea typeface="Courier New" pitchFamily="34" charset="-122"/>
                <a:cs typeface="Courier New" pitchFamily="34" charset="-120"/>
              </a:rPr>
              <a:t># run docker without sudo</a:t>
            </a:r>
            <a:endParaRPr lang="en-US" sz="1300" dirty="0"/>
          </a:p>
          <a:p>
            <a:pPr indent="0" marL="0">
              <a:spcAft>
                <a:spcPts val="400"/>
              </a:spcAft>
              <a:buNone/>
            </a:pPr>
            <a:r>
              <a:rPr lang="en-US" sz="13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sudo usermod -aG docker $USER</a:t>
            </a:r>
            <a:endParaRPr lang="en-US" sz="1300" dirty="0"/>
          </a:p>
          <a:p>
            <a:pPr indent="0" marL="0">
              <a:spcAft>
                <a:spcPts val="400"/>
              </a:spcAft>
              <a:buNone/>
            </a:pPr>
            <a:r>
              <a:rPr lang="en-US" sz="13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newgrp docker</a:t>
            </a:r>
            <a:endParaRPr lang="en-US" sz="1300" dirty="0"/>
          </a:p>
        </p:txBody>
      </p:sp>
      <p:sp>
        <p:nvSpPr>
          <p:cNvPr id="9" name="Shape 6"/>
          <p:cNvSpPr/>
          <p:nvPr/>
        </p:nvSpPr>
        <p:spPr>
          <a:xfrm>
            <a:off x="6400800" y="1463040"/>
            <a:ext cx="5212080" cy="2148840"/>
          </a:xfrm>
          <a:prstGeom prst="roundRect">
            <a:avLst>
              <a:gd name="adj" fmla="val 5106"/>
            </a:avLst>
          </a:prstGeom>
          <a:solidFill>
            <a:schemeClr val="bg2"/>
          </a:solidFill>
          <a:ln/>
        </p:spPr>
      </p:sp>
      <p:sp>
        <p:nvSpPr>
          <p:cNvPr id="10" name="Shape 7"/>
          <p:cNvSpPr/>
          <p:nvPr/>
        </p:nvSpPr>
        <p:spPr>
          <a:xfrm>
            <a:off x="6675120" y="1691640"/>
            <a:ext cx="685800" cy="685800"/>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6839712" y="1856232"/>
            <a:ext cx="356616" cy="356616"/>
          </a:xfrm>
          <a:prstGeom prst="rect">
            <a:avLst/>
          </a:prstGeom>
        </p:spPr>
      </p:pic>
      <p:sp>
        <p:nvSpPr>
          <p:cNvPr id="12" name="Shape 8"/>
          <p:cNvSpPr/>
          <p:nvPr/>
        </p:nvSpPr>
        <p:spPr>
          <a:xfrm>
            <a:off x="7452360" y="1691640"/>
            <a:ext cx="685800" cy="68580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7616952" y="1856232"/>
            <a:ext cx="356616" cy="356616"/>
          </a:xfrm>
          <a:prstGeom prst="rect">
            <a:avLst/>
          </a:prstGeom>
        </p:spPr>
      </p:pic>
      <p:sp>
        <p:nvSpPr>
          <p:cNvPr id="14" name="Text 9"/>
          <p:cNvSpPr txBox="1"/>
          <p:nvPr/>
        </p:nvSpPr>
        <p:spPr>
          <a:xfrm>
            <a:off x="8321040" y="1783080"/>
            <a:ext cx="3108960" cy="502920"/>
          </a:xfrm>
          <a:prstGeom prst="rect">
            <a:avLst/>
          </a:prstGeom>
          <a:noFill/>
          <a:ln/>
        </p:spPr>
        <p:txBody>
          <a:bodyPr wrap="square" lIns="0" tIns="0" rIns="0" bIns="0" rtlCol="0" anchor="ctr"/>
          <a:lstStyle/>
          <a:p>
            <a:pPr indent="0" marL="0">
              <a:buNone/>
            </a:pPr>
            <a:r>
              <a:rPr lang="en-US" sz="2100" b="1" dirty="0">
                <a:solidFill>
                  <a:schemeClr val="tx1"/>
                </a:solidFill>
              </a:rPr>
              <a:t>Mac &amp; Windows</a:t>
            </a:r>
            <a:endParaRPr lang="en-US" sz="2100" dirty="0"/>
          </a:p>
        </p:txBody>
      </p:sp>
      <p:sp>
        <p:nvSpPr>
          <p:cNvPr id="15" name="Text 10"/>
          <p:cNvSpPr txBox="1"/>
          <p:nvPr/>
        </p:nvSpPr>
        <p:spPr>
          <a:xfrm>
            <a:off x="6675120" y="2560320"/>
            <a:ext cx="4709160" cy="914400"/>
          </a:xfrm>
          <a:prstGeom prst="rect">
            <a:avLst/>
          </a:prstGeom>
          <a:noFill/>
          <a:ln/>
        </p:spPr>
        <p:txBody>
          <a:bodyPr wrap="square" lIns="0" tIns="0" rIns="0" bIns="0" rtlCol="0" anchor="t"/>
          <a:lstStyle/>
          <a:p>
            <a:pPr indent="0" marL="0">
              <a:buNone/>
            </a:pPr>
            <a:r>
              <a:rPr lang="en-US" sz="1600" dirty="0">
                <a:solidFill>
                  <a:schemeClr val="tx2"/>
                </a:solidFill>
              </a:rPr>
              <a:t>Install Docker Desktop from docker.com. On Windows, enable the WSL 2 backend.</a:t>
            </a:r>
            <a:endParaRPr lang="en-US" sz="1600" dirty="0"/>
          </a:p>
        </p:txBody>
      </p:sp>
      <p:sp>
        <p:nvSpPr>
          <p:cNvPr id="16" name="Shape 11"/>
          <p:cNvSpPr/>
          <p:nvPr/>
        </p:nvSpPr>
        <p:spPr>
          <a:xfrm>
            <a:off x="6400800" y="3840480"/>
            <a:ext cx="5212080" cy="2194560"/>
          </a:xfrm>
          <a:prstGeom prst="roundRect">
            <a:avLst>
              <a:gd name="adj" fmla="val 5000"/>
            </a:avLst>
          </a:prstGeom>
          <a:solidFill>
            <a:schemeClr val="bg2"/>
          </a:solidFill>
          <a:ln/>
        </p:spPr>
      </p:sp>
      <p:sp>
        <p:nvSpPr>
          <p:cNvPr id="17" name="Shape 12"/>
          <p:cNvSpPr/>
          <p:nvPr/>
        </p:nvSpPr>
        <p:spPr>
          <a:xfrm>
            <a:off x="6675120" y="4023360"/>
            <a:ext cx="685800" cy="685800"/>
          </a:xfrm>
          <a:prstGeom prst="ellipse">
            <a:avLst/>
          </a:prstGeom>
          <a:solidFill>
            <a:schemeClr val="accent3"/>
          </a:solidFill>
          <a:ln/>
        </p:spPr>
      </p:sp>
      <p:pic>
        <p:nvPicPr>
          <p:cNvPr id="18" name="Image 3" descr="preencoded.png">    </p:cNvPr>
          <p:cNvPicPr>
            <a:picLocks noChangeAspect="1"/>
          </p:cNvPicPr>
          <p:nvPr/>
        </p:nvPicPr>
        <p:blipFill>
          <a:blip r:embed="rId4"/>
          <a:stretch>
            <a:fillRect/>
          </a:stretch>
        </p:blipFill>
        <p:spPr>
          <a:xfrm>
            <a:off x="6839712" y="4187952"/>
            <a:ext cx="356616" cy="356616"/>
          </a:xfrm>
          <a:prstGeom prst="rect">
            <a:avLst/>
          </a:prstGeom>
        </p:spPr>
      </p:pic>
      <p:sp>
        <p:nvSpPr>
          <p:cNvPr id="19" name="Text 13"/>
          <p:cNvSpPr txBox="1"/>
          <p:nvPr/>
        </p:nvSpPr>
        <p:spPr>
          <a:xfrm>
            <a:off x="7543800" y="4114800"/>
            <a:ext cx="3840480" cy="502920"/>
          </a:xfrm>
          <a:prstGeom prst="rect">
            <a:avLst/>
          </a:prstGeom>
          <a:noFill/>
          <a:ln/>
        </p:spPr>
        <p:txBody>
          <a:bodyPr wrap="square" lIns="0" tIns="0" rIns="0" bIns="0" rtlCol="0" anchor="ctr"/>
          <a:lstStyle/>
          <a:p>
            <a:pPr indent="0" marL="0">
              <a:buNone/>
            </a:pPr>
            <a:r>
              <a:rPr lang="en-US" sz="2100" b="1" dirty="0">
                <a:solidFill>
                  <a:schemeClr val="tx1"/>
                </a:solidFill>
              </a:rPr>
              <a:t>Verify</a:t>
            </a:r>
            <a:endParaRPr lang="en-US" sz="2100" dirty="0"/>
          </a:p>
        </p:txBody>
      </p:sp>
      <p:sp>
        <p:nvSpPr>
          <p:cNvPr id="20" name="Terminal"/>
          <p:cNvSpPr/>
          <p:nvPr/>
        </p:nvSpPr>
        <p:spPr>
          <a:xfrm>
            <a:off x="6675120" y="4892040"/>
            <a:ext cx="4709160" cy="914400"/>
          </a:xfrm>
          <a:prstGeom prst="roundRect">
            <a:avLst>
              <a:gd name="adj" fmla="val 10000"/>
            </a:avLst>
          </a:prstGeom>
          <a:solidFill>
            <a:schemeClr val="tx2"/>
          </a:solidFill>
          <a:ln/>
        </p:spPr>
      </p:sp>
      <p:sp>
        <p:nvSpPr>
          <p:cNvPr id="21" name="Text 15"/>
          <p:cNvSpPr txBox="1"/>
          <p:nvPr/>
        </p:nvSpPr>
        <p:spPr>
          <a:xfrm>
            <a:off x="6949440" y="5074920"/>
            <a:ext cx="4160520" cy="548640"/>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version</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info</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Your first container: hello-world</a:t>
            </a:r>
            <a:endParaRPr lang="en-US" sz="3400" dirty="0"/>
          </a:p>
        </p:txBody>
      </p:sp>
      <p:sp>
        <p:nvSpPr>
          <p:cNvPr id="3" name="Terminal"/>
          <p:cNvSpPr/>
          <p:nvPr/>
        </p:nvSpPr>
        <p:spPr>
          <a:xfrm>
            <a:off x="548640" y="1463040"/>
            <a:ext cx="5577840" cy="4480560"/>
          </a:xfrm>
          <a:prstGeom prst="roundRect">
            <a:avLst>
              <a:gd name="adj" fmla="val 2041"/>
            </a:avLst>
          </a:prstGeom>
          <a:solidFill>
            <a:schemeClr val="tx2"/>
          </a:solidFill>
          <a:ln/>
        </p:spPr>
      </p:sp>
      <p:sp>
        <p:nvSpPr>
          <p:cNvPr id="4" name="Text 2"/>
          <p:cNvSpPr txBox="1"/>
          <p:nvPr/>
        </p:nvSpPr>
        <p:spPr>
          <a:xfrm>
            <a:off x="822960" y="1645920"/>
            <a:ext cx="5029200" cy="4114800"/>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run hello-world</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Unable to find image 'hello-world:latest'</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locally</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latest: Pulling from library/hello-world</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Hello from Docker!</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This message shows that your installation</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appears to be working correctly.</a:t>
            </a:r>
            <a:endParaRPr lang="en-US" sz="1500" dirty="0"/>
          </a:p>
        </p:txBody>
      </p:sp>
      <p:sp>
        <p:nvSpPr>
          <p:cNvPr id="5" name="Shape 3"/>
          <p:cNvSpPr/>
          <p:nvPr/>
        </p:nvSpPr>
        <p:spPr>
          <a:xfrm>
            <a:off x="6492240" y="1554480"/>
            <a:ext cx="685800" cy="685800"/>
          </a:xfrm>
          <a:prstGeom prst="roundRect">
            <a:avLst>
              <a:gd name="adj" fmla="val 8000"/>
            </a:avLst>
          </a:prstGeom>
          <a:solidFill>
            <a:schemeClr val="accent1"/>
          </a:solidFill>
          <a:ln/>
        </p:spPr>
      </p:sp>
      <p:sp>
        <p:nvSpPr>
          <p:cNvPr id="6" name="Text 4"/>
          <p:cNvSpPr txBox="1"/>
          <p:nvPr/>
        </p:nvSpPr>
        <p:spPr>
          <a:xfrm>
            <a:off x="6492240" y="1554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5"/>
          <p:cNvSpPr txBox="1"/>
          <p:nvPr/>
        </p:nvSpPr>
        <p:spPr>
          <a:xfrm>
            <a:off x="7406640" y="1463040"/>
            <a:ext cx="4206240" cy="868680"/>
          </a:xfrm>
          <a:prstGeom prst="rect">
            <a:avLst/>
          </a:prstGeom>
          <a:noFill/>
          <a:ln/>
        </p:spPr>
        <p:txBody>
          <a:bodyPr wrap="square" lIns="0" tIns="0" rIns="0" bIns="0" rtlCol="0" anchor="ctr"/>
          <a:lstStyle/>
          <a:p>
            <a:pPr indent="0" marL="0">
              <a:buNone/>
            </a:pPr>
            <a:r>
              <a:rPr lang="en-US" sz="1700" dirty="0">
                <a:solidFill>
                  <a:schemeClr val="tx1"/>
                </a:solidFill>
              </a:rPr>
              <a:t>CLI sends “run hello-world” to the Docker daemon</a:t>
            </a:r>
            <a:endParaRPr lang="en-US" sz="1700" dirty="0"/>
          </a:p>
        </p:txBody>
      </p:sp>
      <p:sp>
        <p:nvSpPr>
          <p:cNvPr id="8" name="Shape 6"/>
          <p:cNvSpPr/>
          <p:nvPr/>
        </p:nvSpPr>
        <p:spPr>
          <a:xfrm>
            <a:off x="6492240" y="2697480"/>
            <a:ext cx="685800" cy="685800"/>
          </a:xfrm>
          <a:prstGeom prst="roundRect">
            <a:avLst>
              <a:gd name="adj" fmla="val 8000"/>
            </a:avLst>
          </a:prstGeom>
          <a:solidFill>
            <a:schemeClr val="accent1"/>
          </a:solidFill>
          <a:ln/>
        </p:spPr>
      </p:sp>
      <p:sp>
        <p:nvSpPr>
          <p:cNvPr id="9" name="Text 7"/>
          <p:cNvSpPr txBox="1"/>
          <p:nvPr/>
        </p:nvSpPr>
        <p:spPr>
          <a:xfrm>
            <a:off x="6492240" y="2697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8"/>
          <p:cNvSpPr txBox="1"/>
          <p:nvPr/>
        </p:nvSpPr>
        <p:spPr>
          <a:xfrm>
            <a:off x="7406640" y="2606040"/>
            <a:ext cx="4206240" cy="868680"/>
          </a:xfrm>
          <a:prstGeom prst="rect">
            <a:avLst/>
          </a:prstGeom>
          <a:noFill/>
          <a:ln/>
        </p:spPr>
        <p:txBody>
          <a:bodyPr wrap="square" lIns="0" tIns="0" rIns="0" bIns="0" rtlCol="0" anchor="ctr"/>
          <a:lstStyle/>
          <a:p>
            <a:pPr indent="0" marL="0">
              <a:buNone/>
            </a:pPr>
            <a:r>
              <a:rPr lang="en-US" sz="1700" dirty="0">
                <a:solidFill>
                  <a:schemeClr val="tx1"/>
                </a:solidFill>
              </a:rPr>
              <a:t>Image not found locally, so the daemon pulls it from Docker Hub</a:t>
            </a:r>
            <a:endParaRPr lang="en-US" sz="1700" dirty="0"/>
          </a:p>
        </p:txBody>
      </p:sp>
      <p:sp>
        <p:nvSpPr>
          <p:cNvPr id="11" name="Shape 9"/>
          <p:cNvSpPr/>
          <p:nvPr/>
        </p:nvSpPr>
        <p:spPr>
          <a:xfrm>
            <a:off x="6492240" y="3840480"/>
            <a:ext cx="685800" cy="685800"/>
          </a:xfrm>
          <a:prstGeom prst="roundRect">
            <a:avLst>
              <a:gd name="adj" fmla="val 8000"/>
            </a:avLst>
          </a:prstGeom>
          <a:solidFill>
            <a:schemeClr val="accent1"/>
          </a:solidFill>
          <a:ln/>
        </p:spPr>
      </p:sp>
      <p:sp>
        <p:nvSpPr>
          <p:cNvPr id="12" name="Text 10"/>
          <p:cNvSpPr txBox="1"/>
          <p:nvPr/>
        </p:nvSpPr>
        <p:spPr>
          <a:xfrm>
            <a:off x="6492240" y="3840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1"/>
          <p:cNvSpPr txBox="1"/>
          <p:nvPr/>
        </p:nvSpPr>
        <p:spPr>
          <a:xfrm>
            <a:off x="7406640" y="3749040"/>
            <a:ext cx="4206240" cy="868680"/>
          </a:xfrm>
          <a:prstGeom prst="rect">
            <a:avLst/>
          </a:prstGeom>
          <a:noFill/>
          <a:ln/>
        </p:spPr>
        <p:txBody>
          <a:bodyPr wrap="square" lIns="0" tIns="0" rIns="0" bIns="0" rtlCol="0" anchor="ctr"/>
          <a:lstStyle/>
          <a:p>
            <a:pPr indent="0" marL="0">
              <a:buNone/>
            </a:pPr>
            <a:r>
              <a:rPr lang="en-US" sz="1700" dirty="0">
                <a:solidFill>
                  <a:schemeClr val="tx1"/>
                </a:solidFill>
              </a:rPr>
              <a:t>Daemon creates a container from the image and starts it</a:t>
            </a:r>
            <a:endParaRPr lang="en-US" sz="1700" dirty="0"/>
          </a:p>
        </p:txBody>
      </p:sp>
      <p:sp>
        <p:nvSpPr>
          <p:cNvPr id="14" name="Shape 12"/>
          <p:cNvSpPr/>
          <p:nvPr/>
        </p:nvSpPr>
        <p:spPr>
          <a:xfrm>
            <a:off x="6492240" y="4983480"/>
            <a:ext cx="685800" cy="685800"/>
          </a:xfrm>
          <a:prstGeom prst="roundRect">
            <a:avLst>
              <a:gd name="adj" fmla="val 8000"/>
            </a:avLst>
          </a:prstGeom>
          <a:solidFill>
            <a:schemeClr val="accent1"/>
          </a:solidFill>
          <a:ln/>
        </p:spPr>
      </p:sp>
      <p:sp>
        <p:nvSpPr>
          <p:cNvPr id="15" name="Text 13"/>
          <p:cNvSpPr txBox="1"/>
          <p:nvPr/>
        </p:nvSpPr>
        <p:spPr>
          <a:xfrm>
            <a:off x="6492240" y="4983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6" name="Text 14"/>
          <p:cNvSpPr txBox="1"/>
          <p:nvPr/>
        </p:nvSpPr>
        <p:spPr>
          <a:xfrm>
            <a:off x="7406640" y="4892040"/>
            <a:ext cx="4206240" cy="868680"/>
          </a:xfrm>
          <a:prstGeom prst="rect">
            <a:avLst/>
          </a:prstGeom>
          <a:noFill/>
          <a:ln/>
        </p:spPr>
        <p:txBody>
          <a:bodyPr wrap="square" lIns="0" tIns="0" rIns="0" bIns="0" rtlCol="0" anchor="ctr"/>
          <a:lstStyle/>
          <a:p>
            <a:pPr indent="0" marL="0">
              <a:buNone/>
            </a:pPr>
            <a:r>
              <a:rPr lang="en-US" sz="1700" dirty="0">
                <a:solidFill>
                  <a:schemeClr val="tx1"/>
                </a:solidFill>
              </a:rPr>
              <a:t>The program prints its message and exits — so the container stops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Anatomy of docker run</a:t>
            </a:r>
            <a:endParaRPr lang="en-US" sz="3400" dirty="0"/>
          </a:p>
        </p:txBody>
      </p:sp>
      <p:sp>
        <p:nvSpPr>
          <p:cNvPr id="3" name="Shape 1"/>
          <p:cNvSpPr/>
          <p:nvPr/>
        </p:nvSpPr>
        <p:spPr>
          <a:xfrm>
            <a:off x="548640" y="1508760"/>
            <a:ext cx="11064240" cy="1005840"/>
          </a:xfrm>
          <a:prstGeom prst="roundRect">
            <a:avLst>
              <a:gd name="adj" fmla="val 9091"/>
            </a:avLst>
          </a:prstGeom>
          <a:solidFill>
            <a:schemeClr val="tx2"/>
          </a:solidFill>
          <a:ln/>
        </p:spPr>
      </p:sp>
      <p:sp>
        <p:nvSpPr>
          <p:cNvPr id="4" name="Text 2"/>
          <p:cNvSpPr txBox="1"/>
          <p:nvPr/>
        </p:nvSpPr>
        <p:spPr>
          <a:xfrm>
            <a:off x="822960" y="1508760"/>
            <a:ext cx="10515600" cy="1005840"/>
          </a:xfrm>
          <a:prstGeom prst="rect">
            <a:avLst/>
          </a:prstGeom>
          <a:noFill/>
          <a:ln/>
        </p:spPr>
        <p:txBody>
          <a:bodyPr wrap="square" lIns="0" tIns="0" rIns="0" bIns="0" rtlCol="0" anchor="ctr"/>
          <a:lstStyle/>
          <a:p>
            <a:pPr indent="0" marL="0">
              <a:buNone/>
            </a:pPr>
            <a:r>
              <a:rPr lang="en-US" sz="2800" dirty="0">
                <a:solidFill>
                  <a:schemeClr val="bg1"/>
                </a:solidFill>
                <a:latin typeface="Courier New" pitchFamily="34" charset="0"/>
                <a:ea typeface="Courier New" pitchFamily="34" charset="-122"/>
                <a:cs typeface="Courier New" pitchFamily="34" charset="-120"/>
              </a:rPr>
              <a:t>docker run</a:t>
            </a:r>
            <a:pPr indent="0" marL="0">
              <a:buNone/>
            </a:pPr>
            <a:r>
              <a:rPr lang="en-US" sz="2800" b="1" dirty="0">
                <a:solidFill>
                  <a:schemeClr val="accent2"/>
                </a:solidFill>
                <a:latin typeface="Courier New" pitchFamily="34" charset="0"/>
                <a:ea typeface="Courier New" pitchFamily="34" charset="-122"/>
                <a:cs typeface="Courier New" pitchFamily="34" charset="-120"/>
              </a:rPr>
              <a:t> -d</a:t>
            </a:r>
            <a:pPr indent="0" marL="0">
              <a:buNone/>
            </a:pPr>
            <a:r>
              <a:rPr lang="en-US" sz="2800" b="1" dirty="0">
                <a:solidFill>
                  <a:schemeClr val="accent5"/>
                </a:solidFill>
                <a:latin typeface="Courier New" pitchFamily="34" charset="0"/>
                <a:ea typeface="Courier New" pitchFamily="34" charset="-122"/>
                <a:cs typeface="Courier New" pitchFamily="34" charset="-120"/>
              </a:rPr>
              <a:t> --name web</a:t>
            </a:r>
            <a:pPr indent="0" marL="0">
              <a:buNone/>
            </a:pPr>
            <a:r>
              <a:rPr lang="en-US" sz="2800" b="1" dirty="0">
                <a:solidFill>
                  <a:schemeClr val="accent3"/>
                </a:solidFill>
                <a:latin typeface="Courier New" pitchFamily="34" charset="0"/>
                <a:ea typeface="Courier New" pitchFamily="34" charset="-122"/>
                <a:cs typeface="Courier New" pitchFamily="34" charset="-120"/>
              </a:rPr>
              <a:t> -p 8080:80</a:t>
            </a:r>
            <a:pPr indent="0" marL="0">
              <a:buNone/>
            </a:pPr>
            <a:r>
              <a:rPr lang="en-US" sz="2800" b="1" dirty="0">
                <a:solidFill>
                  <a:schemeClr val="accent1"/>
                </a:solidFill>
                <a:latin typeface="Courier New" pitchFamily="34" charset="0"/>
                <a:ea typeface="Courier New" pitchFamily="34" charset="-122"/>
                <a:cs typeface="Courier New" pitchFamily="34" charset="-120"/>
              </a:rPr>
              <a:t> nginx</a:t>
            </a:r>
            <a:endParaRPr lang="en-US" sz="2800" dirty="0"/>
          </a:p>
        </p:txBody>
      </p:sp>
      <p:sp>
        <p:nvSpPr>
          <p:cNvPr id="5" name="Shape 3"/>
          <p:cNvSpPr/>
          <p:nvPr/>
        </p:nvSpPr>
        <p:spPr>
          <a:xfrm>
            <a:off x="548640" y="2788920"/>
            <a:ext cx="5440680" cy="1463040"/>
          </a:xfrm>
          <a:prstGeom prst="roundRect">
            <a:avLst>
              <a:gd name="adj" fmla="val 7500"/>
            </a:avLst>
          </a:prstGeom>
          <a:solidFill>
            <a:schemeClr val="bg2"/>
          </a:solidFill>
          <a:ln/>
        </p:spPr>
      </p:sp>
      <p:sp>
        <p:nvSpPr>
          <p:cNvPr id="6" name="Shape 4"/>
          <p:cNvSpPr/>
          <p:nvPr/>
        </p:nvSpPr>
        <p:spPr>
          <a:xfrm>
            <a:off x="777240" y="3063240"/>
            <a:ext cx="1828800" cy="548640"/>
          </a:xfrm>
          <a:prstGeom prst="roundRect">
            <a:avLst>
              <a:gd name="adj" fmla="val 10000"/>
            </a:avLst>
          </a:prstGeom>
          <a:solidFill>
            <a:schemeClr val="accent2"/>
          </a:solidFill>
          <a:ln/>
        </p:spPr>
      </p:sp>
      <p:sp>
        <p:nvSpPr>
          <p:cNvPr id="7" name="Text 5"/>
          <p:cNvSpPr txBox="1"/>
          <p:nvPr/>
        </p:nvSpPr>
        <p:spPr>
          <a:xfrm>
            <a:off x="777240" y="3063240"/>
            <a:ext cx="1828800" cy="548640"/>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8" name="Text 6"/>
          <p:cNvSpPr txBox="1"/>
          <p:nvPr/>
        </p:nvSpPr>
        <p:spPr>
          <a:xfrm>
            <a:off x="2834640" y="2971800"/>
            <a:ext cx="3017520" cy="457200"/>
          </a:xfrm>
          <a:prstGeom prst="rect">
            <a:avLst/>
          </a:prstGeom>
          <a:noFill/>
          <a:ln/>
        </p:spPr>
        <p:txBody>
          <a:bodyPr wrap="square" lIns="0" tIns="0" rIns="0" bIns="0" rtlCol="0" anchor="t"/>
          <a:lstStyle/>
          <a:p>
            <a:pPr indent="0" marL="0">
              <a:buNone/>
            </a:pPr>
            <a:r>
              <a:rPr lang="en-US" sz="1900" b="1" dirty="0">
                <a:solidFill>
                  <a:schemeClr val="tx1"/>
                </a:solidFill>
              </a:rPr>
              <a:t>Detached</a:t>
            </a:r>
            <a:endParaRPr lang="en-US" sz="1900" dirty="0"/>
          </a:p>
        </p:txBody>
      </p:sp>
      <p:sp>
        <p:nvSpPr>
          <p:cNvPr id="9" name="Text 7"/>
          <p:cNvSpPr txBox="1"/>
          <p:nvPr/>
        </p:nvSpPr>
        <p:spPr>
          <a:xfrm>
            <a:off x="2834640" y="3429000"/>
            <a:ext cx="3017520" cy="731520"/>
          </a:xfrm>
          <a:prstGeom prst="rect">
            <a:avLst/>
          </a:prstGeom>
          <a:noFill/>
          <a:ln/>
        </p:spPr>
        <p:txBody>
          <a:bodyPr wrap="square" lIns="0" tIns="0" rIns="0" bIns="0" rtlCol="0" anchor="t"/>
          <a:lstStyle/>
          <a:p>
            <a:pPr indent="0" marL="0">
              <a:buNone/>
            </a:pPr>
            <a:r>
              <a:rPr lang="en-US" sz="1500" dirty="0">
                <a:solidFill>
                  <a:schemeClr val="tx2"/>
                </a:solidFill>
              </a:rPr>
              <a:t>Run in the background and give me my terminal back</a:t>
            </a:r>
            <a:endParaRPr lang="en-US" sz="1500" dirty="0"/>
          </a:p>
        </p:txBody>
      </p:sp>
      <p:sp>
        <p:nvSpPr>
          <p:cNvPr id="10" name="Shape 8"/>
          <p:cNvSpPr/>
          <p:nvPr/>
        </p:nvSpPr>
        <p:spPr>
          <a:xfrm>
            <a:off x="6172200" y="2788920"/>
            <a:ext cx="5440680" cy="1463040"/>
          </a:xfrm>
          <a:prstGeom prst="roundRect">
            <a:avLst>
              <a:gd name="adj" fmla="val 7500"/>
            </a:avLst>
          </a:prstGeom>
          <a:solidFill>
            <a:schemeClr val="bg2"/>
          </a:solidFill>
          <a:ln/>
        </p:spPr>
      </p:sp>
      <p:sp>
        <p:nvSpPr>
          <p:cNvPr id="11" name="Shape 9"/>
          <p:cNvSpPr/>
          <p:nvPr/>
        </p:nvSpPr>
        <p:spPr>
          <a:xfrm>
            <a:off x="6400800" y="3063240"/>
            <a:ext cx="1828800" cy="548640"/>
          </a:xfrm>
          <a:prstGeom prst="roundRect">
            <a:avLst>
              <a:gd name="adj" fmla="val 10000"/>
            </a:avLst>
          </a:prstGeom>
          <a:solidFill>
            <a:schemeClr val="accent5"/>
          </a:solidFill>
          <a:ln/>
        </p:spPr>
      </p:sp>
      <p:sp>
        <p:nvSpPr>
          <p:cNvPr id="12" name="Text 10"/>
          <p:cNvSpPr txBox="1"/>
          <p:nvPr/>
        </p:nvSpPr>
        <p:spPr>
          <a:xfrm>
            <a:off x="6400800" y="3063240"/>
            <a:ext cx="1828800" cy="548640"/>
          </a:xfrm>
          <a:prstGeom prst="rect">
            <a:avLst/>
          </a:prstGeom>
          <a:noFill/>
          <a:ln/>
        </p:spPr>
        <p:txBody>
          <a:bodyPr wrap="square" lIns="0" tIns="0" rIns="0" bIns="0" rtlCol="0" anchor="ctr"/>
          <a:lstStyle/>
          <a:p>
            <a:pPr algn="ctr" indent="0" marL="0">
              <a:buNone/>
            </a:pPr>
            <a:r>
              <a:rPr lang="en-US" sz="1500" b="1" dirty="0">
                <a:solidFill>
                  <a:schemeClr val="bg1"/>
                </a:solidFill>
              </a:rPr>
              <a:t>--name web</a:t>
            </a:r>
            <a:endParaRPr lang="en-US" sz="1500" dirty="0"/>
          </a:p>
        </p:txBody>
      </p:sp>
      <p:sp>
        <p:nvSpPr>
          <p:cNvPr id="13" name="Text 11"/>
          <p:cNvSpPr txBox="1"/>
          <p:nvPr/>
        </p:nvSpPr>
        <p:spPr>
          <a:xfrm>
            <a:off x="8458200" y="2971800"/>
            <a:ext cx="3017520" cy="457200"/>
          </a:xfrm>
          <a:prstGeom prst="rect">
            <a:avLst/>
          </a:prstGeom>
          <a:noFill/>
          <a:ln/>
        </p:spPr>
        <p:txBody>
          <a:bodyPr wrap="square" lIns="0" tIns="0" rIns="0" bIns="0" rtlCol="0" anchor="t"/>
          <a:lstStyle/>
          <a:p>
            <a:pPr indent="0" marL="0">
              <a:buNone/>
            </a:pPr>
            <a:r>
              <a:rPr lang="en-US" sz="1900" b="1" dirty="0">
                <a:solidFill>
                  <a:schemeClr val="tx1"/>
                </a:solidFill>
              </a:rPr>
              <a:t>Name</a:t>
            </a:r>
            <a:endParaRPr lang="en-US" sz="1900" dirty="0"/>
          </a:p>
        </p:txBody>
      </p:sp>
      <p:sp>
        <p:nvSpPr>
          <p:cNvPr id="14" name="Text 12"/>
          <p:cNvSpPr txBox="1"/>
          <p:nvPr/>
        </p:nvSpPr>
        <p:spPr>
          <a:xfrm>
            <a:off x="8458200" y="3429000"/>
            <a:ext cx="3017520" cy="731520"/>
          </a:xfrm>
          <a:prstGeom prst="rect">
            <a:avLst/>
          </a:prstGeom>
          <a:noFill/>
          <a:ln/>
        </p:spPr>
        <p:txBody>
          <a:bodyPr wrap="square" lIns="0" tIns="0" rIns="0" bIns="0" rtlCol="0" anchor="t"/>
          <a:lstStyle/>
          <a:p>
            <a:pPr indent="0" marL="0">
              <a:buNone/>
            </a:pPr>
            <a:r>
              <a:rPr lang="en-US" sz="1500" dirty="0">
                <a:solidFill>
                  <a:schemeClr val="tx2"/>
                </a:solidFill>
              </a:rPr>
              <a:t>A friendly name instead of a random one like “quirky_turing”</a:t>
            </a:r>
            <a:endParaRPr lang="en-US" sz="1500" dirty="0"/>
          </a:p>
        </p:txBody>
      </p:sp>
      <p:sp>
        <p:nvSpPr>
          <p:cNvPr id="15" name="Shape 13"/>
          <p:cNvSpPr/>
          <p:nvPr/>
        </p:nvSpPr>
        <p:spPr>
          <a:xfrm>
            <a:off x="548640" y="4480560"/>
            <a:ext cx="5440680" cy="1463040"/>
          </a:xfrm>
          <a:prstGeom prst="roundRect">
            <a:avLst>
              <a:gd name="adj" fmla="val 7500"/>
            </a:avLst>
          </a:prstGeom>
          <a:solidFill>
            <a:schemeClr val="bg2"/>
          </a:solidFill>
          <a:ln/>
        </p:spPr>
      </p:sp>
      <p:sp>
        <p:nvSpPr>
          <p:cNvPr id="16" name="Shape 14"/>
          <p:cNvSpPr/>
          <p:nvPr/>
        </p:nvSpPr>
        <p:spPr>
          <a:xfrm>
            <a:off x="777240" y="4754880"/>
            <a:ext cx="1828800" cy="548640"/>
          </a:xfrm>
          <a:prstGeom prst="roundRect">
            <a:avLst>
              <a:gd name="adj" fmla="val 10000"/>
            </a:avLst>
          </a:prstGeom>
          <a:solidFill>
            <a:schemeClr val="accent3"/>
          </a:solidFill>
          <a:ln/>
        </p:spPr>
      </p:sp>
      <p:sp>
        <p:nvSpPr>
          <p:cNvPr id="17" name="Text 15"/>
          <p:cNvSpPr txBox="1"/>
          <p:nvPr/>
        </p:nvSpPr>
        <p:spPr>
          <a:xfrm>
            <a:off x="777240" y="4754880"/>
            <a:ext cx="1828800" cy="548640"/>
          </a:xfrm>
          <a:prstGeom prst="rect">
            <a:avLst/>
          </a:prstGeom>
          <a:noFill/>
          <a:ln/>
        </p:spPr>
        <p:txBody>
          <a:bodyPr wrap="square" lIns="0" tIns="0" rIns="0" bIns="0" rtlCol="0" anchor="ctr"/>
          <a:lstStyle/>
          <a:p>
            <a:pPr algn="ctr" indent="0" marL="0">
              <a:buNone/>
            </a:pPr>
            <a:r>
              <a:rPr lang="en-US" sz="1500" b="1" dirty="0">
                <a:solidFill>
                  <a:schemeClr val="bg1"/>
                </a:solidFill>
              </a:rPr>
              <a:t>-p 8080:80</a:t>
            </a:r>
            <a:endParaRPr lang="en-US" sz="1500" dirty="0"/>
          </a:p>
        </p:txBody>
      </p:sp>
      <p:sp>
        <p:nvSpPr>
          <p:cNvPr id="18" name="Text 16"/>
          <p:cNvSpPr txBox="1"/>
          <p:nvPr/>
        </p:nvSpPr>
        <p:spPr>
          <a:xfrm>
            <a:off x="2834640" y="4663440"/>
            <a:ext cx="3017520" cy="457200"/>
          </a:xfrm>
          <a:prstGeom prst="rect">
            <a:avLst/>
          </a:prstGeom>
          <a:noFill/>
          <a:ln/>
        </p:spPr>
        <p:txBody>
          <a:bodyPr wrap="square" lIns="0" tIns="0" rIns="0" bIns="0" rtlCol="0" anchor="t"/>
          <a:lstStyle/>
          <a:p>
            <a:pPr indent="0" marL="0">
              <a:buNone/>
            </a:pPr>
            <a:r>
              <a:rPr lang="en-US" sz="1900" b="1" dirty="0">
                <a:solidFill>
                  <a:schemeClr val="tx1"/>
                </a:solidFill>
              </a:rPr>
              <a:t>Publish port</a:t>
            </a:r>
            <a:endParaRPr lang="en-US" sz="1900" dirty="0"/>
          </a:p>
        </p:txBody>
      </p:sp>
      <p:sp>
        <p:nvSpPr>
          <p:cNvPr id="19" name="Text 17"/>
          <p:cNvSpPr txBox="1"/>
          <p:nvPr/>
        </p:nvSpPr>
        <p:spPr>
          <a:xfrm>
            <a:off x="2834640" y="5120640"/>
            <a:ext cx="3017520" cy="731520"/>
          </a:xfrm>
          <a:prstGeom prst="rect">
            <a:avLst/>
          </a:prstGeom>
          <a:noFill/>
          <a:ln/>
        </p:spPr>
        <p:txBody>
          <a:bodyPr wrap="square" lIns="0" tIns="0" rIns="0" bIns="0" rtlCol="0" anchor="t"/>
          <a:lstStyle/>
          <a:p>
            <a:pPr indent="0" marL="0">
              <a:buNone/>
            </a:pPr>
            <a:r>
              <a:rPr lang="en-US" sz="1500" dirty="0">
                <a:solidFill>
                  <a:schemeClr val="tx2"/>
                </a:solidFill>
              </a:rPr>
              <a:t>HOST port 8080 → CONTAINER port 80. Left side is your machine.</a:t>
            </a:r>
            <a:endParaRPr lang="en-US" sz="1500" dirty="0"/>
          </a:p>
        </p:txBody>
      </p:sp>
      <p:sp>
        <p:nvSpPr>
          <p:cNvPr id="20" name="Shape 18"/>
          <p:cNvSpPr/>
          <p:nvPr/>
        </p:nvSpPr>
        <p:spPr>
          <a:xfrm>
            <a:off x="6172200" y="4480560"/>
            <a:ext cx="5440680" cy="1463040"/>
          </a:xfrm>
          <a:prstGeom prst="roundRect">
            <a:avLst>
              <a:gd name="adj" fmla="val 7500"/>
            </a:avLst>
          </a:prstGeom>
          <a:solidFill>
            <a:schemeClr val="bg2"/>
          </a:solidFill>
          <a:ln/>
        </p:spPr>
      </p:sp>
      <p:sp>
        <p:nvSpPr>
          <p:cNvPr id="21" name="Shape 19"/>
          <p:cNvSpPr/>
          <p:nvPr/>
        </p:nvSpPr>
        <p:spPr>
          <a:xfrm>
            <a:off x="6400800" y="4754880"/>
            <a:ext cx="1828800" cy="548640"/>
          </a:xfrm>
          <a:prstGeom prst="roundRect">
            <a:avLst>
              <a:gd name="adj" fmla="val 10000"/>
            </a:avLst>
          </a:prstGeom>
          <a:solidFill>
            <a:schemeClr val="accent1"/>
          </a:solidFill>
          <a:ln/>
        </p:spPr>
      </p:sp>
      <p:sp>
        <p:nvSpPr>
          <p:cNvPr id="22" name="Text 20"/>
          <p:cNvSpPr txBox="1"/>
          <p:nvPr/>
        </p:nvSpPr>
        <p:spPr>
          <a:xfrm>
            <a:off x="6400800" y="4754880"/>
            <a:ext cx="1828800" cy="548640"/>
          </a:xfrm>
          <a:prstGeom prst="rect">
            <a:avLst/>
          </a:prstGeom>
          <a:noFill/>
          <a:ln/>
        </p:spPr>
        <p:txBody>
          <a:bodyPr wrap="square" lIns="0" tIns="0" rIns="0" bIns="0" rtlCol="0" anchor="ctr"/>
          <a:lstStyle/>
          <a:p>
            <a:pPr algn="ctr" indent="0" marL="0">
              <a:buNone/>
            </a:pPr>
            <a:r>
              <a:rPr lang="en-US" sz="1500" b="1" dirty="0">
                <a:solidFill>
                  <a:schemeClr val="bg1"/>
                </a:solidFill>
              </a:rPr>
              <a:t>nginx</a:t>
            </a:r>
            <a:endParaRPr lang="en-US" sz="1500" dirty="0"/>
          </a:p>
        </p:txBody>
      </p:sp>
      <p:sp>
        <p:nvSpPr>
          <p:cNvPr id="23" name="Text 21"/>
          <p:cNvSpPr txBox="1"/>
          <p:nvPr/>
        </p:nvSpPr>
        <p:spPr>
          <a:xfrm>
            <a:off x="8458200" y="4663440"/>
            <a:ext cx="3017520" cy="457200"/>
          </a:xfrm>
          <a:prstGeom prst="rect">
            <a:avLst/>
          </a:prstGeom>
          <a:noFill/>
          <a:ln/>
        </p:spPr>
        <p:txBody>
          <a:bodyPr wrap="square" lIns="0" tIns="0" rIns="0" bIns="0" rtlCol="0" anchor="t"/>
          <a:lstStyle/>
          <a:p>
            <a:pPr indent="0" marL="0">
              <a:buNone/>
            </a:pPr>
            <a:r>
              <a:rPr lang="en-US" sz="1900" b="1" dirty="0">
                <a:solidFill>
                  <a:schemeClr val="tx1"/>
                </a:solidFill>
              </a:rPr>
              <a:t>Image</a:t>
            </a:r>
            <a:endParaRPr lang="en-US" sz="1900" dirty="0"/>
          </a:p>
        </p:txBody>
      </p:sp>
      <p:sp>
        <p:nvSpPr>
          <p:cNvPr id="24" name="Text 22"/>
          <p:cNvSpPr txBox="1"/>
          <p:nvPr/>
        </p:nvSpPr>
        <p:spPr>
          <a:xfrm>
            <a:off x="8458200" y="5120640"/>
            <a:ext cx="3017520" cy="731520"/>
          </a:xfrm>
          <a:prstGeom prst="rect">
            <a:avLst/>
          </a:prstGeom>
          <a:noFill/>
          <a:ln/>
        </p:spPr>
        <p:txBody>
          <a:bodyPr wrap="square" lIns="0" tIns="0" rIns="0" bIns="0" rtlCol="0" anchor="t"/>
          <a:lstStyle/>
          <a:p>
            <a:pPr indent="0" marL="0">
              <a:buNone/>
            </a:pPr>
            <a:r>
              <a:rPr lang="en-US" sz="1500" dirty="0">
                <a:solidFill>
                  <a:schemeClr val="tx2"/>
                </a:solidFill>
              </a:rPr>
              <a:t>What to run. Pulled from Docker Hub if it isn’t local.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Demo: run a web server</a:t>
            </a:r>
            <a:endParaRPr lang="en-US" sz="3400" dirty="0"/>
          </a:p>
        </p:txBody>
      </p:sp>
      <p:sp>
        <p:nvSpPr>
          <p:cNvPr id="3" name="Terminal"/>
          <p:cNvSpPr/>
          <p:nvPr/>
        </p:nvSpPr>
        <p:spPr>
          <a:xfrm>
            <a:off x="548640" y="1463040"/>
            <a:ext cx="6949440" cy="4480560"/>
          </a:xfrm>
          <a:prstGeom prst="roundRect">
            <a:avLst>
              <a:gd name="adj" fmla="val 2041"/>
            </a:avLst>
          </a:prstGeom>
          <a:solidFill>
            <a:schemeClr val="tx2"/>
          </a:solidFill>
          <a:ln/>
        </p:spPr>
      </p:sp>
      <p:sp>
        <p:nvSpPr>
          <p:cNvPr id="4" name="Text 2"/>
          <p:cNvSpPr txBox="1"/>
          <p:nvPr/>
        </p:nvSpPr>
        <p:spPr>
          <a:xfrm>
            <a:off x="822960" y="1645920"/>
            <a:ext cx="6400800" cy="4114800"/>
          </a:xfrm>
          <a:prstGeom prst="rect">
            <a:avLst/>
          </a:prstGeom>
          <a:noFill/>
          <a:ln/>
        </p:spPr>
        <p:txBody>
          <a:bodyPr wrap="square" lIns="0" tIns="0" rIns="0" bIns="0" rtlCol="0" anchor="t"/>
          <a:lstStyle/>
          <a:p>
            <a:pPr indent="0" marL="0">
              <a:spcAft>
                <a:spcPts val="400"/>
              </a:spcAft>
              <a:buNone/>
            </a:pPr>
            <a:r>
              <a:rPr lang="en-US" sz="16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600" dirty="0">
                <a:solidFill>
                  <a:schemeClr val="bg1"/>
                </a:solidFill>
                <a:latin typeface="Courier New" pitchFamily="34" charset="0"/>
                <a:ea typeface="Courier New" pitchFamily="34" charset="-122"/>
                <a:cs typeface="Courier New" pitchFamily="34" charset="-120"/>
              </a:rPr>
              <a:t>docker run -d --name web -p 8080:80 nginx</a:t>
            </a:r>
            <a:endParaRPr lang="en-US" sz="1600" dirty="0"/>
          </a:p>
          <a:p>
            <a:pPr indent="0" marL="0">
              <a:spcAft>
                <a:spcPts val="400"/>
              </a:spcAft>
              <a:buNone/>
            </a:pPr>
            <a:r>
              <a:rPr lang="en-US" sz="1600" dirty="0">
                <a:solidFill>
                  <a:srgbClr val="A8B3C4"/>
                </a:solidFill>
                <a:latin typeface="Courier New" pitchFamily="34" charset="0"/>
                <a:ea typeface="Courier New" pitchFamily="34" charset="-122"/>
                <a:cs typeface="Courier New" pitchFamily="34" charset="-120"/>
              </a:rPr>
              <a:t>3f9c1a7e2b84...   # the full container ID</a:t>
            </a:r>
            <a:endParaRPr lang="en-US" sz="1600" dirty="0"/>
          </a:p>
          <a:p>
            <a:pPr indent="0" marL="0">
              <a:spcAft>
                <a:spcPts val="400"/>
              </a:spcAft>
              <a:buNone/>
            </a:pPr>
            <a:r>
              <a:rPr lang="en-US" sz="1600" dirty="0">
                <a:solidFill>
                  <a:srgbClr val="A8B3C4"/>
                </a:solidFill>
                <a:latin typeface="Courier New" pitchFamily="34" charset="0"/>
                <a:ea typeface="Courier New" pitchFamily="34" charset="-122"/>
                <a:cs typeface="Courier New" pitchFamily="34" charset="-120"/>
              </a:rPr>
              <a:t> </a:t>
            </a:r>
            <a:endParaRPr lang="en-US" sz="1600" dirty="0"/>
          </a:p>
          <a:p>
            <a:pPr indent="0" marL="0">
              <a:spcAft>
                <a:spcPts val="400"/>
              </a:spcAft>
              <a:buNone/>
            </a:pPr>
            <a:r>
              <a:rPr lang="en-US" sz="16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600" dirty="0">
                <a:solidFill>
                  <a:schemeClr val="bg1"/>
                </a:solidFill>
                <a:latin typeface="Courier New" pitchFamily="34" charset="0"/>
                <a:ea typeface="Courier New" pitchFamily="34" charset="-122"/>
                <a:cs typeface="Courier New" pitchFamily="34" charset="-120"/>
              </a:rPr>
              <a:t>curl localhost:8080</a:t>
            </a:r>
            <a:endParaRPr lang="en-US" sz="1600" dirty="0"/>
          </a:p>
          <a:p>
            <a:pPr indent="0" marL="0">
              <a:spcAft>
                <a:spcPts val="400"/>
              </a:spcAft>
              <a:buNone/>
            </a:pPr>
            <a:r>
              <a:rPr lang="en-US" sz="1600" dirty="0">
                <a:solidFill>
                  <a:srgbClr val="A8B3C4"/>
                </a:solidFill>
                <a:latin typeface="Courier New" pitchFamily="34" charset="0"/>
                <a:ea typeface="Courier New" pitchFamily="34" charset="-122"/>
                <a:cs typeface="Courier New" pitchFamily="34" charset="-120"/>
              </a:rPr>
              <a:t>&lt;h1&gt;Welcome to nginx!&lt;/h1&gt;</a:t>
            </a:r>
            <a:endParaRPr lang="en-US" sz="1600" dirty="0"/>
          </a:p>
          <a:p>
            <a:pPr indent="0" marL="0">
              <a:spcAft>
                <a:spcPts val="400"/>
              </a:spcAft>
              <a:buNone/>
            </a:pPr>
            <a:r>
              <a:rPr lang="en-US" sz="1600" dirty="0">
                <a:solidFill>
                  <a:srgbClr val="A8B3C4"/>
                </a:solidFill>
                <a:latin typeface="Courier New" pitchFamily="34" charset="0"/>
                <a:ea typeface="Courier New" pitchFamily="34" charset="-122"/>
                <a:cs typeface="Courier New" pitchFamily="34" charset="-120"/>
              </a:rPr>
              <a:t> </a:t>
            </a:r>
            <a:endParaRPr lang="en-US" sz="1600" dirty="0"/>
          </a:p>
          <a:p>
            <a:pPr indent="0" marL="0">
              <a:spcAft>
                <a:spcPts val="400"/>
              </a:spcAft>
              <a:buNone/>
            </a:pPr>
            <a:r>
              <a:rPr lang="en-US" sz="1600" dirty="0">
                <a:solidFill>
                  <a:schemeClr val="accent2"/>
                </a:solidFill>
                <a:latin typeface="Courier New" pitchFamily="34" charset="0"/>
                <a:ea typeface="Courier New" pitchFamily="34" charset="-122"/>
                <a:cs typeface="Courier New" pitchFamily="34" charset="-120"/>
              </a:rPr>
              <a:t># or open http://localhost:8080 in a browser</a:t>
            </a:r>
            <a:endParaRPr lang="en-US" sz="1600" dirty="0"/>
          </a:p>
        </p:txBody>
      </p:sp>
      <p:sp>
        <p:nvSpPr>
          <p:cNvPr id="5" name="Shape 3"/>
          <p:cNvSpPr/>
          <p:nvPr/>
        </p:nvSpPr>
        <p:spPr>
          <a:xfrm>
            <a:off x="7772400" y="1463040"/>
            <a:ext cx="3840480" cy="4480560"/>
          </a:xfrm>
          <a:prstGeom prst="roundRect">
            <a:avLst>
              <a:gd name="adj" fmla="val 2857"/>
            </a:avLst>
          </a:prstGeom>
          <a:solidFill>
            <a:schemeClr val="bg2"/>
          </a:solidFill>
          <a:ln/>
        </p:spPr>
      </p:sp>
      <p:sp>
        <p:nvSpPr>
          <p:cNvPr id="6" name="Shape 4"/>
          <p:cNvSpPr/>
          <p:nvPr/>
        </p:nvSpPr>
        <p:spPr>
          <a:xfrm>
            <a:off x="8046720" y="1737360"/>
            <a:ext cx="731520" cy="731520"/>
          </a:xfrm>
          <a:prstGeom prst="ellipse">
            <a:avLst/>
          </a:prstGeom>
          <a:solidFill>
            <a:schemeClr val="accent3"/>
          </a:solidFill>
          <a:ln/>
        </p:spPr>
      </p:sp>
      <p:pic>
        <p:nvPicPr>
          <p:cNvPr id="7" name="Image 0" descr="preencoded.png">    </p:cNvPr>
          <p:cNvPicPr>
            <a:picLocks noChangeAspect="1"/>
          </p:cNvPicPr>
          <p:nvPr/>
        </p:nvPicPr>
        <p:blipFill>
          <a:blip r:embed="rId1"/>
          <a:stretch>
            <a:fillRect/>
          </a:stretch>
        </p:blipFill>
        <p:spPr>
          <a:xfrm>
            <a:off x="8222285" y="1912925"/>
            <a:ext cx="380390" cy="380390"/>
          </a:xfrm>
          <a:prstGeom prst="rect">
            <a:avLst/>
          </a:prstGeom>
        </p:spPr>
      </p:pic>
      <p:sp>
        <p:nvSpPr>
          <p:cNvPr id="8" name="Text 5"/>
          <p:cNvSpPr txBox="1"/>
          <p:nvPr/>
        </p:nvSpPr>
        <p:spPr>
          <a:xfrm>
            <a:off x="8915400" y="1828800"/>
            <a:ext cx="2560320" cy="548640"/>
          </a:xfrm>
          <a:prstGeom prst="rect">
            <a:avLst/>
          </a:prstGeom>
          <a:noFill/>
          <a:ln/>
        </p:spPr>
        <p:txBody>
          <a:bodyPr wrap="square" lIns="0" tIns="0" rIns="0" bIns="0" rtlCol="0" anchor="ctr"/>
          <a:lstStyle/>
          <a:p>
            <a:pPr indent="0" marL="0">
              <a:buNone/>
            </a:pPr>
            <a:r>
              <a:rPr lang="en-US" sz="1900" b="1" dirty="0">
                <a:solidFill>
                  <a:schemeClr val="tx1"/>
                </a:solidFill>
              </a:rPr>
              <a:t>What just happened</a:t>
            </a:r>
            <a:endParaRPr lang="en-US" sz="1900" dirty="0"/>
          </a:p>
        </p:txBody>
      </p:sp>
      <p:sp>
        <p:nvSpPr>
          <p:cNvPr id="9" name="Text 6"/>
          <p:cNvSpPr txBox="1"/>
          <p:nvPr/>
        </p:nvSpPr>
        <p:spPr>
          <a:xfrm>
            <a:off x="8046720" y="2697480"/>
            <a:ext cx="338328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nginx image was pulled</a:t>
            </a:r>
            <a:endParaRPr lang="en-US" sz="1600" dirty="0"/>
          </a:p>
          <a:p>
            <a:pPr marL="342900" indent="-342900">
              <a:spcAft>
                <a:spcPts val="1000"/>
              </a:spcAft>
              <a:buSzPct val="100000"/>
              <a:buChar char="•"/>
            </a:pPr>
            <a:r>
              <a:rPr lang="en-US" sz="1600" dirty="0">
                <a:solidFill>
                  <a:schemeClr val="tx1"/>
                </a:solidFill>
              </a:rPr>
              <a:t>A container started in the background</a:t>
            </a:r>
            <a:endParaRPr lang="en-US" sz="1600" dirty="0"/>
          </a:p>
          <a:p>
            <a:pPr marL="342900" indent="-342900">
              <a:spcAft>
                <a:spcPts val="1000"/>
              </a:spcAft>
              <a:buSzPct val="100000"/>
              <a:buChar char="•"/>
            </a:pPr>
            <a:r>
              <a:rPr lang="en-US" sz="1600" dirty="0">
                <a:solidFill>
                  <a:schemeClr val="tx1"/>
                </a:solidFill>
              </a:rPr>
              <a:t>Docker printed its ID and returned</a:t>
            </a:r>
            <a:endParaRPr lang="en-US" sz="1600" dirty="0"/>
          </a:p>
          <a:p>
            <a:pPr marL="342900" indent="-342900">
              <a:spcAft>
                <a:spcPts val="1000"/>
              </a:spcAft>
              <a:buSzPct val="100000"/>
              <a:buChar char="•"/>
            </a:pPr>
            <a:r>
              <a:rPr lang="en-US" sz="1600" dirty="0">
                <a:solidFill>
                  <a:schemeClr val="tx1"/>
                </a:solidFill>
              </a:rPr>
              <a:t>Requests to localhost:8080 are forwarded to port 80 inside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docker ps and the container lifecycle</a:t>
            </a:r>
            <a:endParaRPr lang="en-US" sz="3400" dirty="0"/>
          </a:p>
        </p:txBody>
      </p:sp>
      <p:sp>
        <p:nvSpPr>
          <p:cNvPr id="3" name="Terminal"/>
          <p:cNvSpPr/>
          <p:nvPr/>
        </p:nvSpPr>
        <p:spPr>
          <a:xfrm>
            <a:off x="548640" y="1463040"/>
            <a:ext cx="4937760" cy="2377440"/>
          </a:xfrm>
          <a:prstGeom prst="roundRect">
            <a:avLst>
              <a:gd name="adj" fmla="val 3846"/>
            </a:avLst>
          </a:prstGeom>
          <a:solidFill>
            <a:schemeClr val="tx2"/>
          </a:solidFill>
          <a:ln/>
        </p:spPr>
      </p:sp>
      <p:sp>
        <p:nvSpPr>
          <p:cNvPr id="4" name="Text 2"/>
          <p:cNvSpPr txBox="1"/>
          <p:nvPr/>
        </p:nvSpPr>
        <p:spPr>
          <a:xfrm>
            <a:off x="822960" y="1645920"/>
            <a:ext cx="4389120" cy="2011680"/>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ps        # running only</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ps -a     # include stopped</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stop web</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start web</a:t>
            </a:r>
            <a:endParaRPr lang="en-US" sz="1500" dirty="0"/>
          </a:p>
        </p:txBody>
      </p:sp>
      <p:sp>
        <p:nvSpPr>
          <p:cNvPr id="5" name="Shape 3"/>
          <p:cNvSpPr/>
          <p:nvPr/>
        </p:nvSpPr>
        <p:spPr>
          <a:xfrm>
            <a:off x="6035040" y="1828800"/>
            <a:ext cx="2194560" cy="731520"/>
          </a:xfrm>
          <a:prstGeom prst="roundRect">
            <a:avLst>
              <a:gd name="adj" fmla="val 7500"/>
            </a:avLst>
          </a:prstGeom>
          <a:solidFill>
            <a:schemeClr val="accent6"/>
          </a:solidFill>
          <a:ln/>
        </p:spPr>
      </p:sp>
      <p:sp>
        <p:nvSpPr>
          <p:cNvPr id="6" name="Text 4"/>
          <p:cNvSpPr txBox="1"/>
          <p:nvPr/>
        </p:nvSpPr>
        <p:spPr>
          <a:xfrm>
            <a:off x="6035040" y="182880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created</a:t>
            </a:r>
            <a:endParaRPr lang="en-US" sz="1800" dirty="0"/>
          </a:p>
        </p:txBody>
      </p:sp>
      <p:sp>
        <p:nvSpPr>
          <p:cNvPr id="7" name="Shape 5"/>
          <p:cNvSpPr/>
          <p:nvPr/>
        </p:nvSpPr>
        <p:spPr>
          <a:xfrm>
            <a:off x="8869680" y="1828800"/>
            <a:ext cx="2194560" cy="731520"/>
          </a:xfrm>
          <a:prstGeom prst="roundRect">
            <a:avLst>
              <a:gd name="adj" fmla="val 7500"/>
            </a:avLst>
          </a:prstGeom>
          <a:solidFill>
            <a:schemeClr val="accent3"/>
          </a:solidFill>
          <a:ln/>
        </p:spPr>
      </p:sp>
      <p:sp>
        <p:nvSpPr>
          <p:cNvPr id="8" name="Text 6"/>
          <p:cNvSpPr txBox="1"/>
          <p:nvPr/>
        </p:nvSpPr>
        <p:spPr>
          <a:xfrm>
            <a:off x="8869680" y="182880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running</a:t>
            </a:r>
            <a:endParaRPr lang="en-US" sz="1800" dirty="0"/>
          </a:p>
        </p:txBody>
      </p:sp>
      <p:sp>
        <p:nvSpPr>
          <p:cNvPr id="9" name="Shape 7"/>
          <p:cNvSpPr/>
          <p:nvPr/>
        </p:nvSpPr>
        <p:spPr>
          <a:xfrm>
            <a:off x="8869680" y="3566160"/>
            <a:ext cx="2194560" cy="731520"/>
          </a:xfrm>
          <a:prstGeom prst="roundRect">
            <a:avLst>
              <a:gd name="adj" fmla="val 7500"/>
            </a:avLst>
          </a:prstGeom>
          <a:solidFill>
            <a:schemeClr val="accent2"/>
          </a:solidFill>
          <a:ln/>
        </p:spPr>
      </p:sp>
      <p:sp>
        <p:nvSpPr>
          <p:cNvPr id="10" name="Text 8"/>
          <p:cNvSpPr txBox="1"/>
          <p:nvPr/>
        </p:nvSpPr>
        <p:spPr>
          <a:xfrm>
            <a:off x="8869680" y="356616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paused</a:t>
            </a:r>
            <a:endParaRPr lang="en-US" sz="1800" dirty="0"/>
          </a:p>
        </p:txBody>
      </p:sp>
      <p:sp>
        <p:nvSpPr>
          <p:cNvPr id="11" name="Shape 9"/>
          <p:cNvSpPr/>
          <p:nvPr/>
        </p:nvSpPr>
        <p:spPr>
          <a:xfrm>
            <a:off x="8869680" y="5120640"/>
            <a:ext cx="2194560" cy="731520"/>
          </a:xfrm>
          <a:prstGeom prst="roundRect">
            <a:avLst>
              <a:gd name="adj" fmla="val 7500"/>
            </a:avLst>
          </a:prstGeom>
          <a:solidFill>
            <a:schemeClr val="accent4"/>
          </a:solidFill>
          <a:ln/>
        </p:spPr>
      </p:sp>
      <p:sp>
        <p:nvSpPr>
          <p:cNvPr id="12" name="Text 10"/>
          <p:cNvSpPr txBox="1"/>
          <p:nvPr/>
        </p:nvSpPr>
        <p:spPr>
          <a:xfrm>
            <a:off x="8869680" y="512064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exited</a:t>
            </a:r>
            <a:endParaRPr lang="en-US" sz="1800" dirty="0"/>
          </a:p>
        </p:txBody>
      </p:sp>
      <p:sp>
        <p:nvSpPr>
          <p:cNvPr id="13" name="Shape 11"/>
          <p:cNvSpPr/>
          <p:nvPr/>
        </p:nvSpPr>
        <p:spPr>
          <a:xfrm>
            <a:off x="6035040" y="5120640"/>
            <a:ext cx="2194560" cy="731520"/>
          </a:xfrm>
          <a:prstGeom prst="roundRect">
            <a:avLst>
              <a:gd name="adj" fmla="val 7500"/>
            </a:avLst>
          </a:prstGeom>
          <a:solidFill>
            <a:schemeClr val="tx2"/>
          </a:solidFill>
          <a:ln/>
        </p:spPr>
      </p:sp>
      <p:sp>
        <p:nvSpPr>
          <p:cNvPr id="14" name="Text 12"/>
          <p:cNvSpPr txBox="1"/>
          <p:nvPr/>
        </p:nvSpPr>
        <p:spPr>
          <a:xfrm>
            <a:off x="6035040" y="512064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removed</a:t>
            </a:r>
            <a:endParaRPr lang="en-US" sz="1800" dirty="0"/>
          </a:p>
        </p:txBody>
      </p:sp>
      <p:sp>
        <p:nvSpPr>
          <p:cNvPr id="15" name="Shape 13"/>
          <p:cNvSpPr/>
          <p:nvPr/>
        </p:nvSpPr>
        <p:spPr>
          <a:xfrm>
            <a:off x="8229600" y="2194560"/>
            <a:ext cx="640080" cy="914"/>
          </a:xfrm>
          <a:prstGeom prst="line">
            <a:avLst/>
          </a:prstGeom>
          <a:noFill/>
          <a:ln w="31750">
            <a:solidFill>
              <a:schemeClr val="accent6"/>
            </a:solidFill>
            <a:prstDash val="solid"/>
            <a:tailEnd type="triangle"/>
          </a:ln>
        </p:spPr>
      </p:sp>
      <p:sp>
        <p:nvSpPr>
          <p:cNvPr id="16" name="Shape 14"/>
          <p:cNvSpPr/>
          <p:nvPr/>
        </p:nvSpPr>
        <p:spPr>
          <a:xfrm>
            <a:off x="9966960" y="2560320"/>
            <a:ext cx="914" cy="1005840"/>
          </a:xfrm>
          <a:prstGeom prst="line">
            <a:avLst/>
          </a:prstGeom>
          <a:noFill/>
          <a:ln w="31750">
            <a:solidFill>
              <a:schemeClr val="accent6"/>
            </a:solidFill>
            <a:prstDash val="solid"/>
            <a:tailEnd type="triangle"/>
          </a:ln>
        </p:spPr>
      </p:sp>
      <p:sp>
        <p:nvSpPr>
          <p:cNvPr id="17" name="Shape 15"/>
          <p:cNvSpPr/>
          <p:nvPr/>
        </p:nvSpPr>
        <p:spPr>
          <a:xfrm>
            <a:off x="9966960" y="4297680"/>
            <a:ext cx="914" cy="822960"/>
          </a:xfrm>
          <a:prstGeom prst="line">
            <a:avLst/>
          </a:prstGeom>
          <a:noFill/>
          <a:ln w="31750">
            <a:solidFill>
              <a:schemeClr val="accent6"/>
            </a:solidFill>
            <a:prstDash val="solid"/>
            <a:tailEnd type="triangle"/>
          </a:ln>
        </p:spPr>
      </p:sp>
      <p:sp>
        <p:nvSpPr>
          <p:cNvPr id="18" name="Shape 16"/>
          <p:cNvSpPr/>
          <p:nvPr/>
        </p:nvSpPr>
        <p:spPr>
          <a:xfrm flipH="1">
            <a:off x="8229600" y="5486400"/>
            <a:ext cx="640080" cy="914"/>
          </a:xfrm>
          <a:prstGeom prst="line">
            <a:avLst/>
          </a:prstGeom>
          <a:noFill/>
          <a:ln w="31750">
            <a:solidFill>
              <a:schemeClr val="accent6"/>
            </a:solidFill>
            <a:prstDash val="solid"/>
            <a:tailEnd type="triangle"/>
          </a:ln>
        </p:spPr>
      </p:sp>
      <p:sp>
        <p:nvSpPr>
          <p:cNvPr id="19" name="Text 17"/>
          <p:cNvSpPr txBox="1"/>
          <p:nvPr/>
        </p:nvSpPr>
        <p:spPr>
          <a:xfrm>
            <a:off x="8229600" y="1600200"/>
            <a:ext cx="640080" cy="274320"/>
          </a:xfrm>
          <a:prstGeom prst="rect">
            <a:avLst/>
          </a:prstGeom>
          <a:noFill/>
          <a:ln/>
        </p:spPr>
        <p:txBody>
          <a:bodyPr wrap="square" lIns="0" tIns="0" rIns="0" bIns="0" rtlCol="0" anchor="t"/>
          <a:lstStyle/>
          <a:p>
            <a:pPr algn="ctr" indent="0" marL="0">
              <a:buNone/>
            </a:pPr>
            <a:r>
              <a:rPr lang="en-US" sz="1200" dirty="0">
                <a:solidFill>
                  <a:schemeClr val="accent6"/>
                </a:solidFill>
              </a:rPr>
              <a:t>start</a:t>
            </a:r>
            <a:endParaRPr lang="en-US" sz="1200" dirty="0"/>
          </a:p>
        </p:txBody>
      </p:sp>
      <p:sp>
        <p:nvSpPr>
          <p:cNvPr id="20" name="Text 18"/>
          <p:cNvSpPr txBox="1"/>
          <p:nvPr/>
        </p:nvSpPr>
        <p:spPr>
          <a:xfrm>
            <a:off x="10058400" y="2926080"/>
            <a:ext cx="822960" cy="365760"/>
          </a:xfrm>
          <a:prstGeom prst="rect">
            <a:avLst/>
          </a:prstGeom>
          <a:noFill/>
          <a:ln/>
        </p:spPr>
        <p:txBody>
          <a:bodyPr wrap="square" lIns="0" tIns="0" rIns="0" bIns="0" rtlCol="0" anchor="t"/>
          <a:lstStyle/>
          <a:p>
            <a:pPr indent="0" marL="0">
              <a:buNone/>
            </a:pPr>
            <a:r>
              <a:rPr lang="en-US" sz="1200" dirty="0">
                <a:solidFill>
                  <a:schemeClr val="accent6"/>
                </a:solidFill>
              </a:rPr>
              <a:t>pause</a:t>
            </a:r>
            <a:endParaRPr lang="en-US" sz="1200" dirty="0"/>
          </a:p>
        </p:txBody>
      </p:sp>
      <p:sp>
        <p:nvSpPr>
          <p:cNvPr id="21" name="Text 19"/>
          <p:cNvSpPr txBox="1"/>
          <p:nvPr/>
        </p:nvSpPr>
        <p:spPr>
          <a:xfrm>
            <a:off x="10058400" y="4526280"/>
            <a:ext cx="1554480" cy="365760"/>
          </a:xfrm>
          <a:prstGeom prst="rect">
            <a:avLst/>
          </a:prstGeom>
          <a:noFill/>
          <a:ln/>
        </p:spPr>
        <p:txBody>
          <a:bodyPr wrap="square" lIns="0" tIns="0" rIns="0" bIns="0" rtlCol="0" anchor="t"/>
          <a:lstStyle/>
          <a:p>
            <a:pPr indent="0" marL="0">
              <a:buNone/>
            </a:pPr>
            <a:r>
              <a:rPr lang="en-US" sz="1200" dirty="0">
                <a:solidFill>
                  <a:schemeClr val="accent6"/>
                </a:solidFill>
              </a:rPr>
              <a:t>stop / process ends</a:t>
            </a:r>
            <a:endParaRPr lang="en-US" sz="1200" dirty="0"/>
          </a:p>
        </p:txBody>
      </p:sp>
      <p:sp>
        <p:nvSpPr>
          <p:cNvPr id="22" name="Text 20"/>
          <p:cNvSpPr txBox="1"/>
          <p:nvPr/>
        </p:nvSpPr>
        <p:spPr>
          <a:xfrm>
            <a:off x="8229600" y="5577840"/>
            <a:ext cx="640080" cy="274320"/>
          </a:xfrm>
          <a:prstGeom prst="rect">
            <a:avLst/>
          </a:prstGeom>
          <a:noFill/>
          <a:ln/>
        </p:spPr>
        <p:txBody>
          <a:bodyPr wrap="square" lIns="0" tIns="0" rIns="0" bIns="0" rtlCol="0" anchor="t"/>
          <a:lstStyle/>
          <a:p>
            <a:pPr algn="ctr" indent="0" marL="0">
              <a:buNone/>
            </a:pPr>
            <a:r>
              <a:rPr lang="en-US" sz="1200" dirty="0">
                <a:solidFill>
                  <a:schemeClr val="accent6"/>
                </a:solidFill>
              </a:rPr>
              <a:t>rm</a:t>
            </a:r>
            <a:endParaRPr lang="en-US" sz="1200" dirty="0"/>
          </a:p>
        </p:txBody>
      </p:sp>
      <p:sp>
        <p:nvSpPr>
          <p:cNvPr id="23" name="Shape 21"/>
          <p:cNvSpPr/>
          <p:nvPr/>
        </p:nvSpPr>
        <p:spPr>
          <a:xfrm>
            <a:off x="548640" y="4114800"/>
            <a:ext cx="4937760" cy="1828800"/>
          </a:xfrm>
          <a:prstGeom prst="roundRect">
            <a:avLst>
              <a:gd name="adj" fmla="val 6000"/>
            </a:avLst>
          </a:prstGeom>
          <a:solidFill>
            <a:schemeClr val="bg2"/>
          </a:solidFill>
          <a:ln/>
        </p:spPr>
      </p:sp>
      <p:sp>
        <p:nvSpPr>
          <p:cNvPr id="24" name="Text 22"/>
          <p:cNvSpPr txBox="1"/>
          <p:nvPr/>
        </p:nvSpPr>
        <p:spPr>
          <a:xfrm>
            <a:off x="777240" y="4251960"/>
            <a:ext cx="4572000" cy="411480"/>
          </a:xfrm>
          <a:prstGeom prst="rect">
            <a:avLst/>
          </a:prstGeom>
          <a:noFill/>
          <a:ln/>
        </p:spPr>
        <p:txBody>
          <a:bodyPr wrap="square" lIns="0" tIns="0" rIns="0" bIns="0" rtlCol="0" anchor="t"/>
          <a:lstStyle/>
          <a:p>
            <a:pPr indent="0" marL="0">
              <a:buNone/>
            </a:pPr>
            <a:r>
              <a:rPr lang="en-US" sz="1700" b="1" dirty="0">
                <a:solidFill>
                  <a:schemeClr val="tx1"/>
                </a:solidFill>
              </a:rPr>
              <a:t>docker ps columns</a:t>
            </a:r>
            <a:endParaRPr lang="en-US" sz="1700" dirty="0"/>
          </a:p>
        </p:txBody>
      </p:sp>
      <p:sp>
        <p:nvSpPr>
          <p:cNvPr id="25" name="Text 23"/>
          <p:cNvSpPr txBox="1"/>
          <p:nvPr/>
        </p:nvSpPr>
        <p:spPr>
          <a:xfrm>
            <a:off x="777240" y="4709160"/>
            <a:ext cx="4572000" cy="1097280"/>
          </a:xfrm>
          <a:prstGeom prst="rect">
            <a:avLst/>
          </a:prstGeom>
          <a:noFill/>
          <a:ln/>
        </p:spPr>
        <p:txBody>
          <a:bodyPr wrap="square" lIns="0" tIns="0" rIns="0" bIns="0" rtlCol="0" anchor="t"/>
          <a:lstStyle/>
          <a:p>
            <a:pPr indent="0" marL="0">
              <a:buNone/>
            </a:pPr>
            <a:r>
              <a:rPr lang="en-US" sz="1500" dirty="0">
                <a:solidFill>
                  <a:schemeClr val="tx2"/>
                </a:solidFill>
              </a:rPr>
              <a:t>CONTAINER ID · IMAGE · COMMAND · CREATED · STATUS · PORTS · NAMES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Read logs: docker logs</a:t>
            </a:r>
            <a:endParaRPr lang="en-US" sz="3400" dirty="0"/>
          </a:p>
        </p:txBody>
      </p:sp>
      <p:sp>
        <p:nvSpPr>
          <p:cNvPr id="3" name="Terminal"/>
          <p:cNvSpPr/>
          <p:nvPr/>
        </p:nvSpPr>
        <p:spPr>
          <a:xfrm>
            <a:off x="548640" y="1463040"/>
            <a:ext cx="7315200" cy="2560320"/>
          </a:xfrm>
          <a:prstGeom prst="roundRect">
            <a:avLst>
              <a:gd name="adj" fmla="val 3571"/>
            </a:avLst>
          </a:prstGeom>
          <a:solidFill>
            <a:schemeClr val="tx2"/>
          </a:solidFill>
          <a:ln/>
        </p:spPr>
      </p:sp>
      <p:sp>
        <p:nvSpPr>
          <p:cNvPr id="4" name="Text 2"/>
          <p:cNvSpPr txBox="1"/>
          <p:nvPr/>
        </p:nvSpPr>
        <p:spPr>
          <a:xfrm>
            <a:off x="822960" y="1645920"/>
            <a:ext cx="6766560" cy="2194560"/>
          </a:xfrm>
          <a:prstGeom prst="rect">
            <a:avLst/>
          </a:prstGeom>
          <a:noFill/>
          <a:ln/>
        </p:spPr>
        <p:txBody>
          <a:bodyPr wrap="square" lIns="0" tIns="0" rIns="0" bIns="0" rtlCol="0" anchor="t"/>
          <a:lstStyle/>
          <a:p>
            <a:pPr indent="0" marL="0">
              <a:spcAft>
                <a:spcPts val="400"/>
              </a:spcAft>
              <a:buNone/>
            </a:pPr>
            <a:r>
              <a:rPr lang="en-US" sz="16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600" dirty="0">
                <a:solidFill>
                  <a:schemeClr val="bg1"/>
                </a:solidFill>
                <a:latin typeface="Courier New" pitchFamily="34" charset="0"/>
                <a:ea typeface="Courier New" pitchFamily="34" charset="-122"/>
                <a:cs typeface="Courier New" pitchFamily="34" charset="-120"/>
              </a:rPr>
              <a:t>docker logs web            # everything so far</a:t>
            </a:r>
            <a:endParaRPr lang="en-US" sz="1600" dirty="0"/>
          </a:p>
          <a:p>
            <a:pPr indent="0" marL="0">
              <a:spcAft>
                <a:spcPts val="400"/>
              </a:spcAft>
              <a:buNone/>
            </a:pPr>
            <a:r>
              <a:rPr lang="en-US" sz="16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600" dirty="0">
                <a:solidFill>
                  <a:schemeClr val="bg1"/>
                </a:solidFill>
                <a:latin typeface="Courier New" pitchFamily="34" charset="0"/>
                <a:ea typeface="Courier New" pitchFamily="34" charset="-122"/>
                <a:cs typeface="Courier New" pitchFamily="34" charset="-120"/>
              </a:rPr>
              <a:t>docker logs -f web         # follow live</a:t>
            </a:r>
            <a:endParaRPr lang="en-US" sz="1600" dirty="0"/>
          </a:p>
          <a:p>
            <a:pPr indent="0" marL="0">
              <a:spcAft>
                <a:spcPts val="400"/>
              </a:spcAft>
              <a:buNone/>
            </a:pPr>
            <a:r>
              <a:rPr lang="en-US" sz="16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600" dirty="0">
                <a:solidFill>
                  <a:schemeClr val="bg1"/>
                </a:solidFill>
                <a:latin typeface="Courier New" pitchFamily="34" charset="0"/>
                <a:ea typeface="Courier New" pitchFamily="34" charset="-122"/>
                <a:cs typeface="Courier New" pitchFamily="34" charset="-120"/>
              </a:rPr>
              <a:t>docker logs --tail 20 web  # last 20 lines</a:t>
            </a:r>
            <a:endParaRPr lang="en-US" sz="1600" dirty="0"/>
          </a:p>
          <a:p>
            <a:pPr indent="0" marL="0">
              <a:spcAft>
                <a:spcPts val="400"/>
              </a:spcAft>
              <a:buNone/>
            </a:pPr>
            <a:r>
              <a:rPr lang="en-US" sz="16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600" dirty="0">
                <a:solidFill>
                  <a:schemeClr val="bg1"/>
                </a:solidFill>
                <a:latin typeface="Courier New" pitchFamily="34" charset="0"/>
                <a:ea typeface="Courier New" pitchFamily="34" charset="-122"/>
                <a:cs typeface="Courier New" pitchFamily="34" charset="-120"/>
              </a:rPr>
              <a:t>docker logs -t web         # add timestamps</a:t>
            </a:r>
            <a:endParaRPr lang="en-US" sz="1600" dirty="0"/>
          </a:p>
        </p:txBody>
      </p:sp>
      <p:sp>
        <p:nvSpPr>
          <p:cNvPr id="5" name="Shape 3"/>
          <p:cNvSpPr/>
          <p:nvPr/>
        </p:nvSpPr>
        <p:spPr>
          <a:xfrm>
            <a:off x="8138160" y="1463040"/>
            <a:ext cx="3474720" cy="2560320"/>
          </a:xfrm>
          <a:prstGeom prst="roundRect">
            <a:avLst>
              <a:gd name="adj" fmla="val 4286"/>
            </a:avLst>
          </a:prstGeom>
          <a:solidFill>
            <a:schemeClr val="bg2"/>
          </a:solidFill>
          <a:ln/>
        </p:spPr>
      </p:sp>
      <p:sp>
        <p:nvSpPr>
          <p:cNvPr id="6" name="Shape 4"/>
          <p:cNvSpPr/>
          <p:nvPr/>
        </p:nvSpPr>
        <p:spPr>
          <a:xfrm>
            <a:off x="8412480" y="1737360"/>
            <a:ext cx="685800" cy="685800"/>
          </a:xfrm>
          <a:prstGeom prst="ellipse">
            <a:avLst/>
          </a:prstGeom>
          <a:solidFill>
            <a:schemeClr val="accent5"/>
          </a:solidFill>
          <a:ln/>
        </p:spPr>
      </p:sp>
      <p:pic>
        <p:nvPicPr>
          <p:cNvPr id="7" name="Image 0" descr="preencoded.png">    </p:cNvPr>
          <p:cNvPicPr>
            <a:picLocks noChangeAspect="1"/>
          </p:cNvPicPr>
          <p:nvPr/>
        </p:nvPicPr>
        <p:blipFill>
          <a:blip r:embed="rId1"/>
          <a:stretch>
            <a:fillRect/>
          </a:stretch>
        </p:blipFill>
        <p:spPr>
          <a:xfrm>
            <a:off x="8577072" y="1901952"/>
            <a:ext cx="356616" cy="356616"/>
          </a:xfrm>
          <a:prstGeom prst="rect">
            <a:avLst/>
          </a:prstGeom>
        </p:spPr>
      </p:pic>
      <p:sp>
        <p:nvSpPr>
          <p:cNvPr id="8" name="Text 5"/>
          <p:cNvSpPr txBox="1"/>
          <p:nvPr/>
        </p:nvSpPr>
        <p:spPr>
          <a:xfrm>
            <a:off x="9235440" y="1783080"/>
            <a:ext cx="2286000" cy="640080"/>
          </a:xfrm>
          <a:prstGeom prst="rect">
            <a:avLst/>
          </a:prstGeom>
          <a:noFill/>
          <a:ln/>
        </p:spPr>
        <p:txBody>
          <a:bodyPr wrap="square" lIns="0" tIns="0" rIns="0" bIns="0" rtlCol="0" anchor="ctr"/>
          <a:lstStyle/>
          <a:p>
            <a:pPr indent="0" marL="0">
              <a:buNone/>
            </a:pPr>
            <a:r>
              <a:rPr lang="en-US" sz="1700" b="1" dirty="0">
                <a:solidFill>
                  <a:schemeClr val="tx1"/>
                </a:solidFill>
              </a:rPr>
              <a:t>Where logs come from</a:t>
            </a:r>
            <a:endParaRPr lang="en-US" sz="1700" dirty="0"/>
          </a:p>
        </p:txBody>
      </p:sp>
      <p:sp>
        <p:nvSpPr>
          <p:cNvPr id="9" name="Text 6"/>
          <p:cNvSpPr txBox="1"/>
          <p:nvPr/>
        </p:nvSpPr>
        <p:spPr>
          <a:xfrm>
            <a:off x="8412480" y="2606040"/>
            <a:ext cx="3017520" cy="1188720"/>
          </a:xfrm>
          <a:prstGeom prst="rect">
            <a:avLst/>
          </a:prstGeom>
          <a:noFill/>
          <a:ln/>
        </p:spPr>
        <p:txBody>
          <a:bodyPr wrap="square" lIns="0" tIns="0" rIns="0" bIns="0" rtlCol="0" anchor="t"/>
          <a:lstStyle/>
          <a:p>
            <a:pPr indent="0" marL="0">
              <a:buNone/>
            </a:pPr>
            <a:r>
              <a:rPr lang="en-US" sz="1600" dirty="0">
                <a:solidFill>
                  <a:schemeClr val="tx2"/>
                </a:solidFill>
              </a:rPr>
              <a:t>Whatever the main process writes to stdout and stderr.</a:t>
            </a:r>
            <a:endParaRPr lang="en-US" sz="1600" dirty="0"/>
          </a:p>
        </p:txBody>
      </p:sp>
      <p:sp>
        <p:nvSpPr>
          <p:cNvPr id="10" name="Shape 7"/>
          <p:cNvSpPr/>
          <p:nvPr/>
        </p:nvSpPr>
        <p:spPr>
          <a:xfrm>
            <a:off x="548640" y="4297680"/>
            <a:ext cx="11064240" cy="1645920"/>
          </a:xfrm>
          <a:prstGeom prst="roundRect">
            <a:avLst>
              <a:gd name="adj" fmla="val 6667"/>
            </a:avLst>
          </a:prstGeom>
          <a:solidFill>
            <a:schemeClr val="bg2"/>
          </a:solidFill>
          <a:ln/>
        </p:spPr>
      </p:sp>
      <p:sp>
        <p:nvSpPr>
          <p:cNvPr id="11" name="Shape 8"/>
          <p:cNvSpPr/>
          <p:nvPr/>
        </p:nvSpPr>
        <p:spPr>
          <a:xfrm>
            <a:off x="822960" y="4709160"/>
            <a:ext cx="777240" cy="77724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1009498" y="4895698"/>
            <a:ext cx="404165" cy="404165"/>
          </a:xfrm>
          <a:prstGeom prst="rect">
            <a:avLst/>
          </a:prstGeom>
        </p:spPr>
      </p:pic>
      <p:sp>
        <p:nvSpPr>
          <p:cNvPr id="13" name="Text 9"/>
          <p:cNvSpPr txBox="1"/>
          <p:nvPr/>
        </p:nvSpPr>
        <p:spPr>
          <a:xfrm>
            <a:off x="1828800" y="4526280"/>
            <a:ext cx="9509760" cy="457200"/>
          </a:xfrm>
          <a:prstGeom prst="rect">
            <a:avLst/>
          </a:prstGeom>
          <a:noFill/>
          <a:ln/>
        </p:spPr>
        <p:txBody>
          <a:bodyPr wrap="square" lIns="0" tIns="0" rIns="0" bIns="0" rtlCol="0" anchor="t"/>
          <a:lstStyle/>
          <a:p>
            <a:pPr indent="0" marL="0">
              <a:buNone/>
            </a:pPr>
            <a:r>
              <a:rPr lang="en-US" sz="1900" b="1" dirty="0">
                <a:solidFill>
                  <a:schemeClr val="tx1"/>
                </a:solidFill>
              </a:rPr>
              <a:t>Rule for your own apps</a:t>
            </a:r>
            <a:endParaRPr lang="en-US" sz="1900" dirty="0"/>
          </a:p>
        </p:txBody>
      </p:sp>
      <p:sp>
        <p:nvSpPr>
          <p:cNvPr id="14" name="Text 10"/>
          <p:cNvSpPr txBox="1"/>
          <p:nvPr/>
        </p:nvSpPr>
        <p:spPr>
          <a:xfrm>
            <a:off x="1828800" y="4983480"/>
            <a:ext cx="9509760" cy="822960"/>
          </a:xfrm>
          <a:prstGeom prst="rect">
            <a:avLst/>
          </a:prstGeom>
          <a:noFill/>
          <a:ln/>
        </p:spPr>
        <p:txBody>
          <a:bodyPr wrap="square" lIns="0" tIns="0" rIns="0" bIns="0" rtlCol="0" anchor="t"/>
          <a:lstStyle/>
          <a:p>
            <a:pPr indent="0" marL="0">
              <a:buNone/>
            </a:pPr>
            <a:r>
              <a:rPr lang="en-US" sz="1600" dirty="0">
                <a:solidFill>
                  <a:schemeClr val="tx2"/>
                </a:solidFill>
              </a:rPr>
              <a:t>Log to stdout/stderr, not to a file inside the container. Then docker logs, and every log tool built on top of it, just works.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inside: docker exec</a:t>
            </a:r>
            <a:endParaRPr lang="en-US" sz="3400" dirty="0"/>
          </a:p>
        </p:txBody>
      </p:sp>
      <p:sp>
        <p:nvSpPr>
          <p:cNvPr id="3" name="Terminal"/>
          <p:cNvSpPr/>
          <p:nvPr/>
        </p:nvSpPr>
        <p:spPr>
          <a:xfrm>
            <a:off x="548640" y="1463040"/>
            <a:ext cx="7040880" cy="4663440"/>
          </a:xfrm>
          <a:prstGeom prst="roundRect">
            <a:avLst>
              <a:gd name="adj" fmla="val 1961"/>
            </a:avLst>
          </a:prstGeom>
          <a:solidFill>
            <a:schemeClr val="tx2"/>
          </a:solidFill>
          <a:ln/>
        </p:spPr>
      </p:sp>
      <p:sp>
        <p:nvSpPr>
          <p:cNvPr id="4" name="Text 2"/>
          <p:cNvSpPr txBox="1"/>
          <p:nvPr/>
        </p:nvSpPr>
        <p:spPr>
          <a:xfrm>
            <a:off x="822960" y="1645920"/>
            <a:ext cx="6492240" cy="429768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exec -it web bash</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root@3f9c1a7e2b84:/# hostname</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3f9c1a7e2b84</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root@3f9c1a7e2b84:/# cat /etc/os-release</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PRETTY_NAME="Debian GNU/Linux ..."</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root@3f9c1a7e2b84:/# echo "Hello from inside" \</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    &gt; /usr/share/nginx/html/index.html</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root@3f9c1a7e2b84:/# exit</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curl localhost:8080</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Hello from inside</a:t>
            </a:r>
            <a:endParaRPr lang="en-US" sz="1400" dirty="0"/>
          </a:p>
        </p:txBody>
      </p:sp>
      <p:sp>
        <p:nvSpPr>
          <p:cNvPr id="5" name="Shape 3"/>
          <p:cNvSpPr/>
          <p:nvPr/>
        </p:nvSpPr>
        <p:spPr>
          <a:xfrm>
            <a:off x="7863840" y="1463040"/>
            <a:ext cx="3749040" cy="4663440"/>
          </a:xfrm>
          <a:prstGeom prst="roundRect">
            <a:avLst>
              <a:gd name="adj" fmla="val 2927"/>
            </a:avLst>
          </a:prstGeom>
          <a:solidFill>
            <a:schemeClr val="bg2"/>
          </a:solidFill>
          <a:ln/>
        </p:spPr>
      </p:sp>
      <p:sp>
        <p:nvSpPr>
          <p:cNvPr id="6" name="Text 4"/>
          <p:cNvSpPr txBox="1"/>
          <p:nvPr/>
        </p:nvSpPr>
        <p:spPr>
          <a:xfrm>
            <a:off x="8138160" y="1691640"/>
            <a:ext cx="3200400" cy="457200"/>
          </a:xfrm>
          <a:prstGeom prst="rect">
            <a:avLst/>
          </a:prstGeom>
          <a:noFill/>
          <a:ln/>
        </p:spPr>
        <p:txBody>
          <a:bodyPr wrap="square" lIns="0" tIns="0" rIns="0" bIns="0" rtlCol="0" anchor="t"/>
          <a:lstStyle/>
          <a:p>
            <a:pPr indent="0" marL="0">
              <a:buNone/>
            </a:pPr>
            <a:r>
              <a:rPr lang="en-US" sz="2200" b="1" dirty="0">
                <a:solidFill>
                  <a:schemeClr val="accent1"/>
                </a:solidFill>
                <a:latin typeface="Courier New" pitchFamily="34" charset="0"/>
                <a:ea typeface="Courier New" pitchFamily="34" charset="-122"/>
                <a:cs typeface="Courier New" pitchFamily="34" charset="-120"/>
              </a:rPr>
              <a:t>-it</a:t>
            </a:r>
            <a:endParaRPr lang="en-US" sz="2200" dirty="0"/>
          </a:p>
        </p:txBody>
      </p:sp>
      <p:sp>
        <p:nvSpPr>
          <p:cNvPr id="7" name="Text 5"/>
          <p:cNvSpPr txBox="1"/>
          <p:nvPr/>
        </p:nvSpPr>
        <p:spPr>
          <a:xfrm>
            <a:off x="8138160" y="2194560"/>
            <a:ext cx="3291840" cy="914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-i  keep input open (interactive)</a:t>
            </a:r>
            <a:endParaRPr lang="en-US" sz="1500" dirty="0"/>
          </a:p>
          <a:p>
            <a:pPr marL="342900" indent="-342900">
              <a:spcAft>
                <a:spcPts val="600"/>
              </a:spcAft>
              <a:buSzPct val="100000"/>
              <a:buChar char="•"/>
            </a:pPr>
            <a:r>
              <a:rPr lang="en-US" sz="1500" dirty="0">
                <a:solidFill>
                  <a:schemeClr val="tx1"/>
                </a:solidFill>
              </a:rPr>
              <a:t>-t  give me a terminal (TTY)</a:t>
            </a:r>
            <a:endParaRPr lang="en-US" sz="1500" dirty="0"/>
          </a:p>
        </p:txBody>
      </p:sp>
      <p:sp>
        <p:nvSpPr>
          <p:cNvPr id="8" name="Text 6"/>
          <p:cNvSpPr txBox="1"/>
          <p:nvPr/>
        </p:nvSpPr>
        <p:spPr>
          <a:xfrm>
            <a:off x="8138160" y="3246120"/>
            <a:ext cx="3200400" cy="411480"/>
          </a:xfrm>
          <a:prstGeom prst="rect">
            <a:avLst/>
          </a:prstGeom>
          <a:noFill/>
          <a:ln/>
        </p:spPr>
        <p:txBody>
          <a:bodyPr wrap="square" lIns="0" tIns="0" rIns="0" bIns="0" rtlCol="0" anchor="t"/>
          <a:lstStyle/>
          <a:p>
            <a:pPr indent="0" marL="0">
              <a:buNone/>
            </a:pPr>
            <a:r>
              <a:rPr lang="en-US" sz="1900" b="1" dirty="0">
                <a:solidFill>
                  <a:schemeClr val="tx1"/>
                </a:solidFill>
              </a:rPr>
              <a:t>Notice</a:t>
            </a:r>
            <a:endParaRPr lang="en-US" sz="1900" dirty="0"/>
          </a:p>
        </p:txBody>
      </p:sp>
      <p:sp>
        <p:nvSpPr>
          <p:cNvPr id="9" name="Text 7"/>
          <p:cNvSpPr txBox="1"/>
          <p:nvPr/>
        </p:nvSpPr>
        <p:spPr>
          <a:xfrm>
            <a:off x="8138160" y="3703320"/>
            <a:ext cx="329184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Hostname = container ID (UTS namespace)</a:t>
            </a:r>
            <a:endParaRPr lang="en-US" sz="1500" dirty="0"/>
          </a:p>
          <a:p>
            <a:pPr marL="342900" indent="-342900">
              <a:spcAft>
                <a:spcPts val="800"/>
              </a:spcAft>
              <a:buSzPct val="100000"/>
              <a:buChar char="•"/>
            </a:pPr>
            <a:r>
              <a:rPr lang="en-US" sz="1500" dirty="0">
                <a:solidFill>
                  <a:schemeClr val="tx1"/>
                </a:solidFill>
              </a:rPr>
              <a:t>It’s Debian, even on a Mac or Ubuntu host</a:t>
            </a:r>
            <a:endParaRPr lang="en-US" sz="1500" dirty="0"/>
          </a:p>
          <a:p>
            <a:pPr marL="342900" indent="-342900">
              <a:spcAft>
                <a:spcPts val="800"/>
              </a:spcAft>
              <a:buSzPct val="100000"/>
              <a:buChar char="•"/>
            </a:pPr>
            <a:r>
              <a:rPr lang="en-US" sz="1500" dirty="0">
                <a:solidFill>
                  <a:schemeClr val="tx1"/>
                </a:solidFill>
              </a:rPr>
              <a:t>exit leaves the shell — the container keeps running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Interactive containers and the PID 1 rule</a:t>
            </a:r>
            <a:endParaRPr lang="en-US" sz="3400" dirty="0"/>
          </a:p>
        </p:txBody>
      </p:sp>
      <p:sp>
        <p:nvSpPr>
          <p:cNvPr id="3" name="Terminal"/>
          <p:cNvSpPr/>
          <p:nvPr/>
        </p:nvSpPr>
        <p:spPr>
          <a:xfrm>
            <a:off x="548640" y="1463040"/>
            <a:ext cx="6400800" cy="4663440"/>
          </a:xfrm>
          <a:prstGeom prst="roundRect">
            <a:avLst>
              <a:gd name="adj" fmla="val 1961"/>
            </a:avLst>
          </a:prstGeom>
          <a:solidFill>
            <a:schemeClr val="tx2"/>
          </a:solidFill>
          <a:ln/>
        </p:spPr>
      </p:sp>
      <p:sp>
        <p:nvSpPr>
          <p:cNvPr id="4" name="Text 2"/>
          <p:cNvSpPr txBox="1"/>
          <p:nvPr/>
        </p:nvSpPr>
        <p:spPr>
          <a:xfrm>
            <a:off x="822960" y="1645920"/>
            <a:ext cx="5852160" cy="429768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run -it --rm alpine sh</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 # ps</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PID   USER   TIME  COMMAND</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    1 root   0:00  sh</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    7 root   0:00  ps</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 # exit</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 </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run ubuntu</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ps -a</a:t>
            </a:r>
            <a:endParaRPr lang="en-US" sz="1400" dirty="0"/>
          </a:p>
          <a:p>
            <a:pPr indent="0" marL="0">
              <a:spcAft>
                <a:spcPts val="400"/>
              </a:spcAft>
              <a:buNone/>
            </a:pPr>
            <a:r>
              <a:rPr lang="en-US" sz="1400" dirty="0">
                <a:solidFill>
                  <a:srgbClr val="A8B3C4"/>
                </a:solidFill>
                <a:latin typeface="Courier New" pitchFamily="34" charset="0"/>
                <a:ea typeface="Courier New" pitchFamily="34" charset="-122"/>
                <a:cs typeface="Courier New" pitchFamily="34" charset="-120"/>
              </a:rPr>
              <a:t>... ubuntu  "/bin/bash"  Exited (0)</a:t>
            </a:r>
            <a:endParaRPr lang="en-US" sz="1400" dirty="0"/>
          </a:p>
        </p:txBody>
      </p:sp>
      <p:sp>
        <p:nvSpPr>
          <p:cNvPr id="5" name="Shape 3"/>
          <p:cNvSpPr/>
          <p:nvPr/>
        </p:nvSpPr>
        <p:spPr>
          <a:xfrm>
            <a:off x="7223760" y="1463040"/>
            <a:ext cx="4389120" cy="1417320"/>
          </a:xfrm>
          <a:prstGeom prst="roundRect">
            <a:avLst>
              <a:gd name="adj" fmla="val 7742"/>
            </a:avLst>
          </a:prstGeom>
          <a:solidFill>
            <a:schemeClr val="bg2"/>
          </a:solidFill>
          <a:ln/>
        </p:spPr>
      </p:sp>
      <p:sp>
        <p:nvSpPr>
          <p:cNvPr id="6" name="Shape 4"/>
          <p:cNvSpPr/>
          <p:nvPr/>
        </p:nvSpPr>
        <p:spPr>
          <a:xfrm>
            <a:off x="7406640" y="1645920"/>
            <a:ext cx="4023360" cy="411480"/>
          </a:xfrm>
          <a:prstGeom prst="roundRect">
            <a:avLst>
              <a:gd name="adj" fmla="val 13333"/>
            </a:avLst>
          </a:prstGeom>
          <a:solidFill>
            <a:schemeClr val="accent1"/>
          </a:solidFill>
          <a:ln/>
        </p:spPr>
      </p:sp>
      <p:sp>
        <p:nvSpPr>
          <p:cNvPr id="7" name="Text 5"/>
          <p:cNvSpPr txBox="1"/>
          <p:nvPr/>
        </p:nvSpPr>
        <p:spPr>
          <a:xfrm>
            <a:off x="7406640" y="1645920"/>
            <a:ext cx="4023360" cy="411480"/>
          </a:xfrm>
          <a:prstGeom prst="rect">
            <a:avLst/>
          </a:prstGeom>
          <a:noFill/>
          <a:ln/>
        </p:spPr>
        <p:txBody>
          <a:bodyPr wrap="square" lIns="0" tIns="0" rIns="0" bIns="0" rtlCol="0" anchor="ctr"/>
          <a:lstStyle/>
          <a:p>
            <a:pPr algn="ctr" indent="0" marL="0">
              <a:buNone/>
            </a:pPr>
            <a:r>
              <a:rPr lang="en-US" sz="1500" b="1" dirty="0">
                <a:solidFill>
                  <a:schemeClr val="bg1"/>
                </a:solidFill>
              </a:rPr>
              <a:t>--rm</a:t>
            </a:r>
            <a:endParaRPr lang="en-US" sz="1500" dirty="0"/>
          </a:p>
        </p:txBody>
      </p:sp>
      <p:sp>
        <p:nvSpPr>
          <p:cNvPr id="8" name="Text 6"/>
          <p:cNvSpPr txBox="1"/>
          <p:nvPr/>
        </p:nvSpPr>
        <p:spPr>
          <a:xfrm>
            <a:off x="7406640" y="2148840"/>
            <a:ext cx="4023360" cy="685800"/>
          </a:xfrm>
          <a:prstGeom prst="rect">
            <a:avLst/>
          </a:prstGeom>
          <a:noFill/>
          <a:ln/>
        </p:spPr>
        <p:txBody>
          <a:bodyPr wrap="square" lIns="0" tIns="0" rIns="0" bIns="0" rtlCol="0" anchor="t"/>
          <a:lstStyle/>
          <a:p>
            <a:pPr indent="0" marL="0">
              <a:buNone/>
            </a:pPr>
            <a:r>
              <a:rPr lang="en-US" sz="1400" dirty="0">
                <a:solidFill>
                  <a:schemeClr val="tx2"/>
                </a:solidFill>
              </a:rPr>
              <a:t>Delete the container automatically when it exits. Perfect for throwaway shells.</a:t>
            </a:r>
            <a:endParaRPr lang="en-US" sz="1400" dirty="0"/>
          </a:p>
        </p:txBody>
      </p:sp>
      <p:sp>
        <p:nvSpPr>
          <p:cNvPr id="9" name="Shape 7"/>
          <p:cNvSpPr/>
          <p:nvPr/>
        </p:nvSpPr>
        <p:spPr>
          <a:xfrm>
            <a:off x="7223760" y="3063240"/>
            <a:ext cx="4389120" cy="1417320"/>
          </a:xfrm>
          <a:prstGeom prst="roundRect">
            <a:avLst>
              <a:gd name="adj" fmla="val 7742"/>
            </a:avLst>
          </a:prstGeom>
          <a:solidFill>
            <a:schemeClr val="bg2"/>
          </a:solidFill>
          <a:ln/>
        </p:spPr>
      </p:sp>
      <p:sp>
        <p:nvSpPr>
          <p:cNvPr id="10" name="Shape 8"/>
          <p:cNvSpPr/>
          <p:nvPr/>
        </p:nvSpPr>
        <p:spPr>
          <a:xfrm>
            <a:off x="7406640" y="3246120"/>
            <a:ext cx="4023360" cy="411480"/>
          </a:xfrm>
          <a:prstGeom prst="roundRect">
            <a:avLst>
              <a:gd name="adj" fmla="val 13333"/>
            </a:avLst>
          </a:prstGeom>
          <a:solidFill>
            <a:schemeClr val="accent3"/>
          </a:solidFill>
          <a:ln/>
        </p:spPr>
      </p:sp>
      <p:sp>
        <p:nvSpPr>
          <p:cNvPr id="11" name="Text 9"/>
          <p:cNvSpPr txBox="1"/>
          <p:nvPr/>
        </p:nvSpPr>
        <p:spPr>
          <a:xfrm>
            <a:off x="7406640" y="3246120"/>
            <a:ext cx="4023360" cy="411480"/>
          </a:xfrm>
          <a:prstGeom prst="rect">
            <a:avLst/>
          </a:prstGeom>
          <a:noFill/>
          <a:ln/>
        </p:spPr>
        <p:txBody>
          <a:bodyPr wrap="square" lIns="0" tIns="0" rIns="0" bIns="0" rtlCol="0" anchor="ctr"/>
          <a:lstStyle/>
          <a:p>
            <a:pPr algn="ctr" indent="0" marL="0">
              <a:buNone/>
            </a:pPr>
            <a:r>
              <a:rPr lang="en-US" sz="1500" b="1" dirty="0">
                <a:solidFill>
                  <a:schemeClr val="bg1"/>
                </a:solidFill>
              </a:rPr>
              <a:t>PID 1</a:t>
            </a:r>
            <a:endParaRPr lang="en-US" sz="1500" dirty="0"/>
          </a:p>
        </p:txBody>
      </p:sp>
      <p:sp>
        <p:nvSpPr>
          <p:cNvPr id="12" name="Text 10"/>
          <p:cNvSpPr txBox="1"/>
          <p:nvPr/>
        </p:nvSpPr>
        <p:spPr>
          <a:xfrm>
            <a:off x="7406640" y="3749040"/>
            <a:ext cx="4023360" cy="685800"/>
          </a:xfrm>
          <a:prstGeom prst="rect">
            <a:avLst/>
          </a:prstGeom>
          <a:noFill/>
          <a:ln/>
        </p:spPr>
        <p:txBody>
          <a:bodyPr wrap="square" lIns="0" tIns="0" rIns="0" bIns="0" rtlCol="0" anchor="t"/>
          <a:lstStyle/>
          <a:p>
            <a:pPr indent="0" marL="0">
              <a:buNone/>
            </a:pPr>
            <a:r>
              <a:rPr lang="en-US" sz="1400" dirty="0">
                <a:solidFill>
                  <a:schemeClr val="tx2"/>
                </a:solidFill>
              </a:rPr>
              <a:t>Inside, your shell is process 1. That’s the PID namespace from episode 1.</a:t>
            </a:r>
            <a:endParaRPr lang="en-US" sz="1400" dirty="0"/>
          </a:p>
        </p:txBody>
      </p:sp>
      <p:sp>
        <p:nvSpPr>
          <p:cNvPr id="13" name="Shape 11"/>
          <p:cNvSpPr/>
          <p:nvPr/>
        </p:nvSpPr>
        <p:spPr>
          <a:xfrm>
            <a:off x="7223760" y="4663440"/>
            <a:ext cx="4389120" cy="1417320"/>
          </a:xfrm>
          <a:prstGeom prst="roundRect">
            <a:avLst>
              <a:gd name="adj" fmla="val 7742"/>
            </a:avLst>
          </a:prstGeom>
          <a:solidFill>
            <a:schemeClr val="bg2"/>
          </a:solidFill>
          <a:ln/>
        </p:spPr>
      </p:sp>
      <p:sp>
        <p:nvSpPr>
          <p:cNvPr id="14" name="Shape 12"/>
          <p:cNvSpPr/>
          <p:nvPr/>
        </p:nvSpPr>
        <p:spPr>
          <a:xfrm>
            <a:off x="7406640" y="4846320"/>
            <a:ext cx="4023360" cy="411480"/>
          </a:xfrm>
          <a:prstGeom prst="roundRect">
            <a:avLst>
              <a:gd name="adj" fmla="val 13333"/>
            </a:avLst>
          </a:prstGeom>
          <a:solidFill>
            <a:schemeClr val="accent4"/>
          </a:solidFill>
          <a:ln/>
        </p:spPr>
      </p:sp>
      <p:sp>
        <p:nvSpPr>
          <p:cNvPr id="15" name="Text 13"/>
          <p:cNvSpPr txBox="1"/>
          <p:nvPr/>
        </p:nvSpPr>
        <p:spPr>
          <a:xfrm>
            <a:off x="7406640" y="4846320"/>
            <a:ext cx="4023360" cy="411480"/>
          </a:xfrm>
          <a:prstGeom prst="rect">
            <a:avLst/>
          </a:prstGeom>
          <a:noFill/>
          <a:ln/>
        </p:spPr>
        <p:txBody>
          <a:bodyPr wrap="square" lIns="0" tIns="0" rIns="0" bIns="0" rtlCol="0" anchor="ctr"/>
          <a:lstStyle/>
          <a:p>
            <a:pPr algn="ctr" indent="0" marL="0">
              <a:buNone/>
            </a:pPr>
            <a:r>
              <a:rPr lang="en-US" sz="1500" b="1" dirty="0">
                <a:solidFill>
                  <a:schemeClr val="bg1"/>
                </a:solidFill>
              </a:rPr>
              <a:t>Why ubuntu exited</a:t>
            </a:r>
            <a:endParaRPr lang="en-US" sz="1500" dirty="0"/>
          </a:p>
        </p:txBody>
      </p:sp>
      <p:sp>
        <p:nvSpPr>
          <p:cNvPr id="16" name="Text 14"/>
          <p:cNvSpPr txBox="1"/>
          <p:nvPr/>
        </p:nvSpPr>
        <p:spPr>
          <a:xfrm>
            <a:off x="7406640" y="5349240"/>
            <a:ext cx="4023360" cy="685800"/>
          </a:xfrm>
          <a:prstGeom prst="rect">
            <a:avLst/>
          </a:prstGeom>
          <a:noFill/>
          <a:ln/>
        </p:spPr>
        <p:txBody>
          <a:bodyPr wrap="square" lIns="0" tIns="0" rIns="0" bIns="0" rtlCol="0" anchor="t"/>
          <a:lstStyle/>
          <a:p>
            <a:pPr indent="0" marL="0">
              <a:buNone/>
            </a:pPr>
            <a:r>
              <a:rPr lang="en-US" sz="1400" dirty="0">
                <a:solidFill>
                  <a:schemeClr val="tx2"/>
                </a:solidFill>
              </a:rPr>
              <a:t>Its main process is bash. With no terminal attached, bash has nothing to do, so it exits — and the container stops.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Stop vs kill vs remove</a:t>
            </a:r>
            <a:endParaRPr lang="en-US" sz="3400" dirty="0"/>
          </a:p>
        </p:txBody>
      </p:sp>
      <p:sp>
        <p:nvSpPr>
          <p:cNvPr id="3" name="Shape 1"/>
          <p:cNvSpPr/>
          <p:nvPr/>
        </p:nvSpPr>
        <p:spPr>
          <a:xfrm>
            <a:off x="548640" y="1463040"/>
            <a:ext cx="3520440" cy="3657600"/>
          </a:xfrm>
          <a:prstGeom prst="roundRect">
            <a:avLst>
              <a:gd name="adj" fmla="val 3117"/>
            </a:avLst>
          </a:prstGeom>
          <a:solidFill>
            <a:schemeClr val="bg2"/>
          </a:solidFill>
          <a:ln/>
        </p:spPr>
      </p:sp>
      <p:sp>
        <p:nvSpPr>
          <p:cNvPr id="4" name="Shape 2"/>
          <p:cNvSpPr/>
          <p:nvPr/>
        </p:nvSpPr>
        <p:spPr>
          <a:xfrm>
            <a:off x="1892808" y="1737360"/>
            <a:ext cx="822960" cy="82296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2090318" y="1934870"/>
            <a:ext cx="427939" cy="427939"/>
          </a:xfrm>
          <a:prstGeom prst="rect">
            <a:avLst/>
          </a:prstGeom>
        </p:spPr>
      </p:pic>
      <p:sp>
        <p:nvSpPr>
          <p:cNvPr id="6" name="Text 3"/>
          <p:cNvSpPr txBox="1"/>
          <p:nvPr/>
        </p:nvSpPr>
        <p:spPr>
          <a:xfrm>
            <a:off x="731520" y="2743200"/>
            <a:ext cx="3154680" cy="457200"/>
          </a:xfrm>
          <a:prstGeom prst="rect">
            <a:avLst/>
          </a:prstGeom>
          <a:noFill/>
          <a:ln/>
        </p:spPr>
        <p:txBody>
          <a:bodyPr wrap="square" lIns="0" tIns="0" rIns="0" bIns="0" rtlCol="0" anchor="t"/>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docker stop web</a:t>
            </a:r>
            <a:endParaRPr lang="en-US" sz="1700" dirty="0"/>
          </a:p>
        </p:txBody>
      </p:sp>
      <p:sp>
        <p:nvSpPr>
          <p:cNvPr id="7" name="Text 4"/>
          <p:cNvSpPr txBox="1"/>
          <p:nvPr/>
        </p:nvSpPr>
        <p:spPr>
          <a:xfrm>
            <a:off x="731520" y="3200400"/>
            <a:ext cx="3154680" cy="411480"/>
          </a:xfrm>
          <a:prstGeom prst="rect">
            <a:avLst/>
          </a:prstGeom>
          <a:noFill/>
          <a:ln/>
        </p:spPr>
        <p:txBody>
          <a:bodyPr wrap="square" lIns="0" tIns="0" rIns="0" bIns="0" rtlCol="0" anchor="t"/>
          <a:lstStyle/>
          <a:p>
            <a:pPr algn="ctr" indent="0" marL="0">
              <a:buNone/>
            </a:pPr>
            <a:r>
              <a:rPr lang="en-US" sz="1800" b="1" dirty="0">
                <a:solidFill>
                  <a:schemeClr val="accent2"/>
                </a:solidFill>
              </a:rPr>
              <a:t>Graceful</a:t>
            </a:r>
            <a:endParaRPr lang="en-US" sz="1800" dirty="0"/>
          </a:p>
        </p:txBody>
      </p:sp>
      <p:sp>
        <p:nvSpPr>
          <p:cNvPr id="8" name="Text 5"/>
          <p:cNvSpPr txBox="1"/>
          <p:nvPr/>
        </p:nvSpPr>
        <p:spPr>
          <a:xfrm>
            <a:off x="822960" y="3703320"/>
            <a:ext cx="2971800" cy="1325880"/>
          </a:xfrm>
          <a:prstGeom prst="rect">
            <a:avLst/>
          </a:prstGeom>
          <a:noFill/>
          <a:ln/>
        </p:spPr>
        <p:txBody>
          <a:bodyPr wrap="square" lIns="0" tIns="0" rIns="0" bIns="0" rtlCol="0" anchor="t"/>
          <a:lstStyle/>
          <a:p>
            <a:pPr algn="ctr" indent="0" marL="0">
              <a:buNone/>
            </a:pPr>
            <a:r>
              <a:rPr lang="en-US" sz="1500" dirty="0">
                <a:solidFill>
                  <a:schemeClr val="tx2"/>
                </a:solidFill>
              </a:rPr>
              <a:t>Sends SIGTERM, waits 10 seconds, then SIGKILL. The app can finish requests and close files.</a:t>
            </a:r>
            <a:endParaRPr lang="en-US" sz="1500" dirty="0"/>
          </a:p>
        </p:txBody>
      </p:sp>
      <p:sp>
        <p:nvSpPr>
          <p:cNvPr id="9" name="Shape 6"/>
          <p:cNvSpPr/>
          <p:nvPr/>
        </p:nvSpPr>
        <p:spPr>
          <a:xfrm>
            <a:off x="4297680" y="1463040"/>
            <a:ext cx="3520440" cy="3657600"/>
          </a:xfrm>
          <a:prstGeom prst="roundRect">
            <a:avLst>
              <a:gd name="adj" fmla="val 3117"/>
            </a:avLst>
          </a:prstGeom>
          <a:solidFill>
            <a:schemeClr val="bg2"/>
          </a:solidFill>
          <a:ln/>
        </p:spPr>
      </p:sp>
      <p:sp>
        <p:nvSpPr>
          <p:cNvPr id="10" name="Shape 7"/>
          <p:cNvSpPr/>
          <p:nvPr/>
        </p:nvSpPr>
        <p:spPr>
          <a:xfrm>
            <a:off x="5641848" y="1737360"/>
            <a:ext cx="822960" cy="822960"/>
          </a:xfrm>
          <a:prstGeom prst="ellipse">
            <a:avLst/>
          </a:prstGeom>
          <a:solidFill>
            <a:schemeClr val="accent4"/>
          </a:solidFill>
          <a:ln/>
        </p:spPr>
      </p:sp>
      <p:pic>
        <p:nvPicPr>
          <p:cNvPr id="11" name="Image 1" descr="preencoded.png">    </p:cNvPr>
          <p:cNvPicPr>
            <a:picLocks noChangeAspect="1"/>
          </p:cNvPicPr>
          <p:nvPr/>
        </p:nvPicPr>
        <p:blipFill>
          <a:blip r:embed="rId2"/>
          <a:stretch>
            <a:fillRect/>
          </a:stretch>
        </p:blipFill>
        <p:spPr>
          <a:xfrm>
            <a:off x="5839358" y="1934870"/>
            <a:ext cx="427939" cy="427939"/>
          </a:xfrm>
          <a:prstGeom prst="rect">
            <a:avLst/>
          </a:prstGeom>
        </p:spPr>
      </p:pic>
      <p:sp>
        <p:nvSpPr>
          <p:cNvPr id="12" name="Text 8"/>
          <p:cNvSpPr txBox="1"/>
          <p:nvPr/>
        </p:nvSpPr>
        <p:spPr>
          <a:xfrm>
            <a:off x="4480560" y="2743200"/>
            <a:ext cx="3154680" cy="457200"/>
          </a:xfrm>
          <a:prstGeom prst="rect">
            <a:avLst/>
          </a:prstGeom>
          <a:noFill/>
          <a:ln/>
        </p:spPr>
        <p:txBody>
          <a:bodyPr wrap="square" lIns="0" tIns="0" rIns="0" bIns="0" rtlCol="0" anchor="t"/>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docker kill web</a:t>
            </a:r>
            <a:endParaRPr lang="en-US" sz="1700" dirty="0"/>
          </a:p>
        </p:txBody>
      </p:sp>
      <p:sp>
        <p:nvSpPr>
          <p:cNvPr id="13" name="Text 9"/>
          <p:cNvSpPr txBox="1"/>
          <p:nvPr/>
        </p:nvSpPr>
        <p:spPr>
          <a:xfrm>
            <a:off x="4480560" y="3200400"/>
            <a:ext cx="3154680" cy="411480"/>
          </a:xfrm>
          <a:prstGeom prst="rect">
            <a:avLst/>
          </a:prstGeom>
          <a:noFill/>
          <a:ln/>
        </p:spPr>
        <p:txBody>
          <a:bodyPr wrap="square" lIns="0" tIns="0" rIns="0" bIns="0" rtlCol="0" anchor="t"/>
          <a:lstStyle/>
          <a:p>
            <a:pPr algn="ctr" indent="0" marL="0">
              <a:buNone/>
            </a:pPr>
            <a:r>
              <a:rPr lang="en-US" sz="1800" b="1" dirty="0">
                <a:solidFill>
                  <a:schemeClr val="accent4"/>
                </a:solidFill>
              </a:rPr>
              <a:t>Immediate</a:t>
            </a:r>
            <a:endParaRPr lang="en-US" sz="1800" dirty="0"/>
          </a:p>
        </p:txBody>
      </p:sp>
      <p:sp>
        <p:nvSpPr>
          <p:cNvPr id="14" name="Text 10"/>
          <p:cNvSpPr txBox="1"/>
          <p:nvPr/>
        </p:nvSpPr>
        <p:spPr>
          <a:xfrm>
            <a:off x="4572000" y="3703320"/>
            <a:ext cx="2971800" cy="1325880"/>
          </a:xfrm>
          <a:prstGeom prst="rect">
            <a:avLst/>
          </a:prstGeom>
          <a:noFill/>
          <a:ln/>
        </p:spPr>
        <p:txBody>
          <a:bodyPr wrap="square" lIns="0" tIns="0" rIns="0" bIns="0" rtlCol="0" anchor="t"/>
          <a:lstStyle/>
          <a:p>
            <a:pPr algn="ctr" indent="0" marL="0">
              <a:buNone/>
            </a:pPr>
            <a:r>
              <a:rPr lang="en-US" sz="1500" dirty="0">
                <a:solidFill>
                  <a:schemeClr val="tx2"/>
                </a:solidFill>
              </a:rPr>
              <a:t>Sends SIGKILL right away. No cleanup. Use when stop hangs.</a:t>
            </a:r>
            <a:endParaRPr lang="en-US" sz="1500" dirty="0"/>
          </a:p>
        </p:txBody>
      </p:sp>
      <p:sp>
        <p:nvSpPr>
          <p:cNvPr id="15" name="Shape 11"/>
          <p:cNvSpPr/>
          <p:nvPr/>
        </p:nvSpPr>
        <p:spPr>
          <a:xfrm>
            <a:off x="8046720" y="1463040"/>
            <a:ext cx="3520440" cy="3657600"/>
          </a:xfrm>
          <a:prstGeom prst="roundRect">
            <a:avLst>
              <a:gd name="adj" fmla="val 3117"/>
            </a:avLst>
          </a:prstGeom>
          <a:solidFill>
            <a:schemeClr val="bg2"/>
          </a:solidFill>
          <a:ln/>
        </p:spPr>
      </p:sp>
      <p:sp>
        <p:nvSpPr>
          <p:cNvPr id="16" name="Shape 12"/>
          <p:cNvSpPr/>
          <p:nvPr/>
        </p:nvSpPr>
        <p:spPr>
          <a:xfrm>
            <a:off x="9390888" y="1737360"/>
            <a:ext cx="822960" cy="822960"/>
          </a:xfrm>
          <a:prstGeom prst="ellipse">
            <a:avLst/>
          </a:prstGeom>
          <a:solidFill>
            <a:schemeClr val="tx2"/>
          </a:solidFill>
          <a:ln/>
        </p:spPr>
      </p:sp>
      <p:pic>
        <p:nvPicPr>
          <p:cNvPr id="17" name="Image 2" descr="preencoded.png">    </p:cNvPr>
          <p:cNvPicPr>
            <a:picLocks noChangeAspect="1"/>
          </p:cNvPicPr>
          <p:nvPr/>
        </p:nvPicPr>
        <p:blipFill>
          <a:blip r:embed="rId3"/>
          <a:stretch>
            <a:fillRect/>
          </a:stretch>
        </p:blipFill>
        <p:spPr>
          <a:xfrm>
            <a:off x="9588398" y="1934870"/>
            <a:ext cx="427939" cy="427939"/>
          </a:xfrm>
          <a:prstGeom prst="rect">
            <a:avLst/>
          </a:prstGeom>
        </p:spPr>
      </p:pic>
      <p:sp>
        <p:nvSpPr>
          <p:cNvPr id="18" name="Text 13"/>
          <p:cNvSpPr txBox="1"/>
          <p:nvPr/>
        </p:nvSpPr>
        <p:spPr>
          <a:xfrm>
            <a:off x="8229600" y="2743200"/>
            <a:ext cx="3154680" cy="457200"/>
          </a:xfrm>
          <a:prstGeom prst="rect">
            <a:avLst/>
          </a:prstGeom>
          <a:noFill/>
          <a:ln/>
        </p:spPr>
        <p:txBody>
          <a:bodyPr wrap="square" lIns="0" tIns="0" rIns="0" bIns="0" rtlCol="0" anchor="t"/>
          <a:lstStyle/>
          <a:p>
            <a:pPr algn="ctr" indent="0" marL="0">
              <a:buNone/>
            </a:pPr>
            <a:r>
              <a:rPr lang="en-US" sz="1700" b="1" dirty="0">
                <a:solidFill>
                  <a:schemeClr val="tx1"/>
                </a:solidFill>
                <a:latin typeface="Courier New" pitchFamily="34" charset="0"/>
                <a:ea typeface="Courier New" pitchFamily="34" charset="-122"/>
                <a:cs typeface="Courier New" pitchFamily="34" charset="-120"/>
              </a:rPr>
              <a:t>docker rm web</a:t>
            </a:r>
            <a:endParaRPr lang="en-US" sz="1700" dirty="0"/>
          </a:p>
        </p:txBody>
      </p:sp>
      <p:sp>
        <p:nvSpPr>
          <p:cNvPr id="19" name="Text 14"/>
          <p:cNvSpPr txBox="1"/>
          <p:nvPr/>
        </p:nvSpPr>
        <p:spPr>
          <a:xfrm>
            <a:off x="8229600" y="3200400"/>
            <a:ext cx="3154680" cy="411480"/>
          </a:xfrm>
          <a:prstGeom prst="rect">
            <a:avLst/>
          </a:prstGeom>
          <a:noFill/>
          <a:ln/>
        </p:spPr>
        <p:txBody>
          <a:bodyPr wrap="square" lIns="0" tIns="0" rIns="0" bIns="0" rtlCol="0" anchor="t"/>
          <a:lstStyle/>
          <a:p>
            <a:pPr algn="ctr" indent="0" marL="0">
              <a:buNone/>
            </a:pPr>
            <a:r>
              <a:rPr lang="en-US" sz="1800" b="1" dirty="0">
                <a:solidFill>
                  <a:schemeClr val="tx2"/>
                </a:solidFill>
              </a:rPr>
              <a:t>Delete</a:t>
            </a:r>
            <a:endParaRPr lang="en-US" sz="1800" dirty="0"/>
          </a:p>
        </p:txBody>
      </p:sp>
      <p:sp>
        <p:nvSpPr>
          <p:cNvPr id="20" name="Text 15"/>
          <p:cNvSpPr txBox="1"/>
          <p:nvPr/>
        </p:nvSpPr>
        <p:spPr>
          <a:xfrm>
            <a:off x="8321040" y="3703320"/>
            <a:ext cx="2971800" cy="1325880"/>
          </a:xfrm>
          <a:prstGeom prst="rect">
            <a:avLst/>
          </a:prstGeom>
          <a:noFill/>
          <a:ln/>
        </p:spPr>
        <p:txBody>
          <a:bodyPr wrap="square" lIns="0" tIns="0" rIns="0" bIns="0" rtlCol="0" anchor="t"/>
          <a:lstStyle/>
          <a:p>
            <a:pPr algn="ctr" indent="0" marL="0">
              <a:buNone/>
            </a:pPr>
            <a:r>
              <a:rPr lang="en-US" sz="1500" dirty="0">
                <a:solidFill>
                  <a:schemeClr val="tx2"/>
                </a:solidFill>
              </a:rPr>
              <a:t>Removes a stopped container and its writable layer. Add -f to stop and remove in one go.</a:t>
            </a:r>
            <a:endParaRPr lang="en-US" sz="1500" dirty="0"/>
          </a:p>
        </p:txBody>
      </p:sp>
      <p:sp>
        <p:nvSpPr>
          <p:cNvPr id="21" name="Terminal"/>
          <p:cNvSpPr/>
          <p:nvPr/>
        </p:nvSpPr>
        <p:spPr>
          <a:xfrm>
            <a:off x="548640" y="5349240"/>
            <a:ext cx="11064240" cy="868680"/>
          </a:xfrm>
          <a:prstGeom prst="roundRect">
            <a:avLst>
              <a:gd name="adj" fmla="val 10526"/>
            </a:avLst>
          </a:prstGeom>
          <a:solidFill>
            <a:schemeClr val="tx2"/>
          </a:solidFill>
          <a:ln/>
        </p:spPr>
      </p:sp>
      <p:sp>
        <p:nvSpPr>
          <p:cNvPr id="22" name="Text 17"/>
          <p:cNvSpPr txBox="1"/>
          <p:nvPr/>
        </p:nvSpPr>
        <p:spPr>
          <a:xfrm>
            <a:off x="822960" y="5532120"/>
            <a:ext cx="10515600" cy="50292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rm -f web &amp;&amp; docker run -d --name web -p 8080:80 nginx</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curl localhost:8080      # back to the default page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Reclaim disk space</a:t>
            </a:r>
            <a:endParaRPr lang="en-US" sz="3400" dirty="0"/>
          </a:p>
        </p:txBody>
      </p:sp>
      <p:sp>
        <p:nvSpPr>
          <p:cNvPr id="3" name="Terminal"/>
          <p:cNvSpPr/>
          <p:nvPr/>
        </p:nvSpPr>
        <p:spPr>
          <a:xfrm>
            <a:off x="548640" y="1463040"/>
            <a:ext cx="7863840" cy="4023360"/>
          </a:xfrm>
          <a:prstGeom prst="roundRect">
            <a:avLst>
              <a:gd name="adj" fmla="val 2273"/>
            </a:avLst>
          </a:prstGeom>
          <a:solidFill>
            <a:schemeClr val="tx2"/>
          </a:solidFill>
          <a:ln/>
        </p:spPr>
      </p:sp>
      <p:sp>
        <p:nvSpPr>
          <p:cNvPr id="4" name="Text 2"/>
          <p:cNvSpPr txBox="1"/>
          <p:nvPr/>
        </p:nvSpPr>
        <p:spPr>
          <a:xfrm>
            <a:off x="822960" y="1645920"/>
            <a:ext cx="7315200" cy="3657600"/>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images                # list local images</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rmi hello-world       # remove an image</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container prune       # remove ALL stopped containers</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system df             # what is using disk?</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system prune          # unused containers,</a:t>
            </a:r>
            <a:endParaRPr lang="en-US" sz="1500" dirty="0"/>
          </a:p>
          <a:p>
            <a:pPr indent="0" marL="0">
              <a:spcAft>
                <a:spcPts val="400"/>
              </a:spcAft>
              <a:buNone/>
            </a:pPr>
            <a:r>
              <a:rPr lang="en-US" sz="1500" dirty="0">
                <a:solidFill>
                  <a:srgbClr val="A8B3C4"/>
                </a:solidFill>
                <a:latin typeface="Courier New" pitchFamily="34" charset="0"/>
                <a:ea typeface="Courier New" pitchFamily="34" charset="-122"/>
                <a:cs typeface="Courier New" pitchFamily="34" charset="-120"/>
              </a:rPr>
              <a:t>                               # networks, cache</a:t>
            </a:r>
            <a:endParaRPr lang="en-US" sz="1500" dirty="0"/>
          </a:p>
          <a:p>
            <a:pPr indent="0" marL="0">
              <a:spcAft>
                <a:spcPts val="400"/>
              </a:spcAft>
              <a:buNone/>
            </a:pPr>
            <a:r>
              <a:rPr lang="en-US" sz="15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docker system prune -a       # + every unused image</a:t>
            </a:r>
            <a:endParaRPr lang="en-US" sz="1500" dirty="0"/>
          </a:p>
        </p:txBody>
      </p:sp>
      <p:sp>
        <p:nvSpPr>
          <p:cNvPr id="5" name="Shape 3"/>
          <p:cNvSpPr/>
          <p:nvPr/>
        </p:nvSpPr>
        <p:spPr>
          <a:xfrm>
            <a:off x="8686800" y="1463040"/>
            <a:ext cx="2926080" cy="4023360"/>
          </a:xfrm>
          <a:prstGeom prst="roundRect">
            <a:avLst>
              <a:gd name="adj" fmla="val 3750"/>
            </a:avLst>
          </a:prstGeom>
          <a:solidFill>
            <a:schemeClr val="bg2"/>
          </a:solidFill>
          <a:ln/>
        </p:spPr>
      </p:sp>
      <p:sp>
        <p:nvSpPr>
          <p:cNvPr id="6" name="Shape 4"/>
          <p:cNvSpPr/>
          <p:nvPr/>
        </p:nvSpPr>
        <p:spPr>
          <a:xfrm>
            <a:off x="9738360" y="1737360"/>
            <a:ext cx="822960" cy="822960"/>
          </a:xfrm>
          <a:prstGeom prst="ellipse">
            <a:avLst/>
          </a:prstGeom>
          <a:solidFill>
            <a:schemeClr val="accent4"/>
          </a:solidFill>
          <a:ln/>
        </p:spPr>
      </p:sp>
      <p:pic>
        <p:nvPicPr>
          <p:cNvPr id="7" name="Image 0" descr="preencoded.png">    </p:cNvPr>
          <p:cNvPicPr>
            <a:picLocks noChangeAspect="1"/>
          </p:cNvPicPr>
          <p:nvPr/>
        </p:nvPicPr>
        <p:blipFill>
          <a:blip r:embed="rId1"/>
          <a:stretch>
            <a:fillRect/>
          </a:stretch>
        </p:blipFill>
        <p:spPr>
          <a:xfrm>
            <a:off x="9935870" y="1934870"/>
            <a:ext cx="427939" cy="427939"/>
          </a:xfrm>
          <a:prstGeom prst="rect">
            <a:avLst/>
          </a:prstGeom>
        </p:spPr>
      </p:pic>
      <p:sp>
        <p:nvSpPr>
          <p:cNvPr id="8" name="Text 5"/>
          <p:cNvSpPr txBox="1"/>
          <p:nvPr/>
        </p:nvSpPr>
        <p:spPr>
          <a:xfrm>
            <a:off x="8869680" y="2743200"/>
            <a:ext cx="2560320" cy="457200"/>
          </a:xfrm>
          <a:prstGeom prst="rect">
            <a:avLst/>
          </a:prstGeom>
          <a:noFill/>
          <a:ln/>
        </p:spPr>
        <p:txBody>
          <a:bodyPr wrap="square" lIns="0" tIns="0" rIns="0" bIns="0" rtlCol="0" anchor="t"/>
          <a:lstStyle/>
          <a:p>
            <a:pPr algn="ctr" indent="0" marL="0">
              <a:buNone/>
            </a:pPr>
            <a:r>
              <a:rPr lang="en-US" sz="1900" b="1" dirty="0">
                <a:solidFill>
                  <a:schemeClr val="tx1"/>
                </a:solidFill>
              </a:rPr>
              <a:t>Careful with -a</a:t>
            </a:r>
            <a:endParaRPr lang="en-US" sz="1900" dirty="0"/>
          </a:p>
        </p:txBody>
      </p:sp>
      <p:sp>
        <p:nvSpPr>
          <p:cNvPr id="9" name="Text 6"/>
          <p:cNvSpPr txBox="1"/>
          <p:nvPr/>
        </p:nvSpPr>
        <p:spPr>
          <a:xfrm>
            <a:off x="8915400" y="3291840"/>
            <a:ext cx="2468880" cy="2011680"/>
          </a:xfrm>
          <a:prstGeom prst="rect">
            <a:avLst/>
          </a:prstGeom>
          <a:noFill/>
          <a:ln/>
        </p:spPr>
        <p:txBody>
          <a:bodyPr wrap="square" lIns="0" tIns="0" rIns="0" bIns="0" rtlCol="0" anchor="t"/>
          <a:lstStyle/>
          <a:p>
            <a:pPr algn="ctr" indent="0" marL="0">
              <a:buNone/>
            </a:pPr>
            <a:r>
              <a:rPr lang="en-US" sz="1500" dirty="0">
                <a:solidFill>
                  <a:schemeClr val="tx2"/>
                </a:solidFill>
              </a:rPr>
              <a:t>It deletes every image not used by a container. Docker always asks before pruning, so read the prompt.</a:t>
            </a:r>
            <a:endParaRPr lang="en-US" sz="1500" dirty="0"/>
          </a:p>
        </p:txBody>
      </p:sp>
      <p:sp>
        <p:nvSpPr>
          <p:cNvPr id="10" name="Text 7"/>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600" i="1" dirty="0">
                <a:solidFill>
                  <a:schemeClr val="tx2"/>
                </a:solidFill>
              </a:rPr>
              <a:t>An image in use by a container can’t be removed until that container is removed.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Errors you’ll hit (and the fix)</a:t>
            </a:r>
            <a:endParaRPr lang="en-US" sz="3400" dirty="0"/>
          </a:p>
        </p:txBody>
      </p:sp>
      <p:sp>
        <p:nvSpPr>
          <p:cNvPr id="3" name="Shape 1"/>
          <p:cNvSpPr/>
          <p:nvPr/>
        </p:nvSpPr>
        <p:spPr>
          <a:xfrm>
            <a:off x="548640" y="1417320"/>
            <a:ext cx="11064240" cy="1051560"/>
          </a:xfrm>
          <a:prstGeom prst="roundRect">
            <a:avLst>
              <a:gd name="adj" fmla="val 10435"/>
            </a:avLst>
          </a:prstGeom>
          <a:solidFill>
            <a:schemeClr val="bg2"/>
          </a:solidFill>
          <a:ln/>
        </p:spPr>
      </p:sp>
      <p:sp>
        <p:nvSpPr>
          <p:cNvPr id="4" name="Shape 2"/>
          <p:cNvSpPr/>
          <p:nvPr/>
        </p:nvSpPr>
        <p:spPr>
          <a:xfrm>
            <a:off x="777240" y="1618488"/>
            <a:ext cx="640080" cy="640080"/>
          </a:xfrm>
          <a:prstGeom prst="ellipse">
            <a:avLst/>
          </a:prstGeom>
          <a:solidFill>
            <a:schemeClr val="accent4"/>
          </a:solidFill>
          <a:ln/>
        </p:spPr>
      </p:sp>
      <p:pic>
        <p:nvPicPr>
          <p:cNvPr id="5" name="Image 0" descr="preencoded.png">    </p:cNvPr>
          <p:cNvPicPr>
            <a:picLocks noChangeAspect="1"/>
          </p:cNvPicPr>
          <p:nvPr/>
        </p:nvPicPr>
        <p:blipFill>
          <a:blip r:embed="rId1"/>
          <a:stretch>
            <a:fillRect/>
          </a:stretch>
        </p:blipFill>
        <p:spPr>
          <a:xfrm>
            <a:off x="930859" y="1772107"/>
            <a:ext cx="332842" cy="332842"/>
          </a:xfrm>
          <a:prstGeom prst="rect">
            <a:avLst/>
          </a:prstGeom>
        </p:spPr>
      </p:pic>
      <p:sp>
        <p:nvSpPr>
          <p:cNvPr id="6" name="Text 3"/>
          <p:cNvSpPr txBox="1"/>
          <p:nvPr/>
        </p:nvSpPr>
        <p:spPr>
          <a:xfrm>
            <a:off x="1645920" y="1527048"/>
            <a:ext cx="9784080" cy="41148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port is already allocated</a:t>
            </a:r>
            <a:endParaRPr lang="en-US" sz="1600" dirty="0"/>
          </a:p>
        </p:txBody>
      </p:sp>
      <p:sp>
        <p:nvSpPr>
          <p:cNvPr id="7" name="Text 4"/>
          <p:cNvSpPr txBox="1"/>
          <p:nvPr/>
        </p:nvSpPr>
        <p:spPr>
          <a:xfrm>
            <a:off x="1645920" y="1947672"/>
            <a:ext cx="9784080" cy="457200"/>
          </a:xfrm>
          <a:prstGeom prst="rect">
            <a:avLst/>
          </a:prstGeom>
          <a:noFill/>
          <a:ln/>
        </p:spPr>
        <p:txBody>
          <a:bodyPr wrap="square" lIns="0" tIns="0" rIns="0" bIns="0" rtlCol="0" anchor="t"/>
          <a:lstStyle/>
          <a:p>
            <a:pPr indent="0" marL="0">
              <a:buNone/>
            </a:pPr>
            <a:r>
              <a:rPr lang="en-US" sz="1500" dirty="0">
                <a:solidFill>
                  <a:schemeClr val="tx2"/>
                </a:solidFill>
              </a:rPr>
              <a:t>Something already uses that host port. Pick another: -p 8081:80, or stop the other container.</a:t>
            </a:r>
            <a:endParaRPr lang="en-US" sz="1500" dirty="0"/>
          </a:p>
        </p:txBody>
      </p:sp>
      <p:sp>
        <p:nvSpPr>
          <p:cNvPr id="8" name="Shape 5"/>
          <p:cNvSpPr/>
          <p:nvPr/>
        </p:nvSpPr>
        <p:spPr>
          <a:xfrm>
            <a:off x="548640" y="2606040"/>
            <a:ext cx="11064240" cy="1051560"/>
          </a:xfrm>
          <a:prstGeom prst="roundRect">
            <a:avLst>
              <a:gd name="adj" fmla="val 10435"/>
            </a:avLst>
          </a:prstGeom>
          <a:solidFill>
            <a:schemeClr val="bg1"/>
          </a:solidFill>
          <a:ln/>
        </p:spPr>
      </p:sp>
      <p:sp>
        <p:nvSpPr>
          <p:cNvPr id="9" name="Shape 6"/>
          <p:cNvSpPr/>
          <p:nvPr/>
        </p:nvSpPr>
        <p:spPr>
          <a:xfrm>
            <a:off x="777240" y="2807208"/>
            <a:ext cx="640080" cy="640080"/>
          </a:xfrm>
          <a:prstGeom prst="ellipse">
            <a:avLst/>
          </a:prstGeom>
          <a:solidFill>
            <a:schemeClr val="accent4"/>
          </a:solidFill>
          <a:ln/>
        </p:spPr>
      </p:sp>
      <p:pic>
        <p:nvPicPr>
          <p:cNvPr id="10" name="Image 1" descr="preencoded.png">    </p:cNvPr>
          <p:cNvPicPr>
            <a:picLocks noChangeAspect="1"/>
          </p:cNvPicPr>
          <p:nvPr/>
        </p:nvPicPr>
        <p:blipFill>
          <a:blip r:embed="rId2"/>
          <a:stretch>
            <a:fillRect/>
          </a:stretch>
        </p:blipFill>
        <p:spPr>
          <a:xfrm>
            <a:off x="930859" y="2960827"/>
            <a:ext cx="332842" cy="332842"/>
          </a:xfrm>
          <a:prstGeom prst="rect">
            <a:avLst/>
          </a:prstGeom>
        </p:spPr>
      </p:pic>
      <p:sp>
        <p:nvSpPr>
          <p:cNvPr id="11" name="Text 7"/>
          <p:cNvSpPr txBox="1"/>
          <p:nvPr/>
        </p:nvSpPr>
        <p:spPr>
          <a:xfrm>
            <a:off x="1645920" y="2715768"/>
            <a:ext cx="9784080" cy="41148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Conflict. The container name "/web" is already in use</a:t>
            </a:r>
            <a:endParaRPr lang="en-US" sz="1600" dirty="0"/>
          </a:p>
        </p:txBody>
      </p:sp>
      <p:sp>
        <p:nvSpPr>
          <p:cNvPr id="12" name="Text 8"/>
          <p:cNvSpPr txBox="1"/>
          <p:nvPr/>
        </p:nvSpPr>
        <p:spPr>
          <a:xfrm>
            <a:off x="1645920" y="3136392"/>
            <a:ext cx="9784080" cy="457200"/>
          </a:xfrm>
          <a:prstGeom prst="rect">
            <a:avLst/>
          </a:prstGeom>
          <a:noFill/>
          <a:ln/>
        </p:spPr>
        <p:txBody>
          <a:bodyPr wrap="square" lIns="0" tIns="0" rIns="0" bIns="0" rtlCol="0" anchor="t"/>
          <a:lstStyle/>
          <a:p>
            <a:pPr indent="0" marL="0">
              <a:buNone/>
            </a:pPr>
            <a:r>
              <a:rPr lang="en-US" sz="1500" dirty="0">
                <a:solidFill>
                  <a:schemeClr val="tx2"/>
                </a:solidFill>
              </a:rPr>
              <a:t>Names are unique, even for stopped containers. docker rm web, then run again.</a:t>
            </a:r>
            <a:endParaRPr lang="en-US" sz="1500" dirty="0"/>
          </a:p>
        </p:txBody>
      </p:sp>
      <p:sp>
        <p:nvSpPr>
          <p:cNvPr id="13" name="Shape 9"/>
          <p:cNvSpPr/>
          <p:nvPr/>
        </p:nvSpPr>
        <p:spPr>
          <a:xfrm>
            <a:off x="548640" y="3794760"/>
            <a:ext cx="11064240" cy="1051560"/>
          </a:xfrm>
          <a:prstGeom prst="roundRect">
            <a:avLst>
              <a:gd name="adj" fmla="val 10435"/>
            </a:avLst>
          </a:prstGeom>
          <a:solidFill>
            <a:schemeClr val="bg2"/>
          </a:solidFill>
          <a:ln/>
        </p:spPr>
      </p:sp>
      <p:sp>
        <p:nvSpPr>
          <p:cNvPr id="14" name="Shape 10"/>
          <p:cNvSpPr/>
          <p:nvPr/>
        </p:nvSpPr>
        <p:spPr>
          <a:xfrm>
            <a:off x="777240" y="3995928"/>
            <a:ext cx="640080" cy="640080"/>
          </a:xfrm>
          <a:prstGeom prst="ellipse">
            <a:avLst/>
          </a:prstGeom>
          <a:solidFill>
            <a:schemeClr val="accent4"/>
          </a:solidFill>
          <a:ln/>
        </p:spPr>
      </p:sp>
      <p:pic>
        <p:nvPicPr>
          <p:cNvPr id="15" name="Image 2" descr="preencoded.png">    </p:cNvPr>
          <p:cNvPicPr>
            <a:picLocks noChangeAspect="1"/>
          </p:cNvPicPr>
          <p:nvPr/>
        </p:nvPicPr>
        <p:blipFill>
          <a:blip r:embed="rId3"/>
          <a:stretch>
            <a:fillRect/>
          </a:stretch>
        </p:blipFill>
        <p:spPr>
          <a:xfrm>
            <a:off x="930859" y="4149547"/>
            <a:ext cx="332842" cy="332842"/>
          </a:xfrm>
          <a:prstGeom prst="rect">
            <a:avLst/>
          </a:prstGeom>
        </p:spPr>
      </p:pic>
      <p:sp>
        <p:nvSpPr>
          <p:cNvPr id="16" name="Text 11"/>
          <p:cNvSpPr txBox="1"/>
          <p:nvPr/>
        </p:nvSpPr>
        <p:spPr>
          <a:xfrm>
            <a:off x="1645920" y="3904488"/>
            <a:ext cx="9784080" cy="41148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permission denied … docker.sock</a:t>
            </a:r>
            <a:endParaRPr lang="en-US" sz="1600" dirty="0"/>
          </a:p>
        </p:txBody>
      </p:sp>
      <p:sp>
        <p:nvSpPr>
          <p:cNvPr id="17" name="Text 12"/>
          <p:cNvSpPr txBox="1"/>
          <p:nvPr/>
        </p:nvSpPr>
        <p:spPr>
          <a:xfrm>
            <a:off x="1645920" y="4325112"/>
            <a:ext cx="9784080" cy="457200"/>
          </a:xfrm>
          <a:prstGeom prst="rect">
            <a:avLst/>
          </a:prstGeom>
          <a:noFill/>
          <a:ln/>
        </p:spPr>
        <p:txBody>
          <a:bodyPr wrap="square" lIns="0" tIns="0" rIns="0" bIns="0" rtlCol="0" anchor="t"/>
          <a:lstStyle/>
          <a:p>
            <a:pPr indent="0" marL="0">
              <a:buNone/>
            </a:pPr>
            <a:r>
              <a:rPr lang="en-US" sz="1500" dirty="0">
                <a:solidFill>
                  <a:schemeClr val="tx2"/>
                </a:solidFill>
              </a:rPr>
              <a:t>Your user isn’t in the docker group. usermod -aG docker $USER, then log out and in.</a:t>
            </a:r>
            <a:endParaRPr lang="en-US" sz="1500" dirty="0"/>
          </a:p>
        </p:txBody>
      </p:sp>
      <p:sp>
        <p:nvSpPr>
          <p:cNvPr id="18" name="Shape 13"/>
          <p:cNvSpPr/>
          <p:nvPr/>
        </p:nvSpPr>
        <p:spPr>
          <a:xfrm>
            <a:off x="548640" y="4983480"/>
            <a:ext cx="11064240" cy="1051560"/>
          </a:xfrm>
          <a:prstGeom prst="roundRect">
            <a:avLst>
              <a:gd name="adj" fmla="val 10435"/>
            </a:avLst>
          </a:prstGeom>
          <a:solidFill>
            <a:schemeClr val="bg1"/>
          </a:solidFill>
          <a:ln/>
        </p:spPr>
      </p:sp>
      <p:sp>
        <p:nvSpPr>
          <p:cNvPr id="19" name="Shape 14"/>
          <p:cNvSpPr/>
          <p:nvPr/>
        </p:nvSpPr>
        <p:spPr>
          <a:xfrm>
            <a:off x="777240" y="5184648"/>
            <a:ext cx="640080" cy="640080"/>
          </a:xfrm>
          <a:prstGeom prst="ellipse">
            <a:avLst/>
          </a:prstGeom>
          <a:solidFill>
            <a:schemeClr val="accent4"/>
          </a:solidFill>
          <a:ln/>
        </p:spPr>
      </p:sp>
      <p:pic>
        <p:nvPicPr>
          <p:cNvPr id="20" name="Image 3" descr="preencoded.png">    </p:cNvPr>
          <p:cNvPicPr>
            <a:picLocks noChangeAspect="1"/>
          </p:cNvPicPr>
          <p:nvPr/>
        </p:nvPicPr>
        <p:blipFill>
          <a:blip r:embed="rId4"/>
          <a:stretch>
            <a:fillRect/>
          </a:stretch>
        </p:blipFill>
        <p:spPr>
          <a:xfrm>
            <a:off x="930859" y="5338267"/>
            <a:ext cx="332842" cy="332842"/>
          </a:xfrm>
          <a:prstGeom prst="rect">
            <a:avLst/>
          </a:prstGeom>
        </p:spPr>
      </p:pic>
      <p:sp>
        <p:nvSpPr>
          <p:cNvPr id="21" name="Text 15"/>
          <p:cNvSpPr txBox="1"/>
          <p:nvPr/>
        </p:nvSpPr>
        <p:spPr>
          <a:xfrm>
            <a:off x="1645920" y="5093208"/>
            <a:ext cx="9784080" cy="41148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Container exits right away</a:t>
            </a:r>
            <a:endParaRPr lang="en-US" sz="1600" dirty="0"/>
          </a:p>
        </p:txBody>
      </p:sp>
      <p:sp>
        <p:nvSpPr>
          <p:cNvPr id="22" name="Text 16"/>
          <p:cNvSpPr txBox="1"/>
          <p:nvPr/>
        </p:nvSpPr>
        <p:spPr>
          <a:xfrm>
            <a:off x="1645920" y="5513832"/>
            <a:ext cx="9784080" cy="457200"/>
          </a:xfrm>
          <a:prstGeom prst="rect">
            <a:avLst/>
          </a:prstGeom>
          <a:noFill/>
          <a:ln/>
        </p:spPr>
        <p:txBody>
          <a:bodyPr wrap="square" lIns="0" tIns="0" rIns="0" bIns="0" rtlCol="0" anchor="t"/>
          <a:lstStyle/>
          <a:p>
            <a:pPr indent="0" marL="0">
              <a:buNone/>
            </a:pPr>
            <a:r>
              <a:rPr lang="en-US" sz="1500" dirty="0">
                <a:solidFill>
                  <a:schemeClr val="tx2"/>
                </a:solidFill>
              </a:rPr>
              <a:t>Its main process ended. Check docker logs &lt;name&gt; and ps -a for the exit code.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Episode 2 cheat sheet</a:t>
            </a:r>
            <a:endParaRPr lang="en-US" sz="3400" dirty="0"/>
          </a:p>
        </p:txBody>
      </p:sp>
      <p:sp>
        <p:nvSpPr>
          <p:cNvPr id="3" name="Terminal"/>
          <p:cNvSpPr/>
          <p:nvPr/>
        </p:nvSpPr>
        <p:spPr>
          <a:xfrm>
            <a:off x="548640" y="1463040"/>
            <a:ext cx="5440680" cy="4480560"/>
          </a:xfrm>
          <a:prstGeom prst="roundRect">
            <a:avLst>
              <a:gd name="adj" fmla="val 2041"/>
            </a:avLst>
          </a:prstGeom>
          <a:solidFill>
            <a:schemeClr val="tx2"/>
          </a:solidFill>
          <a:ln/>
        </p:spPr>
      </p:sp>
      <p:sp>
        <p:nvSpPr>
          <p:cNvPr id="4" name="Text 2"/>
          <p:cNvSpPr txBox="1"/>
          <p:nvPr/>
        </p:nvSpPr>
        <p:spPr>
          <a:xfrm>
            <a:off x="822960" y="1645920"/>
            <a:ext cx="4892040" cy="4114800"/>
          </a:xfrm>
          <a:prstGeom prst="rect">
            <a:avLst/>
          </a:prstGeom>
          <a:noFill/>
          <a:ln/>
        </p:spPr>
        <p:txBody>
          <a:bodyPr wrap="square" lIns="0" tIns="0" rIns="0" bIns="0" rtlCol="0" anchor="t"/>
          <a:lstStyle/>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 run</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run -d --name web -p 8080:80 nginx</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run -it --rm alpine sh</a:t>
            </a:r>
            <a:endParaRPr lang="en-US" sz="1400" dirty="0"/>
          </a:p>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 inspect</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ps / docker ps -a</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logs -f --tail 20 web</a:t>
            </a:r>
            <a:endParaRPr lang="en-US" sz="1400" dirty="0"/>
          </a:p>
        </p:txBody>
      </p:sp>
      <p:sp>
        <p:nvSpPr>
          <p:cNvPr id="5" name="Terminal"/>
          <p:cNvSpPr/>
          <p:nvPr/>
        </p:nvSpPr>
        <p:spPr>
          <a:xfrm>
            <a:off x="6172200" y="1463040"/>
            <a:ext cx="5440680" cy="4480560"/>
          </a:xfrm>
          <a:prstGeom prst="roundRect">
            <a:avLst>
              <a:gd name="adj" fmla="val 2041"/>
            </a:avLst>
          </a:prstGeom>
          <a:solidFill>
            <a:schemeClr val="tx2"/>
          </a:solidFill>
          <a:ln/>
        </p:spPr>
      </p:sp>
      <p:sp>
        <p:nvSpPr>
          <p:cNvPr id="6" name="Text 4"/>
          <p:cNvSpPr txBox="1"/>
          <p:nvPr/>
        </p:nvSpPr>
        <p:spPr>
          <a:xfrm>
            <a:off x="6446520" y="1645920"/>
            <a:ext cx="4892040" cy="4114800"/>
          </a:xfrm>
          <a:prstGeom prst="rect">
            <a:avLst/>
          </a:prstGeom>
          <a:noFill/>
          <a:ln/>
        </p:spPr>
        <p:txBody>
          <a:bodyPr wrap="square" lIns="0" tIns="0" rIns="0" bIns="0" rtlCol="0" anchor="t"/>
          <a:lstStyle/>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 enter</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exec -it web bash</a:t>
            </a:r>
            <a:endParaRPr lang="en-US" sz="1400" dirty="0"/>
          </a:p>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 lifecycle</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stop | start | kill web</a:t>
            </a:r>
            <a:endParaRPr lang="en-US" sz="1400" dirty="0"/>
          </a:p>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 clean up</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rm -f web</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images / docker rmi &lt;img&gt;</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system df</a:t>
            </a:r>
            <a:endParaRPr lang="en-US" sz="1400" dirty="0"/>
          </a:p>
          <a:p>
            <a:pPr indent="0" marL="0">
              <a:spcAft>
                <a:spcPts val="400"/>
              </a:spcAft>
              <a:buNone/>
            </a:pPr>
            <a:r>
              <a:rPr lang="en-US" sz="1400" b="1" dirty="0">
                <a:solidFill>
                  <a:schemeClr val="accent3"/>
                </a:solidFill>
                <a:latin typeface="Courier New" pitchFamily="34" charset="0"/>
                <a:ea typeface="Courier New" pitchFamily="34" charset="-122"/>
                <a:cs typeface="Courier New" pitchFamily="34" charset="-120"/>
              </a:rPr>
              <a:t>$ </a:t>
            </a:r>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docker system prune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lIns="0" tIns="0" rIns="0" bIns="0" rtlCol="0" anchor="b"/>
          <a:lstStyle/>
          <a:p>
            <a:pPr algn="l" indent="0" marL="0">
              <a:buNone/>
            </a:pPr>
            <a:r>
              <a:rPr lang="en-US" sz="5200" b="1" dirty="0">
                <a:solidFill>
                  <a:schemeClr val="bg1"/>
                </a:solidFill>
              </a:rPr>
              <a:t>Recap</a:t>
            </a:r>
            <a:endParaRPr lang="en-US" sz="5200" dirty="0"/>
          </a:p>
        </p:txBody>
      </p:sp>
      <p:sp>
        <p:nvSpPr>
          <p:cNvPr id="3" name="Text 0"/>
          <p:cNvSpPr/>
          <p:nvPr>
            <p:ph idx="101" type="body" hasCustomPrompt="1"/>
          </p:nvPr>
        </p:nvSpPr>
        <p:spPr>
          <a:xfrm>
            <a:off x="731520" y="3886200"/>
            <a:ext cx="10698480" cy="914400"/>
          </a:xfrm>
          <a:prstGeom prst="rect">
            <a:avLst/>
          </a:prstGeom>
          <a:noFill/>
          <a:ln/>
        </p:spPr>
        <p:txBody>
          <a:bodyPr wrap="square" lIns="0" tIns="0" rIns="0" bIns="0" rtlCol="0" anchor="t"/>
          <a:lstStyle/>
          <a:p>
            <a:pPr indent="0" marL="0">
              <a:buNone/>
            </a:pPr>
            <a:r>
              <a:rPr lang="en-US" sz="2400" dirty="0">
                <a:solidFill>
                  <a:schemeClr val="accent1"/>
                </a:solidFill>
              </a:rPr>
              <a:t>Next: Episode 3 — Images and registries</a:t>
            </a:r>
            <a:endParaRPr lang="en-US" sz="2400" dirty="0"/>
          </a:p>
        </p:txBody>
      </p:sp>
      <p:sp>
        <p:nvSpPr>
          <p:cNvPr id="4" name="Text 2"/>
          <p:cNvSpPr txBox="1"/>
          <p:nvPr/>
        </p:nvSpPr>
        <p:spPr>
          <a:xfrm>
            <a:off x="731520" y="4709160"/>
            <a:ext cx="10698480" cy="14630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2"/>
                </a:solidFill>
              </a:rPr>
              <a:t>A container lives exactly as long as its main process.</a:t>
            </a:r>
            <a:endParaRPr lang="en-US" sz="1800" dirty="0"/>
          </a:p>
          <a:p>
            <a:pPr marL="342900" indent="-342900">
              <a:spcAft>
                <a:spcPts val="800"/>
              </a:spcAft>
              <a:buSzPct val="100000"/>
              <a:buChar char="•"/>
            </a:pPr>
            <a:r>
              <a:rPr lang="en-US" sz="1800" dirty="0">
                <a:solidFill>
                  <a:schemeClr val="bg2"/>
                </a:solidFill>
              </a:rPr>
              <a:t>-p HOST:CONTAINER — the left side is your machine.</a:t>
            </a:r>
            <a:endParaRPr lang="en-US" sz="1800" dirty="0"/>
          </a:p>
          <a:p>
            <a:pPr marL="342900" indent="-342900">
              <a:spcAft>
                <a:spcPts val="800"/>
              </a:spcAft>
              <a:buSzPct val="100000"/>
              <a:buChar char="•"/>
            </a:pPr>
            <a:r>
              <a:rPr lang="en-US" sz="1800" dirty="0">
                <a:solidFill>
                  <a:schemeClr val="bg2"/>
                </a:solidFill>
              </a:rPr>
              <a:t>Changes inside a container die with the container.</a:t>
            </a:r>
            <a:endParaRPr lang="en-US" sz="1800" dirty="0"/>
          </a:p>
        </p:txBody>
      </p:sp>
    </p:spTree>
  </p:cSld>
  <p:clrMapOvr>
    <a:masterClrMapping/>
  </p:clrMapOvr>
</p:sld>
</file>

<file path=ppt/theme/theme1.xml><?xml version="1.0" encoding="utf-8"?>
<a:theme xmlns:a="http://schemas.openxmlformats.org/drawingml/2006/main" name="Docker Zero to GPU">
  <a:themeElements>
    <a:clrScheme name="Docker Zero to GPU">
      <a:dk1>
        <a:srgbClr val="0B1220"/>
      </a:dk1>
      <a:lt1>
        <a:srgbClr val="FFFFFF"/>
      </a:lt1>
      <a:dk2>
        <a:srgbClr val="1E293B"/>
      </a:dk2>
      <a:lt2>
        <a:srgbClr val="EEF3F8"/>
      </a:lt2>
      <a:accent1>
        <a:srgbClr val="0EA5E9"/>
      </a:accent1>
      <a:accent2>
        <a:srgbClr val="F59E0B"/>
      </a:accent2>
      <a:accent3>
        <a:srgbClr val="10B981"/>
      </a:accent3>
      <a:accent4>
        <a:srgbClr val="EF4444"/>
      </a:accent4>
      <a:accent5>
        <a:srgbClr val="8B5CF6"/>
      </a:accent5>
      <a:accent6>
        <a:srgbClr val="64748B"/>
      </a:accent6>
      <a:hlink>
        <a:srgbClr val="0EA5E9"/>
      </a:hlink>
      <a:folHlink>
        <a:srgbClr val="8B5CF6"/>
      </a:folHlink>
    </a:clrScheme>
    <a:fontScheme name="Docker Zero to GPU">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Episode 2 - Your First Container</dc:title>
  <dc:subject>PptxGenJS Presentation</dc:subject>
  <dc:creator>Sai Ram N.</dc:creator>
  <cp:lastModifiedBy>Sai Ram N.</cp:lastModifiedBy>
  <cp:revision>1</cp:revision>
  <dcterms:created xsi:type="dcterms:W3CDTF">2026-10-22T00:37:50Z</dcterms:created>
  <dcterms:modified xsi:type="dcterms:W3CDTF">2026-10-22T00:37:50Z</dcterms:modified>
</cp:coreProperties>
</file>